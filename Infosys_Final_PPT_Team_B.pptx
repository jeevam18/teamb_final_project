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1" roundtripDataSignature="AMtx7mjSD8WuBPsOy3u8uLWS+65jKveW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8"/>
          <p:cNvSpPr/>
          <p:nvPr>
            <p:ph idx="2" type="pic"/>
          </p:nvPr>
        </p:nvSpPr>
        <p:spPr>
          <a:xfrm>
            <a:off x="1792288" y="612775"/>
            <a:ext cx="5486400" cy="4114800"/>
          </a:xfrm>
          <a:prstGeom prst="rect">
            <a:avLst/>
          </a:prstGeom>
          <a:noFill/>
          <a:ln>
            <a:noFill/>
          </a:ln>
        </p:spPr>
      </p:sp>
      <p:sp>
        <p:nvSpPr>
          <p:cNvPr id="64" name="Google Shape;64;p2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8.png"/><Relationship Id="rId9"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11.png"/><Relationship Id="rId7" Type="http://schemas.openxmlformats.org/officeDocument/2006/relationships/image" Target="../media/image6.png"/><Relationship Id="rId8"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8.png"/><Relationship Id="rId6"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8.png"/><Relationship Id="rId7"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8.png"/><Relationship Id="rId6" Type="http://schemas.openxmlformats.org/officeDocument/2006/relationships/image" Target="../media/image10.png"/><Relationship Id="rId7"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0.png"/><Relationship Id="rId6"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0.png"/><Relationship Id="rId6" Type="http://schemas.openxmlformats.org/officeDocument/2006/relationships/image" Target="../media/image1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0.png"/><Relationship Id="rId6" Type="http://schemas.openxmlformats.org/officeDocument/2006/relationships/image" Target="../media/image1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0.png"/><Relationship Id="rId6" Type="http://schemas.openxmlformats.org/officeDocument/2006/relationships/image" Target="../media/image2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0.png"/><Relationship Id="rId6" Type="http://schemas.openxmlformats.org/officeDocument/2006/relationships/image" Target="../media/image1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0.png"/><Relationship Id="rId6" Type="http://schemas.openxmlformats.org/officeDocument/2006/relationships/image" Target="../media/image23.jpg"/><Relationship Id="rId7" Type="http://schemas.openxmlformats.org/officeDocument/2006/relationships/image" Target="../media/image2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8.png"/><Relationship Id="rId7"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8.png"/><Relationship Id="rId7"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image" Target="../media/image2.png"/><Relationship Id="rId6" Type="http://schemas.openxmlformats.org/officeDocument/2006/relationships/image" Target="../media/image6.png"/><Relationship Id="rId7" Type="http://schemas.openxmlformats.org/officeDocument/2006/relationships/image" Target="../media/image8.png"/><Relationship Id="rId8"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15.png"/><Relationship Id="rId8"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153C"/>
        </a:solidFill>
      </p:bgPr>
    </p:bg>
    <p:spTree>
      <p:nvGrpSpPr>
        <p:cNvPr id="83" name="Shape 83"/>
        <p:cNvGrpSpPr/>
        <p:nvPr/>
      </p:nvGrpSpPr>
      <p:grpSpPr>
        <a:xfrm>
          <a:off x="0" y="0"/>
          <a:ext cx="0" cy="0"/>
          <a:chOff x="0" y="0"/>
          <a:chExt cx="0" cy="0"/>
        </a:xfrm>
      </p:grpSpPr>
      <p:sp>
        <p:nvSpPr>
          <p:cNvPr id="84" name="Google Shape;84;p1"/>
          <p:cNvSpPr/>
          <p:nvPr/>
        </p:nvSpPr>
        <p:spPr>
          <a:xfrm>
            <a:off x="-317203" y="5788419"/>
            <a:ext cx="18701319" cy="4258146"/>
          </a:xfrm>
          <a:custGeom>
            <a:rect b="b" l="l" r="r" t="t"/>
            <a:pathLst>
              <a:path extrusionOk="0" h="4258146" w="18701319">
                <a:moveTo>
                  <a:pt x="0" y="0"/>
                </a:moveTo>
                <a:lnTo>
                  <a:pt x="18701319" y="0"/>
                </a:lnTo>
                <a:lnTo>
                  <a:pt x="18701319" y="4258147"/>
                </a:lnTo>
                <a:lnTo>
                  <a:pt x="0" y="4258147"/>
                </a:lnTo>
                <a:lnTo>
                  <a:pt x="0" y="0"/>
                </a:lnTo>
                <a:close/>
              </a:path>
            </a:pathLst>
          </a:custGeom>
          <a:blipFill rotWithShape="1">
            <a:blip r:embed="rId3">
              <a:alphaModFix/>
            </a:blip>
            <a:stretch>
              <a:fillRect b="0" l="0" r="0" t="0"/>
            </a:stretch>
          </a:blipFill>
          <a:ln>
            <a:noFill/>
          </a:ln>
        </p:spPr>
      </p:sp>
      <p:sp>
        <p:nvSpPr>
          <p:cNvPr id="85" name="Google Shape;85;p1"/>
          <p:cNvSpPr/>
          <p:nvPr/>
        </p:nvSpPr>
        <p:spPr>
          <a:xfrm rot="-625756">
            <a:off x="11452918" y="7564254"/>
            <a:ext cx="8020168" cy="4763181"/>
          </a:xfrm>
          <a:custGeom>
            <a:rect b="b" l="l" r="r" t="t"/>
            <a:pathLst>
              <a:path extrusionOk="0" h="4763181" w="8020168">
                <a:moveTo>
                  <a:pt x="0" y="0"/>
                </a:moveTo>
                <a:lnTo>
                  <a:pt x="8020168" y="0"/>
                </a:lnTo>
                <a:lnTo>
                  <a:pt x="8020168" y="4763182"/>
                </a:lnTo>
                <a:lnTo>
                  <a:pt x="0" y="4763182"/>
                </a:lnTo>
                <a:lnTo>
                  <a:pt x="0" y="0"/>
                </a:lnTo>
                <a:close/>
              </a:path>
            </a:pathLst>
          </a:custGeom>
          <a:blipFill rotWithShape="1">
            <a:blip r:embed="rId4">
              <a:alphaModFix amt="24000"/>
            </a:blip>
            <a:stretch>
              <a:fillRect b="0" l="0" r="0" t="0"/>
            </a:stretch>
          </a:blipFill>
          <a:ln>
            <a:noFill/>
          </a:ln>
        </p:spPr>
      </p:sp>
      <p:sp>
        <p:nvSpPr>
          <p:cNvPr id="86" name="Google Shape;86;p1"/>
          <p:cNvSpPr/>
          <p:nvPr/>
        </p:nvSpPr>
        <p:spPr>
          <a:xfrm>
            <a:off x="10763291" y="137981"/>
            <a:ext cx="7251574" cy="8117471"/>
          </a:xfrm>
          <a:custGeom>
            <a:rect b="b" l="l" r="r" t="t"/>
            <a:pathLst>
              <a:path extrusionOk="0" h="9379588" w="7139284">
                <a:moveTo>
                  <a:pt x="0" y="0"/>
                </a:moveTo>
                <a:lnTo>
                  <a:pt x="7139284" y="0"/>
                </a:lnTo>
                <a:lnTo>
                  <a:pt x="7139284" y="9379589"/>
                </a:lnTo>
                <a:lnTo>
                  <a:pt x="0" y="9379589"/>
                </a:lnTo>
                <a:lnTo>
                  <a:pt x="0" y="0"/>
                </a:lnTo>
                <a:close/>
              </a:path>
            </a:pathLst>
          </a:custGeom>
          <a:blipFill rotWithShape="1">
            <a:blip r:embed="rId5">
              <a:alphaModFix/>
            </a:blip>
            <a:stretch>
              <a:fillRect b="0" l="0" r="0" t="0"/>
            </a:stretch>
          </a:blipFill>
          <a:ln>
            <a:noFill/>
          </a:ln>
        </p:spPr>
      </p:sp>
      <p:sp>
        <p:nvSpPr>
          <p:cNvPr id="87" name="Google Shape;87;p1"/>
          <p:cNvSpPr/>
          <p:nvPr/>
        </p:nvSpPr>
        <p:spPr>
          <a:xfrm rot="-255213">
            <a:off x="12155025" y="2214621"/>
            <a:ext cx="6235988" cy="5817581"/>
          </a:xfrm>
          <a:custGeom>
            <a:rect b="b" l="l" r="r" t="t"/>
            <a:pathLst>
              <a:path extrusionOk="0" h="5817581" w="7075643">
                <a:moveTo>
                  <a:pt x="0" y="0"/>
                </a:moveTo>
                <a:lnTo>
                  <a:pt x="7075643" y="0"/>
                </a:lnTo>
                <a:lnTo>
                  <a:pt x="7075643" y="5817581"/>
                </a:lnTo>
                <a:lnTo>
                  <a:pt x="0" y="5817581"/>
                </a:lnTo>
                <a:lnTo>
                  <a:pt x="0" y="0"/>
                </a:lnTo>
                <a:close/>
              </a:path>
            </a:pathLst>
          </a:custGeom>
          <a:blipFill rotWithShape="1">
            <a:blip r:embed="rId6">
              <a:alphaModFix/>
            </a:blip>
            <a:stretch>
              <a:fillRect b="0" l="0" r="0" t="0"/>
            </a:stretch>
          </a:blipFill>
          <a:ln>
            <a:noFill/>
          </a:ln>
        </p:spPr>
      </p:sp>
      <p:sp>
        <p:nvSpPr>
          <p:cNvPr id="88" name="Google Shape;88;p1"/>
          <p:cNvSpPr/>
          <p:nvPr/>
        </p:nvSpPr>
        <p:spPr>
          <a:xfrm>
            <a:off x="-3650550" y="-2714504"/>
            <a:ext cx="8804594" cy="8804594"/>
          </a:xfrm>
          <a:custGeom>
            <a:rect b="b" l="l" r="r" t="t"/>
            <a:pathLst>
              <a:path extrusionOk="0" h="8804594" w="8804594">
                <a:moveTo>
                  <a:pt x="0" y="0"/>
                </a:moveTo>
                <a:lnTo>
                  <a:pt x="8804594" y="0"/>
                </a:lnTo>
                <a:lnTo>
                  <a:pt x="8804594" y="8804594"/>
                </a:lnTo>
                <a:lnTo>
                  <a:pt x="0" y="8804594"/>
                </a:lnTo>
                <a:lnTo>
                  <a:pt x="0" y="0"/>
                </a:lnTo>
                <a:close/>
              </a:path>
            </a:pathLst>
          </a:custGeom>
          <a:blipFill rotWithShape="1">
            <a:blip r:embed="rId7">
              <a:alphaModFix amt="26000"/>
            </a:blip>
            <a:stretch>
              <a:fillRect b="0" l="0" r="0" t="0"/>
            </a:stretch>
          </a:blipFill>
          <a:ln>
            <a:noFill/>
          </a:ln>
        </p:spPr>
      </p:sp>
      <p:sp>
        <p:nvSpPr>
          <p:cNvPr id="89" name="Google Shape;89;p1"/>
          <p:cNvSpPr txBox="1"/>
          <p:nvPr/>
        </p:nvSpPr>
        <p:spPr>
          <a:xfrm>
            <a:off x="-1051712" y="2643168"/>
            <a:ext cx="13355700" cy="3720600"/>
          </a:xfrm>
          <a:prstGeom prst="rect">
            <a:avLst/>
          </a:prstGeom>
          <a:noFill/>
          <a:ln>
            <a:noFill/>
          </a:ln>
        </p:spPr>
        <p:txBody>
          <a:bodyPr anchorCtr="0" anchor="t" bIns="0" lIns="0" spcFirstLastPara="1" rIns="0" wrap="square" tIns="0">
            <a:spAutoFit/>
          </a:bodyPr>
          <a:lstStyle/>
          <a:p>
            <a:pPr indent="0" lvl="0" marL="0" marR="0" rtl="0" algn="ctr">
              <a:lnSpc>
                <a:spcPct val="95000"/>
              </a:lnSpc>
              <a:spcBef>
                <a:spcPts val="0"/>
              </a:spcBef>
              <a:spcAft>
                <a:spcPts val="0"/>
              </a:spcAft>
              <a:buNone/>
            </a:pPr>
            <a:r>
              <a:rPr b="0" i="0" lang="en-US" sz="6361" u="none" cap="none" strike="noStrike">
                <a:solidFill>
                  <a:srgbClr val="FAF7F4"/>
                </a:solidFill>
                <a:latin typeface="Arial"/>
                <a:ea typeface="Arial"/>
                <a:cs typeface="Arial"/>
                <a:sym typeface="Arial"/>
              </a:rPr>
              <a:t>BotTrainer – LLM-Based </a:t>
            </a:r>
            <a:endParaRPr/>
          </a:p>
          <a:p>
            <a:pPr indent="0" lvl="0" marL="0" marR="0" rtl="0" algn="ctr">
              <a:lnSpc>
                <a:spcPct val="95000"/>
              </a:lnSpc>
              <a:spcBef>
                <a:spcPts val="0"/>
              </a:spcBef>
              <a:spcAft>
                <a:spcPts val="0"/>
              </a:spcAft>
              <a:buNone/>
            </a:pPr>
            <a:r>
              <a:rPr b="0" i="0" lang="en-US" sz="6361" u="none" cap="none" strike="noStrike">
                <a:solidFill>
                  <a:srgbClr val="FAF7F4"/>
                </a:solidFill>
                <a:latin typeface="Arial"/>
                <a:ea typeface="Arial"/>
                <a:cs typeface="Arial"/>
                <a:sym typeface="Arial"/>
              </a:rPr>
              <a:t>NLU Model Trainer &amp; </a:t>
            </a:r>
            <a:endParaRPr/>
          </a:p>
          <a:p>
            <a:pPr indent="0" lvl="0" marL="0" marR="0" rtl="0" algn="ctr">
              <a:lnSpc>
                <a:spcPct val="95000"/>
              </a:lnSpc>
              <a:spcBef>
                <a:spcPts val="0"/>
              </a:spcBef>
              <a:spcAft>
                <a:spcPts val="0"/>
              </a:spcAft>
              <a:buNone/>
            </a:pPr>
            <a:r>
              <a:rPr b="0" i="0" lang="en-US" sz="6361" u="none" cap="none" strike="noStrike">
                <a:solidFill>
                  <a:srgbClr val="FAF7F4"/>
                </a:solidFill>
                <a:latin typeface="Arial"/>
                <a:ea typeface="Arial"/>
                <a:cs typeface="Arial"/>
                <a:sym typeface="Arial"/>
              </a:rPr>
              <a:t>Evaluator for Chatbots</a:t>
            </a:r>
            <a:endParaRPr b="0" i="0" sz="6361" u="none" cap="none" strike="noStrike">
              <a:solidFill>
                <a:srgbClr val="FAF7F4"/>
              </a:solidFill>
              <a:latin typeface="Arial"/>
              <a:ea typeface="Arial"/>
              <a:cs typeface="Arial"/>
              <a:sym typeface="Arial"/>
            </a:endParaRPr>
          </a:p>
          <a:p>
            <a:pPr indent="0" lvl="0" marL="0" marR="0" rtl="0" algn="ctr">
              <a:lnSpc>
                <a:spcPct val="95000"/>
              </a:lnSpc>
              <a:spcBef>
                <a:spcPts val="0"/>
              </a:spcBef>
              <a:spcAft>
                <a:spcPts val="0"/>
              </a:spcAft>
              <a:buNone/>
            </a:pPr>
            <a:r>
              <a:t/>
            </a:r>
            <a:endParaRPr b="0" i="0" sz="6361" u="none" cap="none" strike="noStrike">
              <a:solidFill>
                <a:srgbClr val="FAF7F4"/>
              </a:solidFill>
              <a:latin typeface="Arial"/>
              <a:ea typeface="Arial"/>
              <a:cs typeface="Arial"/>
              <a:sym typeface="Arial"/>
            </a:endParaRPr>
          </a:p>
        </p:txBody>
      </p:sp>
      <p:sp>
        <p:nvSpPr>
          <p:cNvPr id="90" name="Google Shape;90;p1"/>
          <p:cNvSpPr/>
          <p:nvPr/>
        </p:nvSpPr>
        <p:spPr>
          <a:xfrm rot="733758">
            <a:off x="10354242" y="143155"/>
            <a:ext cx="3899198" cy="4117596"/>
          </a:xfrm>
          <a:custGeom>
            <a:rect b="b" l="l" r="r" t="t"/>
            <a:pathLst>
              <a:path extrusionOk="0" h="4117596" w="3899198">
                <a:moveTo>
                  <a:pt x="0" y="0"/>
                </a:moveTo>
                <a:lnTo>
                  <a:pt x="3899198" y="0"/>
                </a:lnTo>
                <a:lnTo>
                  <a:pt x="3899198" y="4117596"/>
                </a:lnTo>
                <a:lnTo>
                  <a:pt x="0" y="4117596"/>
                </a:lnTo>
                <a:lnTo>
                  <a:pt x="0" y="0"/>
                </a:lnTo>
                <a:close/>
              </a:path>
            </a:pathLst>
          </a:custGeom>
          <a:blipFill rotWithShape="1">
            <a:blip r:embed="rId8">
              <a:alphaModFix/>
            </a:blip>
            <a:stretch>
              <a:fillRect b="0" l="0" r="0" t="0"/>
            </a:stretch>
          </a:blipFill>
          <a:ln>
            <a:noFill/>
          </a:ln>
        </p:spPr>
      </p:sp>
      <p:sp>
        <p:nvSpPr>
          <p:cNvPr id="91" name="Google Shape;91;p1"/>
          <p:cNvSpPr/>
          <p:nvPr/>
        </p:nvSpPr>
        <p:spPr>
          <a:xfrm>
            <a:off x="-62830" y="198790"/>
            <a:ext cx="10826121" cy="2978006"/>
          </a:xfrm>
          <a:custGeom>
            <a:rect b="b" l="l" r="r" t="t"/>
            <a:pathLst>
              <a:path extrusionOk="0" h="2978006" w="10826121">
                <a:moveTo>
                  <a:pt x="0" y="0"/>
                </a:moveTo>
                <a:lnTo>
                  <a:pt x="10826121" y="0"/>
                </a:lnTo>
                <a:lnTo>
                  <a:pt x="10826121" y="2978006"/>
                </a:lnTo>
                <a:lnTo>
                  <a:pt x="0" y="2978006"/>
                </a:lnTo>
                <a:lnTo>
                  <a:pt x="0" y="0"/>
                </a:lnTo>
                <a:close/>
              </a:path>
            </a:pathLst>
          </a:custGeom>
          <a:blipFill rotWithShape="1">
            <a:blip r:embed="rId9">
              <a:alphaModFix/>
            </a:blip>
            <a:stretch>
              <a:fillRect b="0" l="0" r="0" t="0"/>
            </a:stretch>
          </a:blipFill>
          <a:ln>
            <a:noFill/>
          </a:ln>
        </p:spPr>
      </p:sp>
      <p:sp>
        <p:nvSpPr>
          <p:cNvPr id="92" name="Google Shape;92;p1"/>
          <p:cNvSpPr txBox="1"/>
          <p:nvPr/>
        </p:nvSpPr>
        <p:spPr>
          <a:xfrm>
            <a:off x="1028700" y="5553087"/>
            <a:ext cx="3301200" cy="4680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3200" u="none" cap="none" strike="noStrike">
                <a:solidFill>
                  <a:srgbClr val="FAF7F4"/>
                </a:solidFill>
                <a:latin typeface="Arial"/>
                <a:ea typeface="Arial"/>
                <a:cs typeface="Arial"/>
                <a:sym typeface="Arial"/>
              </a:rPr>
              <a:t>Presented By </a:t>
            </a:r>
            <a:endParaRPr/>
          </a:p>
        </p:txBody>
      </p:sp>
      <p:sp>
        <p:nvSpPr>
          <p:cNvPr id="93" name="Google Shape;93;p1"/>
          <p:cNvSpPr txBox="1"/>
          <p:nvPr/>
        </p:nvSpPr>
        <p:spPr>
          <a:xfrm>
            <a:off x="1009050" y="6090100"/>
            <a:ext cx="7125900" cy="5620200"/>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Clr>
                <a:srgbClr val="000000"/>
              </a:buClr>
              <a:buFont typeface="Arial"/>
              <a:buNone/>
            </a:pPr>
            <a:r>
              <a:rPr b="0" i="0" lang="en-US" sz="3199" u="none" cap="none" strike="noStrike">
                <a:solidFill>
                  <a:srgbClr val="44A5FF"/>
                </a:solidFill>
                <a:latin typeface="Arial"/>
                <a:ea typeface="Arial"/>
                <a:cs typeface="Arial"/>
                <a:sym typeface="Arial"/>
              </a:rPr>
              <a:t>Jeeva M                  </a:t>
            </a:r>
            <a:endParaRPr/>
          </a:p>
          <a:p>
            <a:pPr indent="0" lvl="0" marL="0" marR="0" rtl="0" algn="l">
              <a:lnSpc>
                <a:spcPct val="140012"/>
              </a:lnSpc>
              <a:spcBef>
                <a:spcPts val="0"/>
              </a:spcBef>
              <a:spcAft>
                <a:spcPts val="0"/>
              </a:spcAft>
              <a:buNone/>
            </a:pPr>
            <a:r>
              <a:rPr b="0" i="0" lang="en-US" sz="3199" u="none" cap="none" strike="noStrike">
                <a:solidFill>
                  <a:srgbClr val="44A5FF"/>
                </a:solidFill>
                <a:latin typeface="Arial"/>
                <a:ea typeface="Arial"/>
                <a:cs typeface="Arial"/>
                <a:sym typeface="Arial"/>
              </a:rPr>
              <a:t>Nishtha Mishra</a:t>
            </a:r>
            <a:endParaRPr/>
          </a:p>
          <a:p>
            <a:pPr indent="0" lvl="0" marL="0" marR="0" rtl="0" algn="l">
              <a:lnSpc>
                <a:spcPct val="140012"/>
              </a:lnSpc>
              <a:spcBef>
                <a:spcPts val="0"/>
              </a:spcBef>
              <a:spcAft>
                <a:spcPts val="0"/>
              </a:spcAft>
              <a:buNone/>
            </a:pPr>
            <a:r>
              <a:rPr b="0" i="0" lang="en-US" sz="3199" u="none" cap="none" strike="noStrike">
                <a:solidFill>
                  <a:srgbClr val="44A5FF"/>
                </a:solidFill>
                <a:latin typeface="Arial"/>
                <a:ea typeface="Arial"/>
                <a:cs typeface="Arial"/>
                <a:sym typeface="Arial"/>
              </a:rPr>
              <a:t>Swayam Bora</a:t>
            </a:r>
            <a:endParaRPr/>
          </a:p>
          <a:p>
            <a:pPr indent="0" lvl="0" marL="0" marR="0" rtl="0" algn="l">
              <a:lnSpc>
                <a:spcPct val="140012"/>
              </a:lnSpc>
              <a:spcBef>
                <a:spcPts val="0"/>
              </a:spcBef>
              <a:spcAft>
                <a:spcPts val="0"/>
              </a:spcAft>
              <a:buNone/>
            </a:pPr>
            <a:r>
              <a:rPr b="0" i="0" lang="en-US" sz="3199" u="none" cap="none" strike="noStrike">
                <a:solidFill>
                  <a:srgbClr val="44A5FF"/>
                </a:solidFill>
                <a:latin typeface="Arial"/>
                <a:ea typeface="Arial"/>
                <a:cs typeface="Arial"/>
                <a:sym typeface="Arial"/>
              </a:rPr>
              <a:t>Riya </a:t>
            </a:r>
            <a:endParaRPr b="0" i="0" sz="3199" u="none" cap="none" strike="noStrike">
              <a:solidFill>
                <a:srgbClr val="44A5FF"/>
              </a:solidFill>
              <a:latin typeface="Arial"/>
              <a:ea typeface="Arial"/>
              <a:cs typeface="Arial"/>
              <a:sym typeface="Arial"/>
            </a:endParaRPr>
          </a:p>
          <a:p>
            <a:pPr indent="0" lvl="0" marL="0" marR="0" rtl="0" algn="l">
              <a:lnSpc>
                <a:spcPct val="140012"/>
              </a:lnSpc>
              <a:spcBef>
                <a:spcPts val="0"/>
              </a:spcBef>
              <a:spcAft>
                <a:spcPts val="0"/>
              </a:spcAft>
              <a:buNone/>
            </a:pPr>
            <a:r>
              <a:rPr lang="en-US" sz="3199">
                <a:solidFill>
                  <a:srgbClr val="FAF7F4"/>
                </a:solidFill>
              </a:rPr>
              <a:t>Under the guidance:</a:t>
            </a:r>
            <a:r>
              <a:rPr lang="en-US" sz="3199">
                <a:solidFill>
                  <a:srgbClr val="44A5FF"/>
                </a:solidFill>
              </a:rPr>
              <a:t> Mr. Thangarasu</a:t>
            </a:r>
            <a:endParaRPr sz="3199">
              <a:solidFill>
                <a:srgbClr val="44A5FF"/>
              </a:solidFill>
            </a:endParaRPr>
          </a:p>
          <a:p>
            <a:pPr indent="0" lvl="0" marL="0" marR="0" rtl="0" algn="l">
              <a:lnSpc>
                <a:spcPct val="140012"/>
              </a:lnSpc>
              <a:spcBef>
                <a:spcPts val="0"/>
              </a:spcBef>
              <a:spcAft>
                <a:spcPts val="0"/>
              </a:spcAft>
              <a:buNone/>
            </a:pPr>
            <a:r>
              <a:rPr lang="en-US" sz="3199">
                <a:solidFill>
                  <a:srgbClr val="FAF7F4"/>
                </a:solidFill>
              </a:rPr>
              <a:t>Team B </a:t>
            </a:r>
            <a:endParaRPr sz="3199">
              <a:solidFill>
                <a:srgbClr val="FAF7F4"/>
              </a:solidFill>
            </a:endParaRPr>
          </a:p>
          <a:p>
            <a:pPr indent="0" lvl="0" marL="0" marR="0" rtl="0" algn="l">
              <a:lnSpc>
                <a:spcPct val="140012"/>
              </a:lnSpc>
              <a:spcBef>
                <a:spcPts val="0"/>
              </a:spcBef>
              <a:spcAft>
                <a:spcPts val="0"/>
              </a:spcAft>
              <a:buNone/>
            </a:pPr>
            <a:r>
              <a:t/>
            </a:r>
            <a:endParaRPr/>
          </a:p>
          <a:p>
            <a:pPr indent="0" lvl="0" marL="0" marR="0" rtl="0" algn="l">
              <a:lnSpc>
                <a:spcPct val="140012"/>
              </a:lnSpc>
              <a:spcBef>
                <a:spcPts val="0"/>
              </a:spcBef>
              <a:spcAft>
                <a:spcPts val="0"/>
              </a:spcAft>
              <a:buNone/>
            </a:pPr>
            <a:r>
              <a:t/>
            </a:r>
            <a:endParaRPr b="0" i="0" sz="3199" u="none" cap="none" strike="noStrike">
              <a:solidFill>
                <a:srgbClr val="44A5FF"/>
              </a:solidFill>
              <a:latin typeface="Arial"/>
              <a:ea typeface="Arial"/>
              <a:cs typeface="Arial"/>
              <a:sym typeface="Arial"/>
            </a:endParaRPr>
          </a:p>
          <a:p>
            <a:pPr indent="0" lvl="0" marL="0" marR="0" rtl="0" algn="l">
              <a:lnSpc>
                <a:spcPct val="140012"/>
              </a:lnSpc>
              <a:spcBef>
                <a:spcPts val="0"/>
              </a:spcBef>
              <a:spcAft>
                <a:spcPts val="0"/>
              </a:spcAft>
              <a:buNone/>
            </a:pPr>
            <a:r>
              <a:t/>
            </a:r>
            <a:endParaRPr b="0" i="0" sz="3199" u="none" cap="none" strike="noStrike">
              <a:solidFill>
                <a:srgbClr val="44A5FF"/>
              </a:solidFill>
              <a:latin typeface="Arial"/>
              <a:ea typeface="Arial"/>
              <a:cs typeface="Arial"/>
              <a:sym typeface="Arial"/>
            </a:endParaRPr>
          </a:p>
        </p:txBody>
      </p:sp>
      <p:sp>
        <p:nvSpPr>
          <p:cNvPr id="94" name="Google Shape;94;p1"/>
          <p:cNvSpPr txBox="1"/>
          <p:nvPr/>
        </p:nvSpPr>
        <p:spPr>
          <a:xfrm>
            <a:off x="4572000" y="6197600"/>
            <a:ext cx="3000000" cy="2055900"/>
          </a:xfrm>
          <a:prstGeom prst="rect">
            <a:avLst/>
          </a:prstGeom>
          <a:noFill/>
          <a:ln>
            <a:noFill/>
          </a:ln>
        </p:spPr>
        <p:txBody>
          <a:bodyPr anchorCtr="0" anchor="t" bIns="91425" lIns="91425" spcFirstLastPara="1" rIns="91425" wrap="square" tIns="91425">
            <a:spAutoFit/>
          </a:bodyPr>
          <a:lstStyle/>
          <a:p>
            <a:pPr indent="0" lvl="0" marL="0" rtl="0" algn="l">
              <a:lnSpc>
                <a:spcPct val="140012"/>
              </a:lnSpc>
              <a:spcBef>
                <a:spcPts val="0"/>
              </a:spcBef>
              <a:spcAft>
                <a:spcPts val="0"/>
              </a:spcAft>
              <a:buNone/>
            </a:pPr>
            <a:r>
              <a:rPr lang="en-US" sz="3199">
                <a:solidFill>
                  <a:srgbClr val="44A5FF"/>
                </a:solidFill>
              </a:rPr>
              <a:t>Siri Reddy </a:t>
            </a:r>
            <a:endParaRPr>
              <a:solidFill>
                <a:schemeClr val="dk1"/>
              </a:solidFill>
            </a:endParaRPr>
          </a:p>
          <a:p>
            <a:pPr indent="0" lvl="0" marL="0" rtl="0" algn="l">
              <a:lnSpc>
                <a:spcPct val="140012"/>
              </a:lnSpc>
              <a:spcBef>
                <a:spcPts val="0"/>
              </a:spcBef>
              <a:spcAft>
                <a:spcPts val="0"/>
              </a:spcAft>
              <a:buNone/>
            </a:pPr>
            <a:r>
              <a:rPr lang="en-US" sz="3199">
                <a:solidFill>
                  <a:srgbClr val="44A5FF"/>
                </a:solidFill>
              </a:rPr>
              <a:t>Srinivas </a:t>
            </a:r>
            <a:endParaRPr>
              <a:solidFill>
                <a:schemeClr val="dk1"/>
              </a:solidFill>
            </a:endParaRPr>
          </a:p>
          <a:p>
            <a:pPr indent="0" lvl="0" marL="0" rtl="0" algn="l">
              <a:lnSpc>
                <a:spcPct val="140012"/>
              </a:lnSpc>
              <a:spcBef>
                <a:spcPts val="0"/>
              </a:spcBef>
              <a:spcAft>
                <a:spcPts val="0"/>
              </a:spcAft>
              <a:buNone/>
            </a:pPr>
            <a:r>
              <a:rPr lang="en-US" sz="3199">
                <a:solidFill>
                  <a:srgbClr val="44A5FF"/>
                </a:solidFill>
              </a:rPr>
              <a:t>Utkarsh Gupta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153C"/>
        </a:solidFill>
      </p:bgPr>
    </p:bg>
    <p:spTree>
      <p:nvGrpSpPr>
        <p:cNvPr id="98" name="Shape 98"/>
        <p:cNvGrpSpPr/>
        <p:nvPr/>
      </p:nvGrpSpPr>
      <p:grpSpPr>
        <a:xfrm>
          <a:off x="0" y="0"/>
          <a:ext cx="0" cy="0"/>
          <a:chOff x="0" y="0"/>
          <a:chExt cx="0" cy="0"/>
        </a:xfrm>
      </p:grpSpPr>
      <p:sp>
        <p:nvSpPr>
          <p:cNvPr id="99" name="Google Shape;99;p2"/>
          <p:cNvSpPr/>
          <p:nvPr/>
        </p:nvSpPr>
        <p:spPr>
          <a:xfrm>
            <a:off x="10729666" y="526306"/>
            <a:ext cx="6948938" cy="7976981"/>
          </a:xfrm>
          <a:custGeom>
            <a:rect b="b" l="l" r="r" t="t"/>
            <a:pathLst>
              <a:path extrusionOk="0" h="9379588" w="7139284">
                <a:moveTo>
                  <a:pt x="0" y="0"/>
                </a:moveTo>
                <a:lnTo>
                  <a:pt x="7139284" y="0"/>
                </a:lnTo>
                <a:lnTo>
                  <a:pt x="7139284" y="9379588"/>
                </a:lnTo>
                <a:lnTo>
                  <a:pt x="0" y="9379588"/>
                </a:lnTo>
                <a:lnTo>
                  <a:pt x="0" y="0"/>
                </a:lnTo>
                <a:close/>
              </a:path>
            </a:pathLst>
          </a:custGeom>
          <a:blipFill rotWithShape="1">
            <a:blip r:embed="rId3">
              <a:alphaModFix/>
            </a:blip>
            <a:stretch>
              <a:fillRect b="0" l="0" r="0" t="0"/>
            </a:stretch>
          </a:blipFill>
          <a:ln>
            <a:noFill/>
          </a:ln>
        </p:spPr>
      </p:sp>
      <p:sp>
        <p:nvSpPr>
          <p:cNvPr id="100" name="Google Shape;100;p2"/>
          <p:cNvSpPr/>
          <p:nvPr/>
        </p:nvSpPr>
        <p:spPr>
          <a:xfrm>
            <a:off x="0" y="7690055"/>
            <a:ext cx="18701319" cy="4258146"/>
          </a:xfrm>
          <a:custGeom>
            <a:rect b="b" l="l" r="r" t="t"/>
            <a:pathLst>
              <a:path extrusionOk="0" h="4258146" w="18701319">
                <a:moveTo>
                  <a:pt x="0" y="0"/>
                </a:moveTo>
                <a:lnTo>
                  <a:pt x="18701319" y="0"/>
                </a:lnTo>
                <a:lnTo>
                  <a:pt x="18701319" y="4258146"/>
                </a:lnTo>
                <a:lnTo>
                  <a:pt x="0" y="4258146"/>
                </a:lnTo>
                <a:lnTo>
                  <a:pt x="0" y="0"/>
                </a:lnTo>
                <a:close/>
              </a:path>
            </a:pathLst>
          </a:custGeom>
          <a:blipFill rotWithShape="1">
            <a:blip r:embed="rId4">
              <a:alphaModFix/>
            </a:blip>
            <a:stretch>
              <a:fillRect b="0" l="0" r="0" t="0"/>
            </a:stretch>
          </a:blipFill>
          <a:ln>
            <a:noFill/>
          </a:ln>
        </p:spPr>
      </p:sp>
      <p:sp>
        <p:nvSpPr>
          <p:cNvPr id="101" name="Google Shape;101;p2"/>
          <p:cNvSpPr/>
          <p:nvPr/>
        </p:nvSpPr>
        <p:spPr>
          <a:xfrm>
            <a:off x="10120351" y="7200900"/>
            <a:ext cx="6928434" cy="4114800"/>
          </a:xfrm>
          <a:custGeom>
            <a:rect b="b" l="l" r="r" t="t"/>
            <a:pathLst>
              <a:path extrusionOk="0" h="4114800" w="6928434">
                <a:moveTo>
                  <a:pt x="0" y="0"/>
                </a:moveTo>
                <a:lnTo>
                  <a:pt x="6928433" y="0"/>
                </a:lnTo>
                <a:lnTo>
                  <a:pt x="6928433" y="4114800"/>
                </a:lnTo>
                <a:lnTo>
                  <a:pt x="0" y="4114800"/>
                </a:lnTo>
                <a:lnTo>
                  <a:pt x="0" y="0"/>
                </a:lnTo>
                <a:close/>
              </a:path>
            </a:pathLst>
          </a:custGeom>
          <a:blipFill rotWithShape="1">
            <a:blip r:embed="rId5">
              <a:alphaModFix amt="55000"/>
            </a:blip>
            <a:stretch>
              <a:fillRect b="0" l="0" r="0" t="0"/>
            </a:stretch>
          </a:blipFill>
          <a:ln>
            <a:noFill/>
          </a:ln>
        </p:spPr>
      </p:sp>
      <p:sp>
        <p:nvSpPr>
          <p:cNvPr id="102" name="Google Shape;102;p2"/>
          <p:cNvSpPr/>
          <p:nvPr/>
        </p:nvSpPr>
        <p:spPr>
          <a:xfrm>
            <a:off x="11483326" y="1940388"/>
            <a:ext cx="6464333" cy="6826407"/>
          </a:xfrm>
          <a:custGeom>
            <a:rect b="b" l="l" r="r" t="t"/>
            <a:pathLst>
              <a:path extrusionOk="0" h="6826407" w="6464333">
                <a:moveTo>
                  <a:pt x="0" y="0"/>
                </a:moveTo>
                <a:lnTo>
                  <a:pt x="6464333" y="0"/>
                </a:lnTo>
                <a:lnTo>
                  <a:pt x="6464333" y="6826406"/>
                </a:lnTo>
                <a:lnTo>
                  <a:pt x="0" y="6826406"/>
                </a:lnTo>
                <a:lnTo>
                  <a:pt x="0" y="0"/>
                </a:lnTo>
                <a:close/>
              </a:path>
            </a:pathLst>
          </a:custGeom>
          <a:blipFill rotWithShape="1">
            <a:blip r:embed="rId6">
              <a:alphaModFix/>
            </a:blip>
            <a:stretch>
              <a:fillRect b="0" l="0" r="0" t="0"/>
            </a:stretch>
          </a:blipFill>
          <a:ln>
            <a:noFill/>
          </a:ln>
        </p:spPr>
      </p:sp>
      <p:sp>
        <p:nvSpPr>
          <p:cNvPr id="103" name="Google Shape;103;p2"/>
          <p:cNvSpPr txBox="1"/>
          <p:nvPr/>
        </p:nvSpPr>
        <p:spPr>
          <a:xfrm>
            <a:off x="762000" y="540850"/>
            <a:ext cx="12097505" cy="138499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990" u="none" cap="none" strike="noStrike">
                <a:solidFill>
                  <a:srgbClr val="FFFFFF"/>
                </a:solidFill>
                <a:latin typeface="Arial"/>
                <a:ea typeface="Arial"/>
                <a:cs typeface="Arial"/>
                <a:sym typeface="Arial"/>
              </a:rPr>
              <a:t> Introduction</a:t>
            </a:r>
            <a:endParaRPr/>
          </a:p>
        </p:txBody>
      </p:sp>
      <p:sp>
        <p:nvSpPr>
          <p:cNvPr id="104" name="Google Shape;104;p2"/>
          <p:cNvSpPr/>
          <p:nvPr/>
        </p:nvSpPr>
        <p:spPr>
          <a:xfrm>
            <a:off x="962531" y="1748487"/>
            <a:ext cx="10934109" cy="7478970"/>
          </a:xfrm>
          <a:prstGeom prst="rect">
            <a:avLst/>
          </a:prstGeom>
          <a:noFill/>
          <a:ln>
            <a:noFill/>
          </a:ln>
        </p:spPr>
        <p:txBody>
          <a:bodyPr anchorCtr="0" anchor="ctr" bIns="45700" lIns="91425" spcFirstLastPara="1" rIns="91425" wrap="square" tIns="45700">
            <a:spAutoFit/>
          </a:bodyPr>
          <a:lstStyle/>
          <a:p>
            <a:pPr indent="-152400" lvl="0" marL="0" marR="0" rtl="0" algn="l">
              <a:spcBef>
                <a:spcPts val="0"/>
              </a:spcBef>
              <a:spcAft>
                <a:spcPts val="0"/>
              </a:spcAft>
              <a:buClr>
                <a:schemeClr val="lt1"/>
              </a:buClr>
              <a:buSzPts val="2400"/>
              <a:buFont typeface="Arial"/>
              <a:buChar char="•"/>
            </a:pPr>
            <a:r>
              <a:rPr b="0" i="0" lang="en-US" sz="2400" u="none" cap="none" strike="noStrike">
                <a:solidFill>
                  <a:schemeClr val="lt1"/>
                </a:solidFill>
                <a:latin typeface="Arial"/>
                <a:ea typeface="Arial"/>
                <a:cs typeface="Arial"/>
                <a:sym typeface="Arial"/>
              </a:rPr>
              <a:t>BotTrainer is an LLM-powered Natural Language Understanding (NLU) system designed for chatbot applications.</a:t>
            </a:r>
            <a:endParaRPr/>
          </a:p>
          <a:p>
            <a:pPr indent="0" lvl="0" marL="0" marR="0" rtl="0" algn="l">
              <a:spcBef>
                <a:spcPts val="0"/>
              </a:spcBef>
              <a:spcAft>
                <a:spcPts val="0"/>
              </a:spcAft>
              <a:buClr>
                <a:schemeClr val="dk1"/>
              </a:buClr>
              <a:buSzPts val="2400"/>
              <a:buFont typeface="Calibri"/>
              <a:buNone/>
            </a:pPr>
            <a:r>
              <a:t/>
            </a:r>
            <a:endParaRPr b="0" i="0" sz="2400" u="none" cap="none" strike="noStrike">
              <a:solidFill>
                <a:schemeClr val="lt1"/>
              </a:solidFill>
              <a:latin typeface="Arial"/>
              <a:ea typeface="Arial"/>
              <a:cs typeface="Arial"/>
              <a:sym typeface="Arial"/>
            </a:endParaRPr>
          </a:p>
          <a:p>
            <a:pPr indent="-152400" lvl="0" marL="0" marR="0" rtl="0" algn="l">
              <a:spcBef>
                <a:spcPts val="0"/>
              </a:spcBef>
              <a:spcAft>
                <a:spcPts val="0"/>
              </a:spcAft>
              <a:buClr>
                <a:schemeClr val="lt1"/>
              </a:buClr>
              <a:buSzPts val="2400"/>
              <a:buFont typeface="Arial"/>
              <a:buChar char="•"/>
            </a:pPr>
            <a:r>
              <a:rPr b="0" i="0" lang="en-US" sz="2400" u="none" cap="none" strike="noStrike">
                <a:solidFill>
                  <a:schemeClr val="lt1"/>
                </a:solidFill>
                <a:latin typeface="Arial"/>
                <a:ea typeface="Arial"/>
                <a:cs typeface="Arial"/>
                <a:sym typeface="Arial"/>
              </a:rPr>
              <a:t>It performs intent classification and schema-constrained entity extraction using prompt engineering instead of traditional machine learning training pipelines.</a:t>
            </a:r>
            <a:endParaRPr/>
          </a:p>
          <a:p>
            <a:pPr indent="0" lvl="0" marL="0" marR="0" rtl="0" algn="l">
              <a:spcBef>
                <a:spcPts val="0"/>
              </a:spcBef>
              <a:spcAft>
                <a:spcPts val="0"/>
              </a:spcAft>
              <a:buClr>
                <a:schemeClr val="dk1"/>
              </a:buClr>
              <a:buSzPts val="2400"/>
              <a:buFont typeface="Calibri"/>
              <a:buNone/>
            </a:pPr>
            <a:r>
              <a:t/>
            </a:r>
            <a:endParaRPr b="0" i="0" sz="2400" u="none" cap="none" strike="noStrike">
              <a:solidFill>
                <a:schemeClr val="lt1"/>
              </a:solidFill>
              <a:latin typeface="Arial"/>
              <a:ea typeface="Arial"/>
              <a:cs typeface="Arial"/>
              <a:sym typeface="Arial"/>
            </a:endParaRPr>
          </a:p>
          <a:p>
            <a:pPr indent="-152400" lvl="0" marL="0" marR="0" rtl="0" algn="l">
              <a:spcBef>
                <a:spcPts val="0"/>
              </a:spcBef>
              <a:spcAft>
                <a:spcPts val="0"/>
              </a:spcAft>
              <a:buClr>
                <a:schemeClr val="lt1"/>
              </a:buClr>
              <a:buSzPts val="2400"/>
              <a:buFont typeface="Arial"/>
              <a:buChar char="•"/>
            </a:pPr>
            <a:r>
              <a:rPr b="0" i="0" lang="en-US" sz="2400" u="none" cap="none" strike="noStrike">
                <a:solidFill>
                  <a:schemeClr val="lt1"/>
                </a:solidFill>
                <a:latin typeface="Arial"/>
                <a:ea typeface="Arial"/>
                <a:cs typeface="Arial"/>
                <a:sym typeface="Arial"/>
              </a:rPr>
              <a:t>The system uses a JSON-first dataset structure to define intents, example utterances, and allowed entity schemas.</a:t>
            </a:r>
            <a:endParaRPr/>
          </a:p>
          <a:p>
            <a:pPr indent="0" lvl="0" marL="0" marR="0" rtl="0" algn="l">
              <a:spcBef>
                <a:spcPts val="0"/>
              </a:spcBef>
              <a:spcAft>
                <a:spcPts val="0"/>
              </a:spcAft>
              <a:buClr>
                <a:schemeClr val="dk1"/>
              </a:buClr>
              <a:buSzPts val="2400"/>
              <a:buFont typeface="Calibri"/>
              <a:buNone/>
            </a:pPr>
            <a:r>
              <a:t/>
            </a:r>
            <a:endParaRPr b="0" i="0" sz="2400" u="none" cap="none" strike="noStrike">
              <a:solidFill>
                <a:schemeClr val="lt1"/>
              </a:solidFill>
              <a:latin typeface="Arial"/>
              <a:ea typeface="Arial"/>
              <a:cs typeface="Arial"/>
              <a:sym typeface="Arial"/>
            </a:endParaRPr>
          </a:p>
          <a:p>
            <a:pPr indent="-152400" lvl="0" marL="0" marR="0" rtl="0" algn="l">
              <a:spcBef>
                <a:spcPts val="0"/>
              </a:spcBef>
              <a:spcAft>
                <a:spcPts val="0"/>
              </a:spcAft>
              <a:buClr>
                <a:schemeClr val="lt1"/>
              </a:buClr>
              <a:buSzPts val="2400"/>
              <a:buFont typeface="Arial"/>
              <a:buChar char="•"/>
            </a:pPr>
            <a:r>
              <a:rPr b="0" i="0" lang="en-US" sz="2400" u="none" cap="none" strike="noStrike">
                <a:solidFill>
                  <a:schemeClr val="lt1"/>
                </a:solidFill>
                <a:latin typeface="Arial"/>
                <a:ea typeface="Arial"/>
                <a:cs typeface="Arial"/>
                <a:sym typeface="Arial"/>
              </a:rPr>
              <a:t>It supports multiple LLM backends, including a local Gemma-3 model (via Ollama) and </a:t>
            </a:r>
            <a:r>
              <a:rPr lang="en-US" sz="2400">
                <a:solidFill>
                  <a:schemeClr val="lt1"/>
                </a:solidFill>
              </a:rPr>
              <a:t>Qwen-2.5</a:t>
            </a:r>
            <a:r>
              <a:rPr b="0" i="0" lang="en-US" sz="2400" u="none" cap="none" strike="noStrike">
                <a:solidFill>
                  <a:schemeClr val="lt1"/>
                </a:solidFill>
                <a:latin typeface="Arial"/>
                <a:ea typeface="Arial"/>
                <a:cs typeface="Arial"/>
                <a:sym typeface="Arial"/>
              </a:rPr>
              <a:t>, producing structured JSON outputs for intent and entity prediction.</a:t>
            </a:r>
            <a:endParaRPr/>
          </a:p>
          <a:p>
            <a:pPr indent="0" lvl="0" marL="0" marR="0" rtl="0" algn="l">
              <a:spcBef>
                <a:spcPts val="0"/>
              </a:spcBef>
              <a:spcAft>
                <a:spcPts val="0"/>
              </a:spcAft>
              <a:buClr>
                <a:schemeClr val="dk1"/>
              </a:buClr>
              <a:buSzPts val="2400"/>
              <a:buFont typeface="Calibri"/>
              <a:buNone/>
            </a:pPr>
            <a:r>
              <a:t/>
            </a:r>
            <a:endParaRPr b="0" i="0" sz="2400" u="none" cap="none" strike="noStrike">
              <a:solidFill>
                <a:schemeClr val="lt1"/>
              </a:solidFill>
              <a:latin typeface="Arial"/>
              <a:ea typeface="Arial"/>
              <a:cs typeface="Arial"/>
              <a:sym typeface="Arial"/>
            </a:endParaRPr>
          </a:p>
          <a:p>
            <a:pPr indent="-152400" lvl="0" marL="0" marR="0" rtl="0" algn="l">
              <a:spcBef>
                <a:spcPts val="0"/>
              </a:spcBef>
              <a:spcAft>
                <a:spcPts val="0"/>
              </a:spcAft>
              <a:buClr>
                <a:schemeClr val="lt1"/>
              </a:buClr>
              <a:buSzPts val="2400"/>
              <a:buFont typeface="Arial"/>
              <a:buChar char="•"/>
            </a:pPr>
            <a:r>
              <a:rPr b="0" i="0" lang="en-US" sz="2400" u="none" cap="none" strike="noStrike">
                <a:solidFill>
                  <a:schemeClr val="lt1"/>
                </a:solidFill>
                <a:latin typeface="Arial"/>
                <a:ea typeface="Arial"/>
                <a:cs typeface="Arial"/>
                <a:sym typeface="Arial"/>
              </a:rPr>
              <a:t>The project includes an evaluation module to analyze intent classification performance using standard metrics such as accuracy.</a:t>
            </a:r>
            <a:endParaRPr/>
          </a:p>
          <a:p>
            <a:pPr indent="0" lvl="0" marL="0" marR="0" rtl="0" algn="l">
              <a:spcBef>
                <a:spcPts val="0"/>
              </a:spcBef>
              <a:spcAft>
                <a:spcPts val="0"/>
              </a:spcAft>
              <a:buClr>
                <a:schemeClr val="dk1"/>
              </a:buClr>
              <a:buSzPts val="2400"/>
              <a:buFont typeface="Calibri"/>
              <a:buNone/>
            </a:pPr>
            <a:r>
              <a:t/>
            </a:r>
            <a:endParaRPr b="0" i="0" sz="2400" u="none" cap="none" strike="noStrike">
              <a:solidFill>
                <a:schemeClr val="lt1"/>
              </a:solidFill>
              <a:latin typeface="Arial"/>
              <a:ea typeface="Arial"/>
              <a:cs typeface="Arial"/>
              <a:sym typeface="Arial"/>
            </a:endParaRPr>
          </a:p>
          <a:p>
            <a:pPr indent="-152400" lvl="0" marL="0" marR="0" rtl="0" algn="l">
              <a:spcBef>
                <a:spcPts val="0"/>
              </a:spcBef>
              <a:spcAft>
                <a:spcPts val="0"/>
              </a:spcAft>
              <a:buClr>
                <a:schemeClr val="lt1"/>
              </a:buClr>
              <a:buSzPts val="2400"/>
              <a:buFont typeface="Arial"/>
              <a:buChar char="•"/>
            </a:pPr>
            <a:r>
              <a:rPr b="0" i="0" lang="en-US" sz="2400" u="none" cap="none" strike="noStrike">
                <a:solidFill>
                  <a:schemeClr val="lt1"/>
                </a:solidFill>
                <a:latin typeface="Arial"/>
                <a:ea typeface="Arial"/>
                <a:cs typeface="Arial"/>
                <a:sym typeface="Arial"/>
              </a:rPr>
              <a:t>An interactive Streamlit interface is planned to enable real-time testing and analysis.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153C"/>
        </a:solidFill>
      </p:bgPr>
    </p:bg>
    <p:spTree>
      <p:nvGrpSpPr>
        <p:cNvPr id="108" name="Shape 108"/>
        <p:cNvGrpSpPr/>
        <p:nvPr/>
      </p:nvGrpSpPr>
      <p:grpSpPr>
        <a:xfrm>
          <a:off x="0" y="0"/>
          <a:ext cx="0" cy="0"/>
          <a:chOff x="0" y="0"/>
          <a:chExt cx="0" cy="0"/>
        </a:xfrm>
      </p:grpSpPr>
      <p:sp>
        <p:nvSpPr>
          <p:cNvPr id="109" name="Google Shape;109;p3"/>
          <p:cNvSpPr/>
          <p:nvPr/>
        </p:nvSpPr>
        <p:spPr>
          <a:xfrm>
            <a:off x="0" y="7690055"/>
            <a:ext cx="18701319" cy="4258146"/>
          </a:xfrm>
          <a:custGeom>
            <a:rect b="b" l="l" r="r" t="t"/>
            <a:pathLst>
              <a:path extrusionOk="0" h="4258146" w="18701319">
                <a:moveTo>
                  <a:pt x="0" y="0"/>
                </a:moveTo>
                <a:lnTo>
                  <a:pt x="18701319" y="0"/>
                </a:lnTo>
                <a:lnTo>
                  <a:pt x="18701319" y="4258146"/>
                </a:lnTo>
                <a:lnTo>
                  <a:pt x="0" y="4258146"/>
                </a:lnTo>
                <a:lnTo>
                  <a:pt x="0" y="0"/>
                </a:lnTo>
                <a:close/>
              </a:path>
            </a:pathLst>
          </a:custGeom>
          <a:blipFill rotWithShape="1">
            <a:blip r:embed="rId3">
              <a:alphaModFix/>
            </a:blip>
            <a:stretch>
              <a:fillRect b="0" l="0" r="0" t="0"/>
            </a:stretch>
          </a:blipFill>
          <a:ln>
            <a:noFill/>
          </a:ln>
        </p:spPr>
      </p:sp>
      <p:sp>
        <p:nvSpPr>
          <p:cNvPr id="110" name="Google Shape;110;p3"/>
          <p:cNvSpPr/>
          <p:nvPr/>
        </p:nvSpPr>
        <p:spPr>
          <a:xfrm>
            <a:off x="-4802566" y="-3661094"/>
            <a:ext cx="8804594" cy="8804594"/>
          </a:xfrm>
          <a:custGeom>
            <a:rect b="b" l="l" r="r" t="t"/>
            <a:pathLst>
              <a:path extrusionOk="0" h="8804594" w="8804594">
                <a:moveTo>
                  <a:pt x="0" y="0"/>
                </a:moveTo>
                <a:lnTo>
                  <a:pt x="8804594" y="0"/>
                </a:lnTo>
                <a:lnTo>
                  <a:pt x="8804594" y="8804594"/>
                </a:lnTo>
                <a:lnTo>
                  <a:pt x="0" y="8804594"/>
                </a:lnTo>
                <a:lnTo>
                  <a:pt x="0" y="0"/>
                </a:lnTo>
                <a:close/>
              </a:path>
            </a:pathLst>
          </a:custGeom>
          <a:blipFill rotWithShape="1">
            <a:blip r:embed="rId4">
              <a:alphaModFix amt="43000"/>
            </a:blip>
            <a:stretch>
              <a:fillRect b="0" l="0" r="0" t="0"/>
            </a:stretch>
          </a:blipFill>
          <a:ln>
            <a:noFill/>
          </a:ln>
        </p:spPr>
      </p:sp>
      <p:sp>
        <p:nvSpPr>
          <p:cNvPr id="111" name="Google Shape;111;p3"/>
          <p:cNvSpPr/>
          <p:nvPr/>
        </p:nvSpPr>
        <p:spPr>
          <a:xfrm flipH="1">
            <a:off x="432386" y="-522364"/>
            <a:ext cx="7139284" cy="9379588"/>
          </a:xfrm>
          <a:custGeom>
            <a:rect b="b" l="l" r="r" t="t"/>
            <a:pathLst>
              <a:path extrusionOk="0" h="9379588" w="7139284">
                <a:moveTo>
                  <a:pt x="7139284" y="0"/>
                </a:moveTo>
                <a:lnTo>
                  <a:pt x="0" y="0"/>
                </a:lnTo>
                <a:lnTo>
                  <a:pt x="0" y="9379589"/>
                </a:lnTo>
                <a:lnTo>
                  <a:pt x="7139284" y="9379589"/>
                </a:lnTo>
                <a:lnTo>
                  <a:pt x="7139284" y="0"/>
                </a:lnTo>
                <a:close/>
              </a:path>
            </a:pathLst>
          </a:custGeom>
          <a:blipFill rotWithShape="1">
            <a:blip r:embed="rId5">
              <a:alphaModFix/>
            </a:blip>
            <a:stretch>
              <a:fillRect b="0" l="0" r="0" t="0"/>
            </a:stretch>
          </a:blipFill>
          <a:ln>
            <a:noFill/>
          </a:ln>
        </p:spPr>
      </p:sp>
      <p:sp>
        <p:nvSpPr>
          <p:cNvPr id="112" name="Google Shape;112;p3"/>
          <p:cNvSpPr/>
          <p:nvPr/>
        </p:nvSpPr>
        <p:spPr>
          <a:xfrm>
            <a:off x="1990007" y="7690055"/>
            <a:ext cx="7625234" cy="4528630"/>
          </a:xfrm>
          <a:custGeom>
            <a:rect b="b" l="l" r="r" t="t"/>
            <a:pathLst>
              <a:path extrusionOk="0" h="4528630" w="7625234">
                <a:moveTo>
                  <a:pt x="0" y="0"/>
                </a:moveTo>
                <a:lnTo>
                  <a:pt x="7625233" y="0"/>
                </a:lnTo>
                <a:lnTo>
                  <a:pt x="7625233" y="4528630"/>
                </a:lnTo>
                <a:lnTo>
                  <a:pt x="0" y="4528630"/>
                </a:lnTo>
                <a:lnTo>
                  <a:pt x="0" y="0"/>
                </a:lnTo>
                <a:close/>
              </a:path>
            </a:pathLst>
          </a:custGeom>
          <a:blipFill rotWithShape="1">
            <a:blip r:embed="rId6">
              <a:alphaModFix amt="23000"/>
            </a:blip>
            <a:stretch>
              <a:fillRect b="0" l="0" r="0" t="0"/>
            </a:stretch>
          </a:blipFill>
          <a:ln>
            <a:noFill/>
          </a:ln>
        </p:spPr>
      </p:sp>
      <p:sp>
        <p:nvSpPr>
          <p:cNvPr id="113" name="Google Shape;113;p3"/>
          <p:cNvSpPr/>
          <p:nvPr/>
        </p:nvSpPr>
        <p:spPr>
          <a:xfrm>
            <a:off x="275535" y="1311396"/>
            <a:ext cx="7113677" cy="7946904"/>
          </a:xfrm>
          <a:custGeom>
            <a:rect b="b" l="l" r="r" t="t"/>
            <a:pathLst>
              <a:path extrusionOk="0" h="7946904" w="7113677">
                <a:moveTo>
                  <a:pt x="0" y="0"/>
                </a:moveTo>
                <a:lnTo>
                  <a:pt x="7113677" y="0"/>
                </a:lnTo>
                <a:lnTo>
                  <a:pt x="7113677" y="7946904"/>
                </a:lnTo>
                <a:lnTo>
                  <a:pt x="0" y="7946904"/>
                </a:lnTo>
                <a:lnTo>
                  <a:pt x="0" y="0"/>
                </a:lnTo>
                <a:close/>
              </a:path>
            </a:pathLst>
          </a:custGeom>
          <a:blipFill rotWithShape="1">
            <a:blip r:embed="rId7">
              <a:alphaModFix/>
            </a:blip>
            <a:stretch>
              <a:fillRect b="0" l="0" r="0" t="0"/>
            </a:stretch>
          </a:blipFill>
          <a:ln>
            <a:noFill/>
          </a:ln>
        </p:spPr>
      </p:sp>
      <p:sp>
        <p:nvSpPr>
          <p:cNvPr id="114" name="Google Shape;114;p3"/>
          <p:cNvSpPr/>
          <p:nvPr/>
        </p:nvSpPr>
        <p:spPr>
          <a:xfrm>
            <a:off x="13885703" y="-1789620"/>
            <a:ext cx="8804594" cy="8804594"/>
          </a:xfrm>
          <a:custGeom>
            <a:rect b="b" l="l" r="r" t="t"/>
            <a:pathLst>
              <a:path extrusionOk="0" h="8804594" w="8804594">
                <a:moveTo>
                  <a:pt x="0" y="0"/>
                </a:moveTo>
                <a:lnTo>
                  <a:pt x="8804594" y="0"/>
                </a:lnTo>
                <a:lnTo>
                  <a:pt x="8804594" y="8804594"/>
                </a:lnTo>
                <a:lnTo>
                  <a:pt x="0" y="8804594"/>
                </a:lnTo>
                <a:lnTo>
                  <a:pt x="0" y="0"/>
                </a:lnTo>
                <a:close/>
              </a:path>
            </a:pathLst>
          </a:custGeom>
          <a:blipFill rotWithShape="1">
            <a:blip r:embed="rId4">
              <a:alphaModFix amt="43000"/>
            </a:blip>
            <a:stretch>
              <a:fillRect b="0" l="0" r="0" t="0"/>
            </a:stretch>
          </a:blipFill>
          <a:ln>
            <a:noFill/>
          </a:ln>
        </p:spPr>
      </p:sp>
      <p:sp>
        <p:nvSpPr>
          <p:cNvPr id="115" name="Google Shape;115;p3"/>
          <p:cNvSpPr txBox="1"/>
          <p:nvPr/>
        </p:nvSpPr>
        <p:spPr>
          <a:xfrm>
            <a:off x="7839337" y="2189199"/>
            <a:ext cx="9694141" cy="989832"/>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b="0" i="0" lang="en-US" sz="7469" u="none" cap="none" strike="noStrike">
                <a:solidFill>
                  <a:srgbClr val="FFFFFF"/>
                </a:solidFill>
                <a:latin typeface="Arial"/>
                <a:ea typeface="Arial"/>
                <a:cs typeface="Arial"/>
                <a:sym typeface="Arial"/>
              </a:rPr>
              <a:t>Problem Statement</a:t>
            </a:r>
            <a:endParaRPr/>
          </a:p>
        </p:txBody>
      </p:sp>
      <p:sp>
        <p:nvSpPr>
          <p:cNvPr id="116" name="Google Shape;116;p3"/>
          <p:cNvSpPr txBox="1"/>
          <p:nvPr/>
        </p:nvSpPr>
        <p:spPr>
          <a:xfrm>
            <a:off x="7205533" y="4100755"/>
            <a:ext cx="10510285" cy="6165215"/>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b="0" i="0" lang="en-US" sz="2899" u="none" cap="none" strike="noStrike">
                <a:solidFill>
                  <a:srgbClr val="FFFFFF"/>
                </a:solidFill>
                <a:latin typeface="Arial"/>
                <a:ea typeface="Arial"/>
                <a:cs typeface="Arial"/>
                <a:sym typeface="Arial"/>
              </a:rPr>
              <a:t>Traditional chatbot NLU systems depend on feature engineering and supervised classifiers, which require large labeled datasets, frequent retraining, and are hard to scale while offering limited explainability. With the advent of Large Language Models (LLMs), NLU pipelines can be redesigned using prompt-based reasoning to achieve scalable, reliable, and structured intent understanding without heavy retraining.</a:t>
            </a:r>
            <a:endParaRPr/>
          </a:p>
          <a:p>
            <a:pPr indent="0" lvl="0" marL="0" marR="0" rtl="0" algn="ctr">
              <a:lnSpc>
                <a:spcPct val="140013"/>
              </a:lnSpc>
              <a:spcBef>
                <a:spcPts val="0"/>
              </a:spcBef>
              <a:spcAft>
                <a:spcPts val="0"/>
              </a:spcAft>
              <a:buNone/>
            </a:pPr>
            <a:r>
              <a:t/>
            </a:r>
            <a:endParaRPr b="0" i="0" sz="2899" u="none" cap="none" strike="noStrike">
              <a:solidFill>
                <a:srgbClr val="FFFFFF"/>
              </a:solidFill>
              <a:latin typeface="Arial"/>
              <a:ea typeface="Arial"/>
              <a:cs typeface="Arial"/>
              <a:sym typeface="Arial"/>
            </a:endParaRPr>
          </a:p>
          <a:p>
            <a:pPr indent="0" lvl="0" marL="0" marR="0" rtl="0" algn="ctr">
              <a:lnSpc>
                <a:spcPct val="140013"/>
              </a:lnSpc>
              <a:spcBef>
                <a:spcPts val="0"/>
              </a:spcBef>
              <a:spcAft>
                <a:spcPts val="0"/>
              </a:spcAft>
              <a:buNone/>
            </a:pPr>
            <a:r>
              <a:t/>
            </a:r>
            <a:endParaRPr b="0" i="0" sz="2899" u="none" cap="none" strike="noStrike">
              <a:solidFill>
                <a:srgbClr val="FFFFFF"/>
              </a:solidFill>
              <a:latin typeface="Arial"/>
              <a:ea typeface="Arial"/>
              <a:cs typeface="Arial"/>
              <a:sym typeface="Arial"/>
            </a:endParaRPr>
          </a:p>
          <a:p>
            <a:pPr indent="0" lvl="0" marL="0" marR="0" rtl="0" algn="ctr">
              <a:lnSpc>
                <a:spcPct val="140013"/>
              </a:lnSpc>
              <a:spcBef>
                <a:spcPts val="0"/>
              </a:spcBef>
              <a:spcAft>
                <a:spcPts val="0"/>
              </a:spcAft>
              <a:buNone/>
            </a:pPr>
            <a:r>
              <a:t/>
            </a:r>
            <a:endParaRPr b="0" i="0" sz="2899" u="none" cap="none" strike="noStrike">
              <a:solidFill>
                <a:srgbClr val="FFFFFF"/>
              </a:solidFill>
              <a:latin typeface="Arial"/>
              <a:ea typeface="Arial"/>
              <a:cs typeface="Arial"/>
              <a:sym typeface="Arial"/>
            </a:endParaRPr>
          </a:p>
          <a:p>
            <a:pPr indent="0" lvl="0" marL="0" marR="0" rtl="0" algn="ctr">
              <a:lnSpc>
                <a:spcPct val="140013"/>
              </a:lnSpc>
              <a:spcBef>
                <a:spcPts val="0"/>
              </a:spcBef>
              <a:spcAft>
                <a:spcPts val="0"/>
              </a:spcAft>
              <a:buNone/>
            </a:pPr>
            <a:r>
              <a:t/>
            </a:r>
            <a:endParaRPr b="0" i="0" sz="2899" u="none" cap="none" strike="noStrike">
              <a:solidFill>
                <a:srgbClr val="FFFFFF"/>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153C"/>
        </a:solidFill>
      </p:bgPr>
    </p:bg>
    <p:spTree>
      <p:nvGrpSpPr>
        <p:cNvPr id="120" name="Shape 120"/>
        <p:cNvGrpSpPr/>
        <p:nvPr/>
      </p:nvGrpSpPr>
      <p:grpSpPr>
        <a:xfrm>
          <a:off x="0" y="0"/>
          <a:ext cx="0" cy="0"/>
          <a:chOff x="0" y="0"/>
          <a:chExt cx="0" cy="0"/>
        </a:xfrm>
      </p:grpSpPr>
      <p:sp>
        <p:nvSpPr>
          <p:cNvPr id="121" name="Google Shape;121;p4"/>
          <p:cNvSpPr/>
          <p:nvPr/>
        </p:nvSpPr>
        <p:spPr>
          <a:xfrm>
            <a:off x="9845259" y="0"/>
            <a:ext cx="7013731" cy="9055038"/>
          </a:xfrm>
          <a:custGeom>
            <a:rect b="b" l="l" r="r" t="t"/>
            <a:pathLst>
              <a:path extrusionOk="0" h="9379588" w="7139284">
                <a:moveTo>
                  <a:pt x="0" y="0"/>
                </a:moveTo>
                <a:lnTo>
                  <a:pt x="7139284" y="0"/>
                </a:lnTo>
                <a:lnTo>
                  <a:pt x="7139284" y="9379588"/>
                </a:lnTo>
                <a:lnTo>
                  <a:pt x="0" y="9379588"/>
                </a:lnTo>
                <a:lnTo>
                  <a:pt x="0" y="0"/>
                </a:lnTo>
                <a:close/>
              </a:path>
            </a:pathLst>
          </a:custGeom>
          <a:blipFill rotWithShape="1">
            <a:blip r:embed="rId3">
              <a:alphaModFix/>
            </a:blip>
            <a:stretch>
              <a:fillRect b="0" l="0" r="0" t="0"/>
            </a:stretch>
          </a:blipFill>
          <a:ln>
            <a:noFill/>
          </a:ln>
        </p:spPr>
      </p:sp>
      <p:sp>
        <p:nvSpPr>
          <p:cNvPr id="122" name="Google Shape;122;p4"/>
          <p:cNvSpPr/>
          <p:nvPr/>
        </p:nvSpPr>
        <p:spPr>
          <a:xfrm>
            <a:off x="0" y="7690055"/>
            <a:ext cx="18701319" cy="4258146"/>
          </a:xfrm>
          <a:custGeom>
            <a:rect b="b" l="l" r="r" t="t"/>
            <a:pathLst>
              <a:path extrusionOk="0" h="4258146" w="18701319">
                <a:moveTo>
                  <a:pt x="0" y="0"/>
                </a:moveTo>
                <a:lnTo>
                  <a:pt x="18701319" y="0"/>
                </a:lnTo>
                <a:lnTo>
                  <a:pt x="18701319" y="4258146"/>
                </a:lnTo>
                <a:lnTo>
                  <a:pt x="0" y="4258146"/>
                </a:lnTo>
                <a:lnTo>
                  <a:pt x="0" y="0"/>
                </a:lnTo>
                <a:close/>
              </a:path>
            </a:pathLst>
          </a:custGeom>
          <a:blipFill rotWithShape="1">
            <a:blip r:embed="rId4">
              <a:alphaModFix/>
            </a:blip>
            <a:stretch>
              <a:fillRect b="0" l="0" r="0" t="0"/>
            </a:stretch>
          </a:blipFill>
          <a:ln>
            <a:noFill/>
          </a:ln>
        </p:spPr>
      </p:sp>
      <p:sp>
        <p:nvSpPr>
          <p:cNvPr id="123" name="Google Shape;123;p4"/>
          <p:cNvSpPr/>
          <p:nvPr/>
        </p:nvSpPr>
        <p:spPr>
          <a:xfrm>
            <a:off x="9350659" y="7761728"/>
            <a:ext cx="6928434" cy="4114800"/>
          </a:xfrm>
          <a:custGeom>
            <a:rect b="b" l="l" r="r" t="t"/>
            <a:pathLst>
              <a:path extrusionOk="0" h="4114800" w="6928434">
                <a:moveTo>
                  <a:pt x="0" y="0"/>
                </a:moveTo>
                <a:lnTo>
                  <a:pt x="6928434" y="0"/>
                </a:lnTo>
                <a:lnTo>
                  <a:pt x="6928434" y="4114800"/>
                </a:lnTo>
                <a:lnTo>
                  <a:pt x="0" y="4114800"/>
                </a:lnTo>
                <a:lnTo>
                  <a:pt x="0" y="0"/>
                </a:lnTo>
                <a:close/>
              </a:path>
            </a:pathLst>
          </a:custGeom>
          <a:blipFill rotWithShape="1">
            <a:blip r:embed="rId5">
              <a:alphaModFix amt="55000"/>
            </a:blip>
            <a:stretch>
              <a:fillRect b="0" l="0" r="0" t="0"/>
            </a:stretch>
          </a:blipFill>
          <a:ln>
            <a:noFill/>
          </a:ln>
        </p:spPr>
      </p:sp>
      <p:sp>
        <p:nvSpPr>
          <p:cNvPr id="124" name="Google Shape;124;p4"/>
          <p:cNvSpPr/>
          <p:nvPr/>
        </p:nvSpPr>
        <p:spPr>
          <a:xfrm>
            <a:off x="10135969" y="2856770"/>
            <a:ext cx="6947934" cy="6198268"/>
          </a:xfrm>
          <a:custGeom>
            <a:rect b="b" l="l" r="r" t="t"/>
            <a:pathLst>
              <a:path extrusionOk="0" h="6198268" w="6947934">
                <a:moveTo>
                  <a:pt x="0" y="0"/>
                </a:moveTo>
                <a:lnTo>
                  <a:pt x="6947933" y="0"/>
                </a:lnTo>
                <a:lnTo>
                  <a:pt x="6947933" y="6198268"/>
                </a:lnTo>
                <a:lnTo>
                  <a:pt x="0" y="6198268"/>
                </a:lnTo>
                <a:lnTo>
                  <a:pt x="0" y="0"/>
                </a:lnTo>
                <a:close/>
              </a:path>
            </a:pathLst>
          </a:custGeom>
          <a:blipFill rotWithShape="1">
            <a:blip r:embed="rId6">
              <a:alphaModFix/>
            </a:blip>
            <a:stretch>
              <a:fillRect b="0" l="0" r="0" t="0"/>
            </a:stretch>
          </a:blipFill>
          <a:ln>
            <a:noFill/>
          </a:ln>
        </p:spPr>
      </p:sp>
      <p:grpSp>
        <p:nvGrpSpPr>
          <p:cNvPr id="125" name="Google Shape;125;p4"/>
          <p:cNvGrpSpPr/>
          <p:nvPr/>
        </p:nvGrpSpPr>
        <p:grpSpPr>
          <a:xfrm>
            <a:off x="1258149" y="402983"/>
            <a:ext cx="7263603" cy="9582987"/>
            <a:chOff x="0" y="0"/>
            <a:chExt cx="1913048" cy="2358991"/>
          </a:xfrm>
        </p:grpSpPr>
        <p:sp>
          <p:nvSpPr>
            <p:cNvPr id="126" name="Google Shape;126;p4"/>
            <p:cNvSpPr/>
            <p:nvPr/>
          </p:nvSpPr>
          <p:spPr>
            <a:xfrm>
              <a:off x="0" y="0"/>
              <a:ext cx="1913048" cy="2358991"/>
            </a:xfrm>
            <a:custGeom>
              <a:rect b="b" l="l" r="r" t="t"/>
              <a:pathLst>
                <a:path extrusionOk="0" h="2358991" w="1913048">
                  <a:moveTo>
                    <a:pt x="54358" y="0"/>
                  </a:moveTo>
                  <a:lnTo>
                    <a:pt x="1858689" y="0"/>
                  </a:lnTo>
                  <a:cubicBezTo>
                    <a:pt x="1888711" y="0"/>
                    <a:pt x="1913048" y="24337"/>
                    <a:pt x="1913048" y="54358"/>
                  </a:cubicBezTo>
                  <a:lnTo>
                    <a:pt x="1913048" y="2304633"/>
                  </a:lnTo>
                  <a:cubicBezTo>
                    <a:pt x="1913048" y="2334654"/>
                    <a:pt x="1888711" y="2358991"/>
                    <a:pt x="1858689" y="2358991"/>
                  </a:cubicBezTo>
                  <a:lnTo>
                    <a:pt x="54358" y="2358991"/>
                  </a:lnTo>
                  <a:cubicBezTo>
                    <a:pt x="24337" y="2358991"/>
                    <a:pt x="0" y="2334654"/>
                    <a:pt x="0" y="2304633"/>
                  </a:cubicBezTo>
                  <a:lnTo>
                    <a:pt x="0" y="54358"/>
                  </a:lnTo>
                  <a:cubicBezTo>
                    <a:pt x="0" y="24337"/>
                    <a:pt x="24337" y="0"/>
                    <a:pt x="54358" y="0"/>
                  </a:cubicBezTo>
                  <a:close/>
                </a:path>
              </a:pathLst>
            </a:custGeom>
            <a:solidFill>
              <a:srgbClr val="000000">
                <a:alpha val="0"/>
              </a:srgbClr>
            </a:solidFill>
            <a:ln cap="rnd" cmpd="sng" w="28575">
              <a:solidFill>
                <a:srgbClr val="FFFFFF">
                  <a:alpha val="2549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txBox="1"/>
            <p:nvPr/>
          </p:nvSpPr>
          <p:spPr>
            <a:xfrm>
              <a:off x="0" y="47625"/>
              <a:ext cx="1913048" cy="2311366"/>
            </a:xfrm>
            <a:prstGeom prst="rect">
              <a:avLst/>
            </a:prstGeom>
            <a:noFill/>
            <a:ln>
              <a:noFill/>
            </a:ln>
          </p:spPr>
          <p:txBody>
            <a:bodyPr anchorCtr="0" anchor="ctr" bIns="50800" lIns="50800" spcFirstLastPara="1" rIns="50800" wrap="square" tIns="50800">
              <a:noAutofit/>
            </a:bodyPr>
            <a:lstStyle/>
            <a:p>
              <a:pPr indent="0" lvl="0" marL="0" marR="0" rtl="0" algn="ctr">
                <a:lnSpc>
                  <a:spcPct val="111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8" name="Google Shape;128;p4"/>
          <p:cNvSpPr/>
          <p:nvPr/>
        </p:nvSpPr>
        <p:spPr>
          <a:xfrm>
            <a:off x="1127562" y="658705"/>
            <a:ext cx="470276" cy="470276"/>
          </a:xfrm>
          <a:custGeom>
            <a:rect b="b" l="l" r="r" t="t"/>
            <a:pathLst>
              <a:path extrusionOk="0" h="470276" w="470276">
                <a:moveTo>
                  <a:pt x="0" y="0"/>
                </a:moveTo>
                <a:lnTo>
                  <a:pt x="470275" y="0"/>
                </a:lnTo>
                <a:lnTo>
                  <a:pt x="470275" y="470275"/>
                </a:lnTo>
                <a:lnTo>
                  <a:pt x="0" y="470275"/>
                </a:lnTo>
                <a:lnTo>
                  <a:pt x="0" y="0"/>
                </a:lnTo>
                <a:close/>
              </a:path>
            </a:pathLst>
          </a:custGeom>
          <a:blipFill rotWithShape="1">
            <a:blip r:embed="rId7">
              <a:alphaModFix/>
            </a:blip>
            <a:stretch>
              <a:fillRect b="0" l="0" r="0" t="0"/>
            </a:stretch>
          </a:blipFill>
          <a:ln>
            <a:noFill/>
          </a:ln>
        </p:spPr>
      </p:sp>
      <p:sp>
        <p:nvSpPr>
          <p:cNvPr id="129" name="Google Shape;129;p4"/>
          <p:cNvSpPr txBox="1"/>
          <p:nvPr/>
        </p:nvSpPr>
        <p:spPr>
          <a:xfrm>
            <a:off x="7609401" y="1162495"/>
            <a:ext cx="10287474" cy="1085542"/>
          </a:xfrm>
          <a:prstGeom prst="rect">
            <a:avLst/>
          </a:prstGeom>
          <a:noFill/>
          <a:ln>
            <a:noFill/>
          </a:ln>
        </p:spPr>
        <p:txBody>
          <a:bodyPr anchorCtr="0" anchor="t" bIns="0" lIns="0" spcFirstLastPara="1" rIns="0" wrap="square" tIns="0">
            <a:spAutoFit/>
          </a:bodyPr>
          <a:lstStyle/>
          <a:p>
            <a:pPr indent="0" lvl="0" marL="0" marR="0" rtl="0" algn="r">
              <a:lnSpc>
                <a:spcPct val="112993"/>
              </a:lnSpc>
              <a:spcBef>
                <a:spcPts val="0"/>
              </a:spcBef>
              <a:spcAft>
                <a:spcPts val="0"/>
              </a:spcAft>
              <a:buNone/>
            </a:pPr>
            <a:r>
              <a:rPr b="0" i="0" lang="en-US" sz="7465" u="none" cap="none" strike="noStrike">
                <a:solidFill>
                  <a:srgbClr val="FFFFFF"/>
                </a:solidFill>
                <a:latin typeface="Arial"/>
                <a:ea typeface="Arial"/>
                <a:cs typeface="Arial"/>
                <a:sym typeface="Arial"/>
              </a:rPr>
              <a:t>Project Objectives</a:t>
            </a:r>
            <a:endParaRPr/>
          </a:p>
        </p:txBody>
      </p:sp>
      <p:sp>
        <p:nvSpPr>
          <p:cNvPr id="130" name="Google Shape;130;p4"/>
          <p:cNvSpPr txBox="1"/>
          <p:nvPr/>
        </p:nvSpPr>
        <p:spPr>
          <a:xfrm>
            <a:off x="1749012" y="658705"/>
            <a:ext cx="6466076" cy="436017"/>
          </a:xfrm>
          <a:prstGeom prst="rect">
            <a:avLst/>
          </a:prstGeom>
          <a:noFill/>
          <a:ln>
            <a:noFill/>
          </a:ln>
        </p:spPr>
        <p:txBody>
          <a:bodyPr anchorCtr="0" anchor="t" bIns="0" lIns="0" spcFirstLastPara="1" rIns="0" wrap="square" tIns="0">
            <a:spAutoFit/>
          </a:bodyPr>
          <a:lstStyle/>
          <a:p>
            <a:pPr indent="0" lvl="0" marL="0" marR="0" rtl="0" algn="l">
              <a:lnSpc>
                <a:spcPct val="140040"/>
              </a:lnSpc>
              <a:spcBef>
                <a:spcPts val="0"/>
              </a:spcBef>
              <a:spcAft>
                <a:spcPts val="0"/>
              </a:spcAft>
              <a:buNone/>
            </a:pPr>
            <a:r>
              <a:rPr b="0" i="0" lang="en-US" sz="2450" u="none" cap="none" strike="noStrike">
                <a:solidFill>
                  <a:srgbClr val="44A5FF"/>
                </a:solidFill>
                <a:latin typeface="Arial"/>
                <a:ea typeface="Arial"/>
                <a:cs typeface="Arial"/>
                <a:sym typeface="Arial"/>
              </a:rPr>
              <a:t>LLM-BASED INTENT CLASSIFICATION</a:t>
            </a:r>
            <a:endParaRPr/>
          </a:p>
        </p:txBody>
      </p:sp>
      <p:sp>
        <p:nvSpPr>
          <p:cNvPr id="131" name="Google Shape;131;p4"/>
          <p:cNvSpPr txBox="1"/>
          <p:nvPr/>
        </p:nvSpPr>
        <p:spPr>
          <a:xfrm>
            <a:off x="1752792" y="1163129"/>
            <a:ext cx="6274500" cy="1274100"/>
          </a:xfrm>
          <a:prstGeom prst="rect">
            <a:avLst/>
          </a:prstGeom>
          <a:noFill/>
          <a:ln>
            <a:noFill/>
          </a:ln>
        </p:spPr>
        <p:txBody>
          <a:bodyPr anchorCtr="0" anchor="t" bIns="0" lIns="0" spcFirstLastPara="1" rIns="0" wrap="square" tIns="0">
            <a:spAutoFit/>
          </a:bodyPr>
          <a:lstStyle/>
          <a:p>
            <a:pPr indent="0" lvl="0" marL="0" marR="0" rtl="0" algn="just">
              <a:lnSpc>
                <a:spcPct val="122458"/>
              </a:lnSpc>
              <a:spcBef>
                <a:spcPts val="0"/>
              </a:spcBef>
              <a:spcAft>
                <a:spcPts val="0"/>
              </a:spcAft>
              <a:buNone/>
            </a:pPr>
            <a:r>
              <a:rPr b="0" i="0" lang="en-US" sz="2400" u="none" cap="none" strike="noStrike">
                <a:solidFill>
                  <a:schemeClr val="lt1"/>
                </a:solidFill>
                <a:latin typeface="Arial"/>
                <a:ea typeface="Arial"/>
                <a:cs typeface="Arial"/>
                <a:sym typeface="Arial"/>
              </a:rPr>
              <a:t>Use large language models to classify user intents without training traditional machine learning models.</a:t>
            </a:r>
            <a:endParaRPr b="0" i="0" sz="2400" u="none" cap="none" strike="noStrike">
              <a:solidFill>
                <a:schemeClr val="lt1"/>
              </a:solidFill>
              <a:latin typeface="Arial"/>
              <a:ea typeface="Arial"/>
              <a:cs typeface="Arial"/>
              <a:sym typeface="Arial"/>
            </a:endParaRPr>
          </a:p>
        </p:txBody>
      </p:sp>
      <p:sp>
        <p:nvSpPr>
          <p:cNvPr id="132" name="Google Shape;132;p4"/>
          <p:cNvSpPr txBox="1"/>
          <p:nvPr/>
        </p:nvSpPr>
        <p:spPr>
          <a:xfrm>
            <a:off x="1748938" y="2740237"/>
            <a:ext cx="6466200" cy="905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400" u="none" cap="none" strike="noStrike">
                <a:solidFill>
                  <a:srgbClr val="44A5FF"/>
                </a:solidFill>
                <a:latin typeface="Arial"/>
                <a:ea typeface="Arial"/>
                <a:cs typeface="Arial"/>
                <a:sym typeface="Arial"/>
              </a:rPr>
              <a:t>SCHEMA-CONSTRAINED</a:t>
            </a:r>
            <a:r>
              <a:rPr b="0" i="0" lang="en-US" sz="2450" u="none" cap="none" strike="noStrike">
                <a:solidFill>
                  <a:srgbClr val="44A5FF"/>
                </a:solidFill>
                <a:latin typeface="Arial"/>
                <a:ea typeface="Arial"/>
                <a:cs typeface="Arial"/>
                <a:sym typeface="Arial"/>
              </a:rPr>
              <a:t> ENTITY EXTRACTION</a:t>
            </a:r>
            <a:endParaRPr/>
          </a:p>
        </p:txBody>
      </p:sp>
      <p:sp>
        <p:nvSpPr>
          <p:cNvPr id="133" name="Google Shape;133;p4"/>
          <p:cNvSpPr txBox="1"/>
          <p:nvPr/>
        </p:nvSpPr>
        <p:spPr>
          <a:xfrm>
            <a:off x="1769524" y="3764342"/>
            <a:ext cx="5856600" cy="1274100"/>
          </a:xfrm>
          <a:prstGeom prst="rect">
            <a:avLst/>
          </a:prstGeom>
          <a:noFill/>
          <a:ln>
            <a:noFill/>
          </a:ln>
        </p:spPr>
        <p:txBody>
          <a:bodyPr anchorCtr="0" anchor="t" bIns="0" lIns="0" spcFirstLastPara="1" rIns="0" wrap="square" tIns="0">
            <a:spAutoFit/>
          </a:bodyPr>
          <a:lstStyle/>
          <a:p>
            <a:pPr indent="0" lvl="0" marL="0" marR="0" rtl="0" algn="just">
              <a:lnSpc>
                <a:spcPct val="122458"/>
              </a:lnSpc>
              <a:spcBef>
                <a:spcPts val="0"/>
              </a:spcBef>
              <a:spcAft>
                <a:spcPts val="0"/>
              </a:spcAft>
              <a:buNone/>
            </a:pPr>
            <a:r>
              <a:rPr b="0" i="0" lang="en-US" sz="2400" u="none" cap="none" strike="noStrike">
                <a:solidFill>
                  <a:schemeClr val="lt1"/>
                </a:solidFill>
                <a:latin typeface="Arial"/>
                <a:ea typeface="Arial"/>
                <a:cs typeface="Arial"/>
                <a:sym typeface="Arial"/>
              </a:rPr>
              <a:t>Extract relevant entities in a structured JSON format using prompt engineering and predefined entity schemas.</a:t>
            </a:r>
            <a:endParaRPr b="0" i="0" sz="2099" u="none" cap="none" strike="noStrike">
              <a:solidFill>
                <a:schemeClr val="lt1"/>
              </a:solidFill>
              <a:latin typeface="Arial"/>
              <a:ea typeface="Arial"/>
              <a:cs typeface="Arial"/>
              <a:sym typeface="Arial"/>
            </a:endParaRPr>
          </a:p>
        </p:txBody>
      </p:sp>
      <p:sp>
        <p:nvSpPr>
          <p:cNvPr id="134" name="Google Shape;134;p4"/>
          <p:cNvSpPr txBox="1"/>
          <p:nvPr/>
        </p:nvSpPr>
        <p:spPr>
          <a:xfrm>
            <a:off x="1779492" y="5403380"/>
            <a:ext cx="6661093" cy="398827"/>
          </a:xfrm>
          <a:prstGeom prst="rect">
            <a:avLst/>
          </a:prstGeom>
          <a:noFill/>
          <a:ln>
            <a:noFill/>
          </a:ln>
        </p:spPr>
        <p:txBody>
          <a:bodyPr anchorCtr="0" anchor="t" bIns="0" lIns="0" spcFirstLastPara="1" rIns="0" wrap="square" tIns="0">
            <a:spAutoFit/>
          </a:bodyPr>
          <a:lstStyle/>
          <a:p>
            <a:pPr indent="0" lvl="0" marL="0" marR="0" rtl="0" algn="l">
              <a:lnSpc>
                <a:spcPct val="122500"/>
              </a:lnSpc>
              <a:spcBef>
                <a:spcPts val="0"/>
              </a:spcBef>
              <a:spcAft>
                <a:spcPts val="0"/>
              </a:spcAft>
              <a:buNone/>
            </a:pPr>
            <a:r>
              <a:rPr b="0" i="0" lang="en-US" sz="2400" u="none" cap="none" strike="noStrike">
                <a:solidFill>
                  <a:srgbClr val="538CD5"/>
                </a:solidFill>
                <a:latin typeface="Arial"/>
                <a:ea typeface="Arial"/>
                <a:cs typeface="Arial"/>
                <a:sym typeface="Arial"/>
              </a:rPr>
              <a:t>JSON-Driven</a:t>
            </a:r>
            <a:r>
              <a:rPr b="0" i="0" lang="en-US" sz="2800" u="none" cap="none" strike="noStrike">
                <a:solidFill>
                  <a:srgbClr val="538CD5"/>
                </a:solidFill>
                <a:latin typeface="Arial"/>
                <a:ea typeface="Arial"/>
                <a:cs typeface="Arial"/>
                <a:sym typeface="Arial"/>
              </a:rPr>
              <a:t> NLU Pipeline Design</a:t>
            </a:r>
            <a:endParaRPr b="0" i="0" sz="2450" u="none" cap="none" strike="noStrike">
              <a:solidFill>
                <a:srgbClr val="538CD5"/>
              </a:solidFill>
              <a:latin typeface="Arial"/>
              <a:ea typeface="Arial"/>
              <a:cs typeface="Arial"/>
              <a:sym typeface="Arial"/>
            </a:endParaRPr>
          </a:p>
        </p:txBody>
      </p:sp>
      <p:sp>
        <p:nvSpPr>
          <p:cNvPr id="135" name="Google Shape;135;p4"/>
          <p:cNvSpPr txBox="1"/>
          <p:nvPr/>
        </p:nvSpPr>
        <p:spPr>
          <a:xfrm>
            <a:off x="1752752" y="5873646"/>
            <a:ext cx="6274500" cy="1274100"/>
          </a:xfrm>
          <a:prstGeom prst="rect">
            <a:avLst/>
          </a:prstGeom>
          <a:noFill/>
          <a:ln>
            <a:noFill/>
          </a:ln>
        </p:spPr>
        <p:txBody>
          <a:bodyPr anchorCtr="0" anchor="t" bIns="0" lIns="0" spcFirstLastPara="1" rIns="0" wrap="square" tIns="0">
            <a:spAutoFit/>
          </a:bodyPr>
          <a:lstStyle/>
          <a:p>
            <a:pPr indent="0" lvl="0" marL="0" marR="0" rtl="0" algn="just">
              <a:lnSpc>
                <a:spcPct val="122458"/>
              </a:lnSpc>
              <a:spcBef>
                <a:spcPts val="0"/>
              </a:spcBef>
              <a:spcAft>
                <a:spcPts val="0"/>
              </a:spcAft>
              <a:buNone/>
            </a:pPr>
            <a:r>
              <a:rPr b="0" i="0" lang="en-US" sz="2400" u="none" cap="none" strike="noStrike">
                <a:solidFill>
                  <a:schemeClr val="lt1"/>
                </a:solidFill>
                <a:latin typeface="Arial"/>
                <a:ea typeface="Arial"/>
                <a:cs typeface="Arial"/>
                <a:sym typeface="Arial"/>
              </a:rPr>
              <a:t>Design an end-to-end NLU pipeline based on a JSON-first dataset defining intents, examples, and entities.</a:t>
            </a:r>
            <a:endParaRPr b="0" i="0" sz="2099" u="none" cap="none" strike="noStrike">
              <a:solidFill>
                <a:schemeClr val="lt1"/>
              </a:solidFill>
              <a:latin typeface="Arial"/>
              <a:ea typeface="Arial"/>
              <a:cs typeface="Arial"/>
              <a:sym typeface="Arial"/>
            </a:endParaRPr>
          </a:p>
        </p:txBody>
      </p:sp>
      <p:sp>
        <p:nvSpPr>
          <p:cNvPr id="136" name="Google Shape;136;p4"/>
          <p:cNvSpPr/>
          <p:nvPr/>
        </p:nvSpPr>
        <p:spPr>
          <a:xfrm>
            <a:off x="1106090" y="2655242"/>
            <a:ext cx="470276" cy="470276"/>
          </a:xfrm>
          <a:custGeom>
            <a:rect b="b" l="l" r="r" t="t"/>
            <a:pathLst>
              <a:path extrusionOk="0" h="470276" w="470276">
                <a:moveTo>
                  <a:pt x="0" y="0"/>
                </a:moveTo>
                <a:lnTo>
                  <a:pt x="470275" y="0"/>
                </a:lnTo>
                <a:lnTo>
                  <a:pt x="470275" y="470276"/>
                </a:lnTo>
                <a:lnTo>
                  <a:pt x="0" y="470276"/>
                </a:lnTo>
                <a:lnTo>
                  <a:pt x="0" y="0"/>
                </a:lnTo>
                <a:close/>
              </a:path>
            </a:pathLst>
          </a:custGeom>
          <a:blipFill rotWithShape="1">
            <a:blip r:embed="rId7">
              <a:alphaModFix/>
            </a:blip>
            <a:stretch>
              <a:fillRect b="0" l="0" r="0" t="0"/>
            </a:stretch>
          </a:blipFill>
          <a:ln>
            <a:noFill/>
          </a:ln>
        </p:spPr>
      </p:sp>
      <p:sp>
        <p:nvSpPr>
          <p:cNvPr id="137" name="Google Shape;137;p4"/>
          <p:cNvSpPr/>
          <p:nvPr/>
        </p:nvSpPr>
        <p:spPr>
          <a:xfrm>
            <a:off x="1092504" y="5403380"/>
            <a:ext cx="470276" cy="470276"/>
          </a:xfrm>
          <a:custGeom>
            <a:rect b="b" l="l" r="r" t="t"/>
            <a:pathLst>
              <a:path extrusionOk="0" h="470276" w="470276">
                <a:moveTo>
                  <a:pt x="0" y="0"/>
                </a:moveTo>
                <a:lnTo>
                  <a:pt x="470275" y="0"/>
                </a:lnTo>
                <a:lnTo>
                  <a:pt x="470275" y="470276"/>
                </a:lnTo>
                <a:lnTo>
                  <a:pt x="0" y="470276"/>
                </a:lnTo>
                <a:lnTo>
                  <a:pt x="0" y="0"/>
                </a:lnTo>
                <a:close/>
              </a:path>
            </a:pathLst>
          </a:custGeom>
          <a:blipFill rotWithShape="1">
            <a:blip r:embed="rId7">
              <a:alphaModFix/>
            </a:blip>
            <a:stretch>
              <a:fillRect b="0" l="0" r="0" t="0"/>
            </a:stretch>
          </a:blipFill>
          <a:ln>
            <a:noFill/>
          </a:ln>
        </p:spPr>
      </p:sp>
      <p:sp>
        <p:nvSpPr>
          <p:cNvPr id="138" name="Google Shape;138;p4"/>
          <p:cNvSpPr/>
          <p:nvPr/>
        </p:nvSpPr>
        <p:spPr>
          <a:xfrm>
            <a:off x="1106090" y="7508994"/>
            <a:ext cx="470276" cy="470276"/>
          </a:xfrm>
          <a:custGeom>
            <a:rect b="b" l="l" r="r" t="t"/>
            <a:pathLst>
              <a:path extrusionOk="0" h="470276" w="470276">
                <a:moveTo>
                  <a:pt x="0" y="0"/>
                </a:moveTo>
                <a:lnTo>
                  <a:pt x="470275" y="0"/>
                </a:lnTo>
                <a:lnTo>
                  <a:pt x="470275" y="470275"/>
                </a:lnTo>
                <a:lnTo>
                  <a:pt x="0" y="470275"/>
                </a:lnTo>
                <a:lnTo>
                  <a:pt x="0" y="0"/>
                </a:lnTo>
                <a:close/>
              </a:path>
            </a:pathLst>
          </a:custGeom>
          <a:blipFill rotWithShape="1">
            <a:blip r:embed="rId7">
              <a:alphaModFix/>
            </a:blip>
            <a:stretch>
              <a:fillRect b="0" l="0" r="0" t="0"/>
            </a:stretch>
          </a:blipFill>
          <a:ln>
            <a:noFill/>
          </a:ln>
        </p:spPr>
      </p:sp>
      <p:sp>
        <p:nvSpPr>
          <p:cNvPr id="139" name="Google Shape;139;p4"/>
          <p:cNvSpPr txBox="1"/>
          <p:nvPr/>
        </p:nvSpPr>
        <p:spPr>
          <a:xfrm>
            <a:off x="1702097" y="7508994"/>
            <a:ext cx="6932111" cy="43601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450" u="none" cap="none" strike="noStrike">
                <a:solidFill>
                  <a:srgbClr val="44A5FF"/>
                </a:solidFill>
                <a:latin typeface="Arial"/>
                <a:ea typeface="Arial"/>
                <a:cs typeface="Arial"/>
                <a:sym typeface="Arial"/>
              </a:rPr>
              <a:t> MULTI-MODEL LLM EVALUATION</a:t>
            </a:r>
            <a:endParaRPr/>
          </a:p>
        </p:txBody>
      </p:sp>
      <p:sp>
        <p:nvSpPr>
          <p:cNvPr id="140" name="Google Shape;140;p4"/>
          <p:cNvSpPr txBox="1"/>
          <p:nvPr/>
        </p:nvSpPr>
        <p:spPr>
          <a:xfrm>
            <a:off x="1752703" y="7982952"/>
            <a:ext cx="6274500" cy="1680300"/>
          </a:xfrm>
          <a:prstGeom prst="rect">
            <a:avLst/>
          </a:prstGeom>
          <a:noFill/>
          <a:ln>
            <a:noFill/>
          </a:ln>
        </p:spPr>
        <p:txBody>
          <a:bodyPr anchorCtr="0" anchor="t" bIns="0" lIns="0" spcFirstLastPara="1" rIns="0" wrap="square" tIns="0">
            <a:spAutoFit/>
          </a:bodyPr>
          <a:lstStyle/>
          <a:p>
            <a:pPr indent="0" lvl="0" marL="0" marR="0" rtl="0" algn="l">
              <a:lnSpc>
                <a:spcPct val="122458"/>
              </a:lnSpc>
              <a:spcBef>
                <a:spcPts val="0"/>
              </a:spcBef>
              <a:spcAft>
                <a:spcPts val="0"/>
              </a:spcAft>
              <a:buNone/>
            </a:pPr>
            <a:r>
              <a:rPr b="0" i="0" lang="en-US" sz="2400" u="none" cap="none" strike="noStrike">
                <a:solidFill>
                  <a:schemeClr val="lt1"/>
                </a:solidFill>
                <a:latin typeface="Arial"/>
                <a:ea typeface="Arial"/>
                <a:cs typeface="Arial"/>
                <a:sym typeface="Arial"/>
              </a:rPr>
              <a:t>Integrate and evaluate multiple LLM backend, including Gemma-3 and </a:t>
            </a:r>
            <a:r>
              <a:rPr lang="en-US" sz="2400">
                <a:solidFill>
                  <a:schemeClr val="lt1"/>
                </a:solidFill>
              </a:rPr>
              <a:t>Ollama</a:t>
            </a:r>
            <a:r>
              <a:rPr b="0" i="0" lang="en-US" sz="2400" u="none" cap="none" strike="noStrike">
                <a:solidFill>
                  <a:schemeClr val="lt1"/>
                </a:solidFill>
                <a:latin typeface="Arial"/>
                <a:ea typeface="Arial"/>
                <a:cs typeface="Arial"/>
                <a:sym typeface="Arial"/>
              </a:rPr>
              <a:t>, for intent prediction performance.</a:t>
            </a:r>
            <a:endParaRPr b="0" i="0" sz="2099" u="none" cap="none" strike="noStrike">
              <a:solidFill>
                <a:schemeClr val="lt1"/>
              </a:solidFill>
              <a:latin typeface="Arial"/>
              <a:ea typeface="Arial"/>
              <a:cs typeface="Arial"/>
              <a:sym typeface="Arial"/>
            </a:endParaRPr>
          </a:p>
          <a:p>
            <a:pPr indent="0" lvl="0" marL="0" marR="0" rtl="0" algn="just">
              <a:lnSpc>
                <a:spcPct val="140019"/>
              </a:lnSpc>
              <a:spcBef>
                <a:spcPts val="0"/>
              </a:spcBef>
              <a:spcAft>
                <a:spcPts val="0"/>
              </a:spcAft>
              <a:buNone/>
            </a:pPr>
            <a:r>
              <a:t/>
            </a:r>
            <a:endParaRPr b="0" i="0" sz="2099" u="none" cap="none" strike="noStrike">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153C"/>
        </a:solidFill>
      </p:bgPr>
    </p:bg>
    <p:spTree>
      <p:nvGrpSpPr>
        <p:cNvPr id="144" name="Shape 144"/>
        <p:cNvGrpSpPr/>
        <p:nvPr/>
      </p:nvGrpSpPr>
      <p:grpSpPr>
        <a:xfrm>
          <a:off x="0" y="0"/>
          <a:ext cx="0" cy="0"/>
          <a:chOff x="0" y="0"/>
          <a:chExt cx="0" cy="0"/>
        </a:xfrm>
      </p:grpSpPr>
      <p:sp>
        <p:nvSpPr>
          <p:cNvPr id="145" name="Google Shape;145;p5"/>
          <p:cNvSpPr/>
          <p:nvPr/>
        </p:nvSpPr>
        <p:spPr>
          <a:xfrm>
            <a:off x="13435909" y="-372054"/>
            <a:ext cx="7139284" cy="9379588"/>
          </a:xfrm>
          <a:custGeom>
            <a:rect b="b" l="l" r="r" t="t"/>
            <a:pathLst>
              <a:path extrusionOk="0" h="9379588" w="7139284">
                <a:moveTo>
                  <a:pt x="0" y="0"/>
                </a:moveTo>
                <a:lnTo>
                  <a:pt x="7139284" y="0"/>
                </a:lnTo>
                <a:lnTo>
                  <a:pt x="7139284" y="9379589"/>
                </a:lnTo>
                <a:lnTo>
                  <a:pt x="0" y="9379589"/>
                </a:lnTo>
                <a:lnTo>
                  <a:pt x="0" y="0"/>
                </a:lnTo>
                <a:close/>
              </a:path>
            </a:pathLst>
          </a:custGeom>
          <a:blipFill rotWithShape="1">
            <a:blip r:embed="rId3">
              <a:alphaModFix/>
            </a:blip>
            <a:stretch>
              <a:fillRect b="0" l="0" r="0" t="0"/>
            </a:stretch>
          </a:blipFill>
          <a:ln>
            <a:noFill/>
          </a:ln>
        </p:spPr>
      </p:sp>
      <p:sp>
        <p:nvSpPr>
          <p:cNvPr id="146" name="Google Shape;146;p5"/>
          <p:cNvSpPr/>
          <p:nvPr/>
        </p:nvSpPr>
        <p:spPr>
          <a:xfrm flipH="1">
            <a:off x="-3401521" y="-121288"/>
            <a:ext cx="7139284" cy="9379588"/>
          </a:xfrm>
          <a:custGeom>
            <a:rect b="b" l="l" r="r" t="t"/>
            <a:pathLst>
              <a:path extrusionOk="0" h="9379588" w="7139284">
                <a:moveTo>
                  <a:pt x="7139284" y="0"/>
                </a:moveTo>
                <a:lnTo>
                  <a:pt x="0" y="0"/>
                </a:lnTo>
                <a:lnTo>
                  <a:pt x="0" y="9379588"/>
                </a:lnTo>
                <a:lnTo>
                  <a:pt x="7139284" y="9379588"/>
                </a:lnTo>
                <a:lnTo>
                  <a:pt x="7139284" y="0"/>
                </a:lnTo>
                <a:close/>
              </a:path>
            </a:pathLst>
          </a:custGeom>
          <a:blipFill rotWithShape="1">
            <a:blip r:embed="rId3">
              <a:alphaModFix/>
            </a:blip>
            <a:stretch>
              <a:fillRect b="0" l="0" r="0" t="0"/>
            </a:stretch>
          </a:blipFill>
          <a:ln>
            <a:noFill/>
          </a:ln>
        </p:spPr>
      </p:sp>
      <p:sp>
        <p:nvSpPr>
          <p:cNvPr id="147" name="Google Shape;147;p5"/>
          <p:cNvSpPr/>
          <p:nvPr/>
        </p:nvSpPr>
        <p:spPr>
          <a:xfrm>
            <a:off x="0" y="7690055"/>
            <a:ext cx="18701319" cy="4258146"/>
          </a:xfrm>
          <a:custGeom>
            <a:rect b="b" l="l" r="r" t="t"/>
            <a:pathLst>
              <a:path extrusionOk="0" h="4258146" w="18701319">
                <a:moveTo>
                  <a:pt x="0" y="0"/>
                </a:moveTo>
                <a:lnTo>
                  <a:pt x="18701319" y="0"/>
                </a:lnTo>
                <a:lnTo>
                  <a:pt x="18701319" y="4258146"/>
                </a:lnTo>
                <a:lnTo>
                  <a:pt x="0" y="4258146"/>
                </a:lnTo>
                <a:lnTo>
                  <a:pt x="0" y="0"/>
                </a:lnTo>
                <a:close/>
              </a:path>
            </a:pathLst>
          </a:custGeom>
          <a:blipFill rotWithShape="1">
            <a:blip r:embed="rId4">
              <a:alphaModFix/>
            </a:blip>
            <a:stretch>
              <a:fillRect b="0" l="0" r="0" t="0"/>
            </a:stretch>
          </a:blipFill>
          <a:ln>
            <a:noFill/>
          </a:ln>
        </p:spPr>
      </p:sp>
      <p:sp>
        <p:nvSpPr>
          <p:cNvPr id="148" name="Google Shape;148;p5"/>
          <p:cNvSpPr txBox="1"/>
          <p:nvPr/>
        </p:nvSpPr>
        <p:spPr>
          <a:xfrm>
            <a:off x="2638797" y="255997"/>
            <a:ext cx="11962077" cy="2132720"/>
          </a:xfrm>
          <a:prstGeom prst="rect">
            <a:avLst/>
          </a:prstGeom>
          <a:noFill/>
          <a:ln>
            <a:noFill/>
          </a:ln>
        </p:spPr>
        <p:txBody>
          <a:bodyPr anchorCtr="0" anchor="t" bIns="0" lIns="0" spcFirstLastPara="1" rIns="0" wrap="square" tIns="0">
            <a:spAutoFit/>
          </a:bodyPr>
          <a:lstStyle/>
          <a:p>
            <a:pPr indent="0" lvl="0" marL="0" marR="0" rtl="0" algn="ctr">
              <a:lnSpc>
                <a:spcPct val="113013"/>
              </a:lnSpc>
              <a:spcBef>
                <a:spcPts val="0"/>
              </a:spcBef>
              <a:spcAft>
                <a:spcPts val="0"/>
              </a:spcAft>
              <a:buNone/>
            </a:pPr>
            <a:r>
              <a:rPr b="0" i="0" lang="en-US" sz="7400" u="none" cap="none" strike="noStrike">
                <a:solidFill>
                  <a:srgbClr val="FFFFFF"/>
                </a:solidFill>
                <a:latin typeface="Arial"/>
                <a:ea typeface="Arial"/>
                <a:cs typeface="Arial"/>
                <a:sym typeface="Arial"/>
              </a:rPr>
              <a:t>Tools &amp; Technology Stack</a:t>
            </a:r>
            <a:endParaRPr/>
          </a:p>
        </p:txBody>
      </p:sp>
      <p:grpSp>
        <p:nvGrpSpPr>
          <p:cNvPr id="149" name="Google Shape;149;p5"/>
          <p:cNvGrpSpPr/>
          <p:nvPr/>
        </p:nvGrpSpPr>
        <p:grpSpPr>
          <a:xfrm>
            <a:off x="6236892" y="6032382"/>
            <a:ext cx="4699892" cy="2739919"/>
            <a:chOff x="0" y="0"/>
            <a:chExt cx="6266523" cy="3653225"/>
          </a:xfrm>
        </p:grpSpPr>
        <p:grpSp>
          <p:nvGrpSpPr>
            <p:cNvPr id="150" name="Google Shape;150;p5"/>
            <p:cNvGrpSpPr/>
            <p:nvPr/>
          </p:nvGrpSpPr>
          <p:grpSpPr>
            <a:xfrm>
              <a:off x="0" y="0"/>
              <a:ext cx="5453584" cy="3563214"/>
              <a:chOff x="0" y="0"/>
              <a:chExt cx="1115915" cy="729107"/>
            </a:xfrm>
          </p:grpSpPr>
          <p:sp>
            <p:nvSpPr>
              <p:cNvPr id="151" name="Google Shape;151;p5"/>
              <p:cNvSpPr/>
              <p:nvPr/>
            </p:nvSpPr>
            <p:spPr>
              <a:xfrm>
                <a:off x="0" y="0"/>
                <a:ext cx="1115915" cy="729107"/>
              </a:xfrm>
              <a:custGeom>
                <a:rect b="b" l="l" r="r" t="t"/>
                <a:pathLst>
                  <a:path extrusionOk="0" h="729107" w="1115915">
                    <a:moveTo>
                      <a:pt x="96533" y="0"/>
                    </a:moveTo>
                    <a:lnTo>
                      <a:pt x="1019382" y="0"/>
                    </a:lnTo>
                    <a:cubicBezTo>
                      <a:pt x="1044984" y="0"/>
                      <a:pt x="1069538" y="10170"/>
                      <a:pt x="1087641" y="28274"/>
                    </a:cubicBezTo>
                    <a:cubicBezTo>
                      <a:pt x="1105745" y="46377"/>
                      <a:pt x="1115915" y="70931"/>
                      <a:pt x="1115915" y="96533"/>
                    </a:cubicBezTo>
                    <a:lnTo>
                      <a:pt x="1115915" y="632574"/>
                    </a:lnTo>
                    <a:cubicBezTo>
                      <a:pt x="1115915" y="658176"/>
                      <a:pt x="1105745" y="682729"/>
                      <a:pt x="1087641" y="700833"/>
                    </a:cubicBezTo>
                    <a:cubicBezTo>
                      <a:pt x="1069538" y="718936"/>
                      <a:pt x="1044984" y="729107"/>
                      <a:pt x="1019382" y="729107"/>
                    </a:cubicBezTo>
                    <a:lnTo>
                      <a:pt x="96533" y="729107"/>
                    </a:lnTo>
                    <a:cubicBezTo>
                      <a:pt x="70931" y="729107"/>
                      <a:pt x="46377" y="718936"/>
                      <a:pt x="28274" y="700833"/>
                    </a:cubicBezTo>
                    <a:cubicBezTo>
                      <a:pt x="10170" y="682729"/>
                      <a:pt x="0" y="658176"/>
                      <a:pt x="0" y="632574"/>
                    </a:cubicBezTo>
                    <a:lnTo>
                      <a:pt x="0" y="96533"/>
                    </a:lnTo>
                    <a:cubicBezTo>
                      <a:pt x="0" y="70931"/>
                      <a:pt x="10170" y="46377"/>
                      <a:pt x="28274" y="28274"/>
                    </a:cubicBezTo>
                    <a:cubicBezTo>
                      <a:pt x="46377" y="10170"/>
                      <a:pt x="70931" y="0"/>
                      <a:pt x="96533" y="0"/>
                    </a:cubicBezTo>
                    <a:close/>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txBox="1"/>
              <p:nvPr/>
            </p:nvSpPr>
            <p:spPr>
              <a:xfrm>
                <a:off x="0" y="47625"/>
                <a:ext cx="1115915" cy="681482"/>
              </a:xfrm>
              <a:prstGeom prst="rect">
                <a:avLst/>
              </a:prstGeom>
              <a:noFill/>
              <a:ln>
                <a:noFill/>
              </a:ln>
            </p:spPr>
            <p:txBody>
              <a:bodyPr anchorCtr="0" anchor="ctr" bIns="50800" lIns="50800" spcFirstLastPara="1" rIns="50800" wrap="square" tIns="50800">
                <a:noAutofit/>
              </a:bodyPr>
              <a:lstStyle/>
              <a:p>
                <a:pPr indent="0" lvl="0" marL="0" marR="0" rtl="0" algn="ctr">
                  <a:lnSpc>
                    <a:spcPct val="111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3" name="Google Shape;153;p5"/>
            <p:cNvSpPr txBox="1"/>
            <p:nvPr/>
          </p:nvSpPr>
          <p:spPr>
            <a:xfrm>
              <a:off x="525123" y="321110"/>
              <a:ext cx="5741400" cy="12309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0" lang="en-US" sz="2499" u="none" cap="none" strike="noStrike">
                  <a:solidFill>
                    <a:srgbClr val="44A5FF"/>
                  </a:solidFill>
                  <a:latin typeface="Arial"/>
                  <a:ea typeface="Arial"/>
                  <a:cs typeface="Arial"/>
                  <a:sym typeface="Arial"/>
                </a:rPr>
                <a:t>DATA HANDLING &amp; EVALUATION</a:t>
              </a:r>
              <a:endParaRPr/>
            </a:p>
          </p:txBody>
        </p:sp>
        <p:sp>
          <p:nvSpPr>
            <p:cNvPr id="154" name="Google Shape;154;p5"/>
            <p:cNvSpPr txBox="1"/>
            <p:nvPr/>
          </p:nvSpPr>
          <p:spPr>
            <a:xfrm>
              <a:off x="306163" y="1732925"/>
              <a:ext cx="5405100" cy="1920300"/>
            </a:xfrm>
            <a:prstGeom prst="rect">
              <a:avLst/>
            </a:prstGeom>
            <a:noFill/>
            <a:ln>
              <a:noFill/>
            </a:ln>
          </p:spPr>
          <p:txBody>
            <a:bodyPr anchorCtr="0" anchor="t" bIns="0" lIns="0" spcFirstLastPara="1" rIns="0" wrap="square" tIns="0">
              <a:spAutoFit/>
            </a:bodyPr>
            <a:lstStyle/>
            <a:p>
              <a:pPr indent="-194307" lvl="1" marL="388617" marR="0" rtl="0" algn="l">
                <a:lnSpc>
                  <a:spcPct val="140022"/>
                </a:lnSpc>
                <a:spcBef>
                  <a:spcPts val="0"/>
                </a:spcBef>
                <a:spcAft>
                  <a:spcPts val="0"/>
                </a:spcAft>
                <a:buClr>
                  <a:srgbClr val="FFFFFF"/>
                </a:buClr>
                <a:buSzPts val="1799"/>
                <a:buFont typeface="Arial"/>
                <a:buChar char="•"/>
              </a:pPr>
              <a:r>
                <a:rPr b="0" i="0" lang="en-US" sz="1799" u="none" cap="none" strike="noStrike">
                  <a:solidFill>
                    <a:srgbClr val="FFFFFF"/>
                  </a:solidFill>
                  <a:latin typeface="Arial"/>
                  <a:ea typeface="Arial"/>
                  <a:cs typeface="Arial"/>
                  <a:sym typeface="Arial"/>
                </a:rPr>
                <a:t>JSON (intent schema)</a:t>
              </a:r>
              <a:endParaRPr/>
            </a:p>
            <a:p>
              <a:pPr indent="-194307" lvl="1" marL="388617" marR="0" rtl="0" algn="l">
                <a:lnSpc>
                  <a:spcPct val="140022"/>
                </a:lnSpc>
                <a:spcBef>
                  <a:spcPts val="0"/>
                </a:spcBef>
                <a:spcAft>
                  <a:spcPts val="0"/>
                </a:spcAft>
                <a:buClr>
                  <a:srgbClr val="FFFFFF"/>
                </a:buClr>
                <a:buSzPts val="1799"/>
                <a:buFont typeface="Arial"/>
                <a:buChar char="•"/>
              </a:pPr>
              <a:r>
                <a:rPr b="0" i="0" lang="en-US" sz="1799" u="none" cap="none" strike="noStrike">
                  <a:solidFill>
                    <a:srgbClr val="FFFFFF"/>
                  </a:solidFill>
                  <a:latin typeface="Arial"/>
                  <a:ea typeface="Arial"/>
                  <a:cs typeface="Arial"/>
                  <a:sym typeface="Arial"/>
                </a:rPr>
                <a:t>Pandas (data processing)</a:t>
              </a:r>
              <a:endParaRPr/>
            </a:p>
            <a:p>
              <a:pPr indent="-194307" lvl="1" marL="388617" marR="0" rtl="0" algn="l">
                <a:lnSpc>
                  <a:spcPct val="140022"/>
                </a:lnSpc>
                <a:spcBef>
                  <a:spcPts val="0"/>
                </a:spcBef>
                <a:spcAft>
                  <a:spcPts val="0"/>
                </a:spcAft>
                <a:buClr>
                  <a:srgbClr val="FFFFFF"/>
                </a:buClr>
                <a:buSzPts val="1799"/>
                <a:buFont typeface="Arial"/>
                <a:buChar char="•"/>
              </a:pPr>
              <a:r>
                <a:rPr b="0" i="0" lang="en-US" sz="1799" u="none" cap="none" strike="noStrike">
                  <a:solidFill>
                    <a:srgbClr val="FFFFFF"/>
                  </a:solidFill>
                  <a:latin typeface="Arial"/>
                  <a:ea typeface="Arial"/>
                  <a:cs typeface="Arial"/>
                  <a:sym typeface="Arial"/>
                </a:rPr>
                <a:t>Scikit-learn (evaluation metrics)</a:t>
              </a:r>
              <a:endParaRPr/>
            </a:p>
            <a:p>
              <a:pPr indent="0" lvl="0" marL="0" marR="0" rtl="0" algn="l">
                <a:lnSpc>
                  <a:spcPct val="140022"/>
                </a:lnSpc>
                <a:spcBef>
                  <a:spcPts val="0"/>
                </a:spcBef>
                <a:spcAft>
                  <a:spcPts val="0"/>
                </a:spcAft>
                <a:buNone/>
              </a:pPr>
              <a:r>
                <a:t/>
              </a:r>
              <a:endParaRPr b="0" i="0" sz="1799" u="none" cap="none" strike="noStrike">
                <a:solidFill>
                  <a:srgbClr val="FFFFFF"/>
                </a:solidFill>
                <a:latin typeface="Arial"/>
                <a:ea typeface="Arial"/>
                <a:cs typeface="Arial"/>
                <a:sym typeface="Arial"/>
              </a:endParaRPr>
            </a:p>
          </p:txBody>
        </p:sp>
        <p:cxnSp>
          <p:nvCxnSpPr>
            <p:cNvPr id="155" name="Google Shape;155;p5"/>
            <p:cNvCxnSpPr/>
            <p:nvPr/>
          </p:nvCxnSpPr>
          <p:spPr>
            <a:xfrm>
              <a:off x="525123" y="1621800"/>
              <a:ext cx="3608671" cy="0"/>
            </a:xfrm>
            <a:prstGeom prst="straightConnector1">
              <a:avLst/>
            </a:prstGeom>
            <a:noFill/>
            <a:ln cap="flat" cmpd="sng" w="12700">
              <a:solidFill>
                <a:srgbClr val="FFFFFF"/>
              </a:solidFill>
              <a:prstDash val="solid"/>
              <a:round/>
              <a:headEnd len="sm" w="sm" type="none"/>
              <a:tailEnd len="sm" w="sm" type="none"/>
            </a:ln>
          </p:spPr>
        </p:cxnSp>
      </p:grpSp>
      <p:sp>
        <p:nvSpPr>
          <p:cNvPr id="156" name="Google Shape;156;p5"/>
          <p:cNvSpPr/>
          <p:nvPr/>
        </p:nvSpPr>
        <p:spPr>
          <a:xfrm rot="186570">
            <a:off x="276282" y="282905"/>
            <a:ext cx="2816202" cy="2512340"/>
          </a:xfrm>
          <a:custGeom>
            <a:rect b="b" l="l" r="r" t="t"/>
            <a:pathLst>
              <a:path extrusionOk="0" h="2512340" w="2816202">
                <a:moveTo>
                  <a:pt x="0" y="0"/>
                </a:moveTo>
                <a:lnTo>
                  <a:pt x="2816202" y="0"/>
                </a:lnTo>
                <a:lnTo>
                  <a:pt x="2816202" y="2512340"/>
                </a:lnTo>
                <a:lnTo>
                  <a:pt x="0" y="2512340"/>
                </a:lnTo>
                <a:lnTo>
                  <a:pt x="0" y="0"/>
                </a:lnTo>
                <a:close/>
              </a:path>
            </a:pathLst>
          </a:custGeom>
          <a:blipFill rotWithShape="1">
            <a:blip r:embed="rId5">
              <a:alphaModFix/>
            </a:blip>
            <a:stretch>
              <a:fillRect b="0" l="0" r="0" t="0"/>
            </a:stretch>
          </a:blipFill>
          <a:ln>
            <a:noFill/>
          </a:ln>
        </p:spPr>
      </p:sp>
      <p:sp>
        <p:nvSpPr>
          <p:cNvPr id="157" name="Google Shape;157;p5"/>
          <p:cNvSpPr/>
          <p:nvPr/>
        </p:nvSpPr>
        <p:spPr>
          <a:xfrm flipH="1" rot="-425068">
            <a:off x="15211390" y="352097"/>
            <a:ext cx="2466911" cy="2200737"/>
          </a:xfrm>
          <a:custGeom>
            <a:rect b="b" l="l" r="r" t="t"/>
            <a:pathLst>
              <a:path extrusionOk="0" h="2200737" w="2466911">
                <a:moveTo>
                  <a:pt x="2466911" y="0"/>
                </a:moveTo>
                <a:lnTo>
                  <a:pt x="0" y="0"/>
                </a:lnTo>
                <a:lnTo>
                  <a:pt x="0" y="2200736"/>
                </a:lnTo>
                <a:lnTo>
                  <a:pt x="2466911" y="2200736"/>
                </a:lnTo>
                <a:lnTo>
                  <a:pt x="2466911" y="0"/>
                </a:lnTo>
                <a:close/>
              </a:path>
            </a:pathLst>
          </a:custGeom>
          <a:blipFill rotWithShape="1">
            <a:blip r:embed="rId5">
              <a:alphaModFix/>
            </a:blip>
            <a:stretch>
              <a:fillRect b="0" l="0" r="0" t="0"/>
            </a:stretch>
          </a:blipFill>
          <a:ln>
            <a:noFill/>
          </a:ln>
        </p:spPr>
      </p:sp>
      <p:grpSp>
        <p:nvGrpSpPr>
          <p:cNvPr id="158" name="Google Shape;158;p5"/>
          <p:cNvGrpSpPr/>
          <p:nvPr/>
        </p:nvGrpSpPr>
        <p:grpSpPr>
          <a:xfrm>
            <a:off x="3327717" y="2553817"/>
            <a:ext cx="4699788" cy="2574263"/>
            <a:chOff x="0" y="0"/>
            <a:chExt cx="6266384" cy="3432350"/>
          </a:xfrm>
        </p:grpSpPr>
        <p:grpSp>
          <p:nvGrpSpPr>
            <p:cNvPr id="159" name="Google Shape;159;p5"/>
            <p:cNvGrpSpPr/>
            <p:nvPr/>
          </p:nvGrpSpPr>
          <p:grpSpPr>
            <a:xfrm>
              <a:off x="0" y="0"/>
              <a:ext cx="5453584" cy="3273216"/>
              <a:chOff x="0" y="0"/>
              <a:chExt cx="1115915" cy="669767"/>
            </a:xfrm>
          </p:grpSpPr>
          <p:sp>
            <p:nvSpPr>
              <p:cNvPr id="160" name="Google Shape;160;p5"/>
              <p:cNvSpPr/>
              <p:nvPr/>
            </p:nvSpPr>
            <p:spPr>
              <a:xfrm>
                <a:off x="0" y="0"/>
                <a:ext cx="1115915" cy="669767"/>
              </a:xfrm>
              <a:custGeom>
                <a:rect b="b" l="l" r="r" t="t"/>
                <a:pathLst>
                  <a:path extrusionOk="0" h="669767" w="1115915">
                    <a:moveTo>
                      <a:pt x="96533" y="0"/>
                    </a:moveTo>
                    <a:lnTo>
                      <a:pt x="1019382" y="0"/>
                    </a:lnTo>
                    <a:cubicBezTo>
                      <a:pt x="1044984" y="0"/>
                      <a:pt x="1069538" y="10170"/>
                      <a:pt x="1087641" y="28274"/>
                    </a:cubicBezTo>
                    <a:cubicBezTo>
                      <a:pt x="1105745" y="46377"/>
                      <a:pt x="1115915" y="70931"/>
                      <a:pt x="1115915" y="96533"/>
                    </a:cubicBezTo>
                    <a:lnTo>
                      <a:pt x="1115915" y="573234"/>
                    </a:lnTo>
                    <a:cubicBezTo>
                      <a:pt x="1115915" y="598836"/>
                      <a:pt x="1105745" y="623390"/>
                      <a:pt x="1087641" y="641493"/>
                    </a:cubicBezTo>
                    <a:cubicBezTo>
                      <a:pt x="1069538" y="659597"/>
                      <a:pt x="1044984" y="669767"/>
                      <a:pt x="1019382" y="669767"/>
                    </a:cubicBezTo>
                    <a:lnTo>
                      <a:pt x="96533" y="669767"/>
                    </a:lnTo>
                    <a:cubicBezTo>
                      <a:pt x="70931" y="669767"/>
                      <a:pt x="46377" y="659597"/>
                      <a:pt x="28274" y="641493"/>
                    </a:cubicBezTo>
                    <a:cubicBezTo>
                      <a:pt x="10170" y="623390"/>
                      <a:pt x="0" y="598836"/>
                      <a:pt x="0" y="573234"/>
                    </a:cubicBezTo>
                    <a:lnTo>
                      <a:pt x="0" y="96533"/>
                    </a:lnTo>
                    <a:cubicBezTo>
                      <a:pt x="0" y="70931"/>
                      <a:pt x="10170" y="46377"/>
                      <a:pt x="28274" y="28274"/>
                    </a:cubicBezTo>
                    <a:cubicBezTo>
                      <a:pt x="46377" y="10170"/>
                      <a:pt x="70931" y="0"/>
                      <a:pt x="96533" y="0"/>
                    </a:cubicBezTo>
                    <a:close/>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txBox="1"/>
              <p:nvPr/>
            </p:nvSpPr>
            <p:spPr>
              <a:xfrm>
                <a:off x="0" y="47625"/>
                <a:ext cx="1115915" cy="622142"/>
              </a:xfrm>
              <a:prstGeom prst="rect">
                <a:avLst/>
              </a:prstGeom>
              <a:noFill/>
              <a:ln>
                <a:noFill/>
              </a:ln>
            </p:spPr>
            <p:txBody>
              <a:bodyPr anchorCtr="0" anchor="ctr" bIns="50800" lIns="50800" spcFirstLastPara="1" rIns="50800" wrap="square" tIns="50800">
                <a:noAutofit/>
              </a:bodyPr>
              <a:lstStyle/>
              <a:p>
                <a:pPr indent="0" lvl="0" marL="0" marR="0" rtl="0" algn="ctr">
                  <a:lnSpc>
                    <a:spcPct val="111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2" name="Google Shape;162;p5"/>
            <p:cNvSpPr txBox="1"/>
            <p:nvPr/>
          </p:nvSpPr>
          <p:spPr>
            <a:xfrm>
              <a:off x="525123" y="321110"/>
              <a:ext cx="5741261" cy="1140883"/>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0" lang="en-US" sz="2499" u="none" cap="none" strike="noStrike">
                  <a:solidFill>
                    <a:srgbClr val="44A5FF"/>
                  </a:solidFill>
                  <a:latin typeface="Arial"/>
                  <a:ea typeface="Arial"/>
                  <a:cs typeface="Arial"/>
                  <a:sym typeface="Arial"/>
                </a:rPr>
                <a:t>PROGRAMMING &amp; FRAMEWORKS</a:t>
              </a:r>
              <a:endParaRPr/>
            </a:p>
          </p:txBody>
        </p:sp>
        <p:sp>
          <p:nvSpPr>
            <p:cNvPr id="163" name="Google Shape;163;p5"/>
            <p:cNvSpPr txBox="1"/>
            <p:nvPr/>
          </p:nvSpPr>
          <p:spPr>
            <a:xfrm>
              <a:off x="137203" y="2029250"/>
              <a:ext cx="5405100" cy="1403100"/>
            </a:xfrm>
            <a:prstGeom prst="rect">
              <a:avLst/>
            </a:prstGeom>
            <a:noFill/>
            <a:ln>
              <a:noFill/>
            </a:ln>
          </p:spPr>
          <p:txBody>
            <a:bodyPr anchorCtr="0" anchor="t" bIns="0" lIns="0" spcFirstLastPara="1" rIns="0" wrap="square" tIns="0">
              <a:spAutoFit/>
            </a:bodyPr>
            <a:lstStyle/>
            <a:p>
              <a:pPr indent="-194307" lvl="1" marL="388617" marR="0" rtl="0" algn="l">
                <a:lnSpc>
                  <a:spcPct val="140022"/>
                </a:lnSpc>
                <a:spcBef>
                  <a:spcPts val="0"/>
                </a:spcBef>
                <a:spcAft>
                  <a:spcPts val="0"/>
                </a:spcAft>
                <a:buClr>
                  <a:srgbClr val="FFFFFF"/>
                </a:buClr>
                <a:buSzPts val="1799"/>
                <a:buFont typeface="Arial"/>
                <a:buChar char="•"/>
              </a:pPr>
              <a:r>
                <a:rPr b="0" i="0" lang="en-US" sz="1799" u="none" cap="none" strike="noStrike">
                  <a:solidFill>
                    <a:srgbClr val="FFFFFF"/>
                  </a:solidFill>
                  <a:latin typeface="Arial"/>
                  <a:ea typeface="Arial"/>
                  <a:cs typeface="Arial"/>
                  <a:sym typeface="Arial"/>
                </a:rPr>
                <a:t>Python</a:t>
              </a:r>
              <a:endParaRPr/>
            </a:p>
            <a:p>
              <a:pPr indent="-194307" lvl="1" marL="388617" marR="0" rtl="0" algn="l">
                <a:lnSpc>
                  <a:spcPct val="140022"/>
                </a:lnSpc>
                <a:spcBef>
                  <a:spcPts val="0"/>
                </a:spcBef>
                <a:spcAft>
                  <a:spcPts val="0"/>
                </a:spcAft>
                <a:buClr>
                  <a:srgbClr val="FFFFFF"/>
                </a:buClr>
                <a:buSzPts val="1799"/>
                <a:buFont typeface="Arial"/>
                <a:buChar char="•"/>
              </a:pPr>
              <a:r>
                <a:rPr lang="en-US" sz="1799">
                  <a:solidFill>
                    <a:srgbClr val="FFFFFF"/>
                  </a:solidFill>
                </a:rPr>
                <a:t>React </a:t>
              </a:r>
              <a:r>
                <a:rPr b="0" i="0" lang="en-US" sz="1799" u="none" cap="none" strike="noStrike">
                  <a:solidFill>
                    <a:srgbClr val="FFFFFF"/>
                  </a:solidFill>
                  <a:latin typeface="Arial"/>
                  <a:ea typeface="Arial"/>
                  <a:cs typeface="Arial"/>
                  <a:sym typeface="Arial"/>
                </a:rPr>
                <a:t>(UI &amp; visualization)</a:t>
              </a:r>
              <a:endParaRPr/>
            </a:p>
            <a:p>
              <a:pPr indent="0" lvl="0" marL="0" marR="0" rtl="0" algn="l">
                <a:lnSpc>
                  <a:spcPct val="140022"/>
                </a:lnSpc>
                <a:spcBef>
                  <a:spcPts val="0"/>
                </a:spcBef>
                <a:spcAft>
                  <a:spcPts val="0"/>
                </a:spcAft>
                <a:buNone/>
              </a:pPr>
              <a:r>
                <a:t/>
              </a:r>
              <a:endParaRPr b="0" i="0" sz="1799" u="none" cap="none" strike="noStrike">
                <a:solidFill>
                  <a:srgbClr val="FFFFFF"/>
                </a:solidFill>
                <a:latin typeface="Arial"/>
                <a:ea typeface="Arial"/>
                <a:cs typeface="Arial"/>
                <a:sym typeface="Arial"/>
              </a:endParaRPr>
            </a:p>
          </p:txBody>
        </p:sp>
        <p:cxnSp>
          <p:nvCxnSpPr>
            <p:cNvPr id="164" name="Google Shape;164;p5"/>
            <p:cNvCxnSpPr/>
            <p:nvPr/>
          </p:nvCxnSpPr>
          <p:spPr>
            <a:xfrm>
              <a:off x="525123" y="1864299"/>
              <a:ext cx="3608671" cy="0"/>
            </a:xfrm>
            <a:prstGeom prst="straightConnector1">
              <a:avLst/>
            </a:prstGeom>
            <a:noFill/>
            <a:ln cap="flat" cmpd="sng" w="12700">
              <a:solidFill>
                <a:srgbClr val="FFFFFF"/>
              </a:solidFill>
              <a:prstDash val="solid"/>
              <a:round/>
              <a:headEnd len="sm" w="sm" type="none"/>
              <a:tailEnd len="sm" w="sm" type="none"/>
            </a:ln>
          </p:spPr>
        </p:cxnSp>
      </p:grpSp>
      <p:grpSp>
        <p:nvGrpSpPr>
          <p:cNvPr id="165" name="Google Shape;165;p5"/>
          <p:cNvGrpSpPr/>
          <p:nvPr/>
        </p:nvGrpSpPr>
        <p:grpSpPr>
          <a:xfrm>
            <a:off x="9109942" y="2436342"/>
            <a:ext cx="6130057" cy="2620947"/>
            <a:chOff x="0" y="0"/>
            <a:chExt cx="6266384" cy="2939314"/>
          </a:xfrm>
        </p:grpSpPr>
        <p:grpSp>
          <p:nvGrpSpPr>
            <p:cNvPr id="166" name="Google Shape;166;p5"/>
            <p:cNvGrpSpPr/>
            <p:nvPr/>
          </p:nvGrpSpPr>
          <p:grpSpPr>
            <a:xfrm>
              <a:off x="0" y="0"/>
              <a:ext cx="5453584" cy="2832949"/>
              <a:chOff x="0" y="0"/>
              <a:chExt cx="1115915" cy="579679"/>
            </a:xfrm>
          </p:grpSpPr>
          <p:sp>
            <p:nvSpPr>
              <p:cNvPr id="167" name="Google Shape;167;p5"/>
              <p:cNvSpPr/>
              <p:nvPr/>
            </p:nvSpPr>
            <p:spPr>
              <a:xfrm>
                <a:off x="0" y="0"/>
                <a:ext cx="1115915" cy="579679"/>
              </a:xfrm>
              <a:custGeom>
                <a:rect b="b" l="l" r="r" t="t"/>
                <a:pathLst>
                  <a:path extrusionOk="0" h="579679" w="1115915">
                    <a:moveTo>
                      <a:pt x="96533" y="0"/>
                    </a:moveTo>
                    <a:lnTo>
                      <a:pt x="1019382" y="0"/>
                    </a:lnTo>
                    <a:cubicBezTo>
                      <a:pt x="1044984" y="0"/>
                      <a:pt x="1069538" y="10170"/>
                      <a:pt x="1087641" y="28274"/>
                    </a:cubicBezTo>
                    <a:cubicBezTo>
                      <a:pt x="1105745" y="46377"/>
                      <a:pt x="1115915" y="70931"/>
                      <a:pt x="1115915" y="96533"/>
                    </a:cubicBezTo>
                    <a:lnTo>
                      <a:pt x="1115915" y="483146"/>
                    </a:lnTo>
                    <a:cubicBezTo>
                      <a:pt x="1115915" y="508749"/>
                      <a:pt x="1105745" y="533302"/>
                      <a:pt x="1087641" y="551406"/>
                    </a:cubicBezTo>
                    <a:cubicBezTo>
                      <a:pt x="1069538" y="569509"/>
                      <a:pt x="1044984" y="579679"/>
                      <a:pt x="1019382" y="579679"/>
                    </a:cubicBezTo>
                    <a:lnTo>
                      <a:pt x="96533" y="579679"/>
                    </a:lnTo>
                    <a:cubicBezTo>
                      <a:pt x="70931" y="579679"/>
                      <a:pt x="46377" y="569509"/>
                      <a:pt x="28274" y="551406"/>
                    </a:cubicBezTo>
                    <a:cubicBezTo>
                      <a:pt x="10170" y="533302"/>
                      <a:pt x="0" y="508749"/>
                      <a:pt x="0" y="483146"/>
                    </a:cubicBezTo>
                    <a:lnTo>
                      <a:pt x="0" y="96533"/>
                    </a:lnTo>
                    <a:cubicBezTo>
                      <a:pt x="0" y="70931"/>
                      <a:pt x="10170" y="46377"/>
                      <a:pt x="28274" y="28274"/>
                    </a:cubicBezTo>
                    <a:cubicBezTo>
                      <a:pt x="46377" y="10170"/>
                      <a:pt x="70931" y="0"/>
                      <a:pt x="96533" y="0"/>
                    </a:cubicBezTo>
                    <a:close/>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5"/>
              <p:cNvSpPr txBox="1"/>
              <p:nvPr/>
            </p:nvSpPr>
            <p:spPr>
              <a:xfrm>
                <a:off x="0" y="47625"/>
                <a:ext cx="1115915" cy="532054"/>
              </a:xfrm>
              <a:prstGeom prst="rect">
                <a:avLst/>
              </a:prstGeom>
              <a:noFill/>
              <a:ln>
                <a:noFill/>
              </a:ln>
            </p:spPr>
            <p:txBody>
              <a:bodyPr anchorCtr="0" anchor="ctr" bIns="50800" lIns="50800" spcFirstLastPara="1" rIns="50800" wrap="square" tIns="50800">
                <a:noAutofit/>
              </a:bodyPr>
              <a:lstStyle/>
              <a:p>
                <a:pPr indent="0" lvl="0" marL="0" marR="0" rtl="0" algn="ctr">
                  <a:lnSpc>
                    <a:spcPct val="111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9" name="Google Shape;169;p5"/>
            <p:cNvSpPr txBox="1"/>
            <p:nvPr/>
          </p:nvSpPr>
          <p:spPr>
            <a:xfrm>
              <a:off x="525123" y="321109"/>
              <a:ext cx="5741261" cy="503362"/>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2499" u="none" cap="none" strike="noStrike">
                  <a:solidFill>
                    <a:srgbClr val="44A5FF"/>
                  </a:solidFill>
                  <a:latin typeface="Arial"/>
                  <a:ea typeface="Arial"/>
                  <a:cs typeface="Arial"/>
                  <a:sym typeface="Arial"/>
                </a:rPr>
                <a:t>     LLM &amp; INFERENCE</a:t>
              </a:r>
              <a:endParaRPr/>
            </a:p>
          </p:txBody>
        </p:sp>
        <p:sp>
          <p:nvSpPr>
            <p:cNvPr id="170" name="Google Shape;170;p5"/>
            <p:cNvSpPr txBox="1"/>
            <p:nvPr/>
          </p:nvSpPr>
          <p:spPr>
            <a:xfrm>
              <a:off x="711099" y="1324114"/>
              <a:ext cx="5405100" cy="1615200"/>
            </a:xfrm>
            <a:prstGeom prst="rect">
              <a:avLst/>
            </a:prstGeom>
            <a:noFill/>
            <a:ln>
              <a:noFill/>
            </a:ln>
          </p:spPr>
          <p:txBody>
            <a:bodyPr anchorCtr="0" anchor="t" bIns="0" lIns="0" spcFirstLastPara="1" rIns="0" wrap="square" tIns="0">
              <a:spAutoFit/>
            </a:bodyPr>
            <a:lstStyle/>
            <a:p>
              <a:pPr indent="-194308" lvl="1" marL="388617" marR="0" rtl="0" algn="l">
                <a:lnSpc>
                  <a:spcPct val="140022"/>
                </a:lnSpc>
                <a:spcBef>
                  <a:spcPts val="0"/>
                </a:spcBef>
                <a:spcAft>
                  <a:spcPts val="0"/>
                </a:spcAft>
                <a:buClr>
                  <a:srgbClr val="FFFFFF"/>
                </a:buClr>
                <a:buSzPts val="1799"/>
                <a:buFont typeface="Arial"/>
                <a:buChar char="•"/>
              </a:pPr>
              <a:r>
                <a:rPr lang="en-US" sz="1800">
                  <a:solidFill>
                    <a:srgbClr val="FFFFFF"/>
                  </a:solidFill>
                </a:rPr>
                <a:t>Ollama (LLM runtime)</a:t>
              </a:r>
              <a:endParaRPr/>
            </a:p>
            <a:p>
              <a:pPr indent="-194308" lvl="1" marL="388617" marR="0" rtl="0" algn="l">
                <a:lnSpc>
                  <a:spcPct val="140022"/>
                </a:lnSpc>
                <a:spcBef>
                  <a:spcPts val="0"/>
                </a:spcBef>
                <a:spcAft>
                  <a:spcPts val="0"/>
                </a:spcAft>
                <a:buClr>
                  <a:srgbClr val="FFFFFF"/>
                </a:buClr>
                <a:buSzPts val="1799"/>
                <a:buFont typeface="Arial"/>
                <a:buChar char="•"/>
              </a:pPr>
              <a:r>
                <a:rPr lang="en-US" sz="1799">
                  <a:solidFill>
                    <a:schemeClr val="lt1"/>
                  </a:solidFill>
                </a:rPr>
                <a:t>Gemma-3 (Local LLM)</a:t>
              </a:r>
              <a:endParaRPr/>
            </a:p>
            <a:p>
              <a:pPr indent="-194308" lvl="1" marL="388617" marR="0" rtl="0" algn="l">
                <a:lnSpc>
                  <a:spcPct val="140022"/>
                </a:lnSpc>
                <a:spcBef>
                  <a:spcPts val="0"/>
                </a:spcBef>
                <a:spcAft>
                  <a:spcPts val="0"/>
                </a:spcAft>
                <a:buClr>
                  <a:srgbClr val="FFFFFF"/>
                </a:buClr>
                <a:buSzPts val="1799"/>
                <a:buFont typeface="Arial"/>
                <a:buChar char="•"/>
              </a:pPr>
              <a:r>
                <a:rPr lang="en-US" sz="1799">
                  <a:solidFill>
                    <a:srgbClr val="FFFFFF"/>
                  </a:solidFill>
                </a:rPr>
                <a:t>Qwen-2.5 </a:t>
              </a:r>
              <a:r>
                <a:rPr b="0" i="0" lang="en-US" sz="1799" u="none" cap="none" strike="noStrike">
                  <a:solidFill>
                    <a:srgbClr val="FFFFFF"/>
                  </a:solidFill>
                  <a:latin typeface="Arial"/>
                  <a:ea typeface="Arial"/>
                  <a:cs typeface="Arial"/>
                  <a:sym typeface="Arial"/>
                </a:rPr>
                <a:t>(</a:t>
              </a:r>
              <a:r>
                <a:rPr lang="en-US" sz="1799">
                  <a:solidFill>
                    <a:srgbClr val="FFFFFF"/>
                  </a:solidFill>
                </a:rPr>
                <a:t>Local</a:t>
              </a:r>
              <a:r>
                <a:rPr b="0" i="0" lang="en-US" sz="1799" u="none" cap="none" strike="noStrike">
                  <a:solidFill>
                    <a:srgbClr val="FFFFFF"/>
                  </a:solidFill>
                  <a:latin typeface="Arial"/>
                  <a:ea typeface="Arial"/>
                  <a:cs typeface="Arial"/>
                  <a:sym typeface="Arial"/>
                </a:rPr>
                <a:t> LLM)</a:t>
              </a:r>
              <a:endParaRPr/>
            </a:p>
            <a:p>
              <a:pPr indent="0" lvl="0" marL="0" marR="0" rtl="0" algn="l">
                <a:lnSpc>
                  <a:spcPct val="140022"/>
                </a:lnSpc>
                <a:spcBef>
                  <a:spcPts val="0"/>
                </a:spcBef>
                <a:spcAft>
                  <a:spcPts val="0"/>
                </a:spcAft>
                <a:buNone/>
              </a:pPr>
              <a:r>
                <a:t/>
              </a:r>
              <a:endParaRPr b="0" i="0" sz="1799" u="none" cap="none" strike="noStrike">
                <a:solidFill>
                  <a:srgbClr val="FFFFFF"/>
                </a:solidFill>
                <a:latin typeface="Arial"/>
                <a:ea typeface="Arial"/>
                <a:cs typeface="Arial"/>
                <a:sym typeface="Arial"/>
              </a:endParaRPr>
            </a:p>
          </p:txBody>
        </p:sp>
        <p:cxnSp>
          <p:nvCxnSpPr>
            <p:cNvPr id="171" name="Google Shape;171;p5"/>
            <p:cNvCxnSpPr/>
            <p:nvPr/>
          </p:nvCxnSpPr>
          <p:spPr>
            <a:xfrm>
              <a:off x="969551" y="1070508"/>
              <a:ext cx="3608671" cy="0"/>
            </a:xfrm>
            <a:prstGeom prst="straightConnector1">
              <a:avLst/>
            </a:prstGeom>
            <a:noFill/>
            <a:ln cap="flat" cmpd="sng" w="12700">
              <a:solidFill>
                <a:srgbClr val="FFFFFF"/>
              </a:solidFill>
              <a:prstDash val="solid"/>
              <a:round/>
              <a:headEnd len="sm" w="sm" type="none"/>
              <a:tailEnd len="sm" w="sm" type="none"/>
            </a:ln>
          </p:spPr>
        </p:cxn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153C"/>
        </a:solidFill>
      </p:bgPr>
    </p:bg>
    <p:spTree>
      <p:nvGrpSpPr>
        <p:cNvPr id="175" name="Shape 175"/>
        <p:cNvGrpSpPr/>
        <p:nvPr/>
      </p:nvGrpSpPr>
      <p:grpSpPr>
        <a:xfrm>
          <a:off x="0" y="0"/>
          <a:ext cx="0" cy="0"/>
          <a:chOff x="0" y="0"/>
          <a:chExt cx="0" cy="0"/>
        </a:xfrm>
      </p:grpSpPr>
      <p:sp>
        <p:nvSpPr>
          <p:cNvPr id="176" name="Google Shape;176;p6"/>
          <p:cNvSpPr/>
          <p:nvPr/>
        </p:nvSpPr>
        <p:spPr>
          <a:xfrm>
            <a:off x="13435909" y="-372054"/>
            <a:ext cx="7139284" cy="9379588"/>
          </a:xfrm>
          <a:custGeom>
            <a:rect b="b" l="l" r="r" t="t"/>
            <a:pathLst>
              <a:path extrusionOk="0" h="9379588" w="7139284">
                <a:moveTo>
                  <a:pt x="0" y="0"/>
                </a:moveTo>
                <a:lnTo>
                  <a:pt x="7139284" y="0"/>
                </a:lnTo>
                <a:lnTo>
                  <a:pt x="7139284" y="9379589"/>
                </a:lnTo>
                <a:lnTo>
                  <a:pt x="0" y="9379589"/>
                </a:lnTo>
                <a:lnTo>
                  <a:pt x="0" y="0"/>
                </a:lnTo>
                <a:close/>
              </a:path>
            </a:pathLst>
          </a:custGeom>
          <a:blipFill rotWithShape="1">
            <a:blip r:embed="rId3">
              <a:alphaModFix/>
            </a:blip>
            <a:stretch>
              <a:fillRect b="0" l="0" r="0" t="0"/>
            </a:stretch>
          </a:blipFill>
          <a:ln>
            <a:noFill/>
          </a:ln>
        </p:spPr>
      </p:sp>
      <p:sp>
        <p:nvSpPr>
          <p:cNvPr id="177" name="Google Shape;177;p6"/>
          <p:cNvSpPr/>
          <p:nvPr/>
        </p:nvSpPr>
        <p:spPr>
          <a:xfrm flipH="1">
            <a:off x="-2540942" y="-214990"/>
            <a:ext cx="7139284" cy="9379588"/>
          </a:xfrm>
          <a:custGeom>
            <a:rect b="b" l="l" r="r" t="t"/>
            <a:pathLst>
              <a:path extrusionOk="0" h="9379588" w="7139284">
                <a:moveTo>
                  <a:pt x="7139284" y="0"/>
                </a:moveTo>
                <a:lnTo>
                  <a:pt x="0" y="0"/>
                </a:lnTo>
                <a:lnTo>
                  <a:pt x="0" y="9379588"/>
                </a:lnTo>
                <a:lnTo>
                  <a:pt x="7139284" y="9379588"/>
                </a:lnTo>
                <a:lnTo>
                  <a:pt x="7139284" y="0"/>
                </a:lnTo>
                <a:close/>
              </a:path>
            </a:pathLst>
          </a:custGeom>
          <a:blipFill rotWithShape="1">
            <a:blip r:embed="rId3">
              <a:alphaModFix/>
            </a:blip>
            <a:stretch>
              <a:fillRect b="0" l="0" r="0" t="0"/>
            </a:stretch>
          </a:blipFill>
          <a:ln>
            <a:noFill/>
          </a:ln>
        </p:spPr>
      </p:sp>
      <p:sp>
        <p:nvSpPr>
          <p:cNvPr id="178" name="Google Shape;178;p6"/>
          <p:cNvSpPr/>
          <p:nvPr/>
        </p:nvSpPr>
        <p:spPr>
          <a:xfrm>
            <a:off x="0" y="7690055"/>
            <a:ext cx="18701319" cy="4258146"/>
          </a:xfrm>
          <a:custGeom>
            <a:rect b="b" l="l" r="r" t="t"/>
            <a:pathLst>
              <a:path extrusionOk="0" h="4258146" w="18701319">
                <a:moveTo>
                  <a:pt x="0" y="0"/>
                </a:moveTo>
                <a:lnTo>
                  <a:pt x="18701319" y="0"/>
                </a:lnTo>
                <a:lnTo>
                  <a:pt x="18701319" y="4258146"/>
                </a:lnTo>
                <a:lnTo>
                  <a:pt x="0" y="4258146"/>
                </a:lnTo>
                <a:lnTo>
                  <a:pt x="0" y="0"/>
                </a:lnTo>
                <a:close/>
              </a:path>
            </a:pathLst>
          </a:custGeom>
          <a:blipFill rotWithShape="1">
            <a:blip r:embed="rId4">
              <a:alphaModFix/>
            </a:blip>
            <a:stretch>
              <a:fillRect b="0" l="0" r="0" t="0"/>
            </a:stretch>
          </a:blipFill>
          <a:ln>
            <a:noFill/>
          </a:ln>
        </p:spPr>
      </p:sp>
      <p:sp>
        <p:nvSpPr>
          <p:cNvPr id="179" name="Google Shape;179;p6"/>
          <p:cNvSpPr txBox="1"/>
          <p:nvPr/>
        </p:nvSpPr>
        <p:spPr>
          <a:xfrm>
            <a:off x="-2168047" y="267775"/>
            <a:ext cx="17665200" cy="1092600"/>
          </a:xfrm>
          <a:prstGeom prst="rect">
            <a:avLst/>
          </a:prstGeom>
          <a:noFill/>
          <a:ln>
            <a:noFill/>
          </a:ln>
        </p:spPr>
        <p:txBody>
          <a:bodyPr anchorCtr="0" anchor="t" bIns="0" lIns="0" spcFirstLastPara="1" rIns="0" wrap="square" tIns="0">
            <a:spAutoFit/>
          </a:bodyPr>
          <a:lstStyle/>
          <a:p>
            <a:pPr indent="0" lvl="0" marL="0" marR="0" rtl="0" algn="ctr">
              <a:lnSpc>
                <a:spcPct val="113001"/>
              </a:lnSpc>
              <a:spcBef>
                <a:spcPts val="0"/>
              </a:spcBef>
              <a:spcAft>
                <a:spcPts val="0"/>
              </a:spcAft>
              <a:buNone/>
            </a:pPr>
            <a:r>
              <a:rPr b="0" i="0" lang="en-US" sz="7099" u="none" cap="none" strike="noStrike">
                <a:solidFill>
                  <a:srgbClr val="FFFFFF"/>
                </a:solidFill>
                <a:latin typeface="Arial"/>
                <a:ea typeface="Arial"/>
                <a:cs typeface="Arial"/>
                <a:sym typeface="Arial"/>
              </a:rPr>
              <a:t>Project Workflow &amp;  Architecture</a:t>
            </a:r>
            <a:endParaRPr sz="100"/>
          </a:p>
        </p:txBody>
      </p:sp>
      <p:grpSp>
        <p:nvGrpSpPr>
          <p:cNvPr id="180" name="Google Shape;180;p6"/>
          <p:cNvGrpSpPr/>
          <p:nvPr/>
        </p:nvGrpSpPr>
        <p:grpSpPr>
          <a:xfrm>
            <a:off x="117812" y="2126500"/>
            <a:ext cx="3876131" cy="1997735"/>
            <a:chOff x="0" y="0"/>
            <a:chExt cx="7350902" cy="3788613"/>
          </a:xfrm>
        </p:grpSpPr>
        <p:grpSp>
          <p:nvGrpSpPr>
            <p:cNvPr id="181" name="Google Shape;181;p6"/>
            <p:cNvGrpSpPr/>
            <p:nvPr/>
          </p:nvGrpSpPr>
          <p:grpSpPr>
            <a:xfrm>
              <a:off x="0" y="0"/>
              <a:ext cx="7350902" cy="3788613"/>
              <a:chOff x="0" y="0"/>
              <a:chExt cx="1504145" cy="775228"/>
            </a:xfrm>
          </p:grpSpPr>
          <p:sp>
            <p:nvSpPr>
              <p:cNvPr id="182" name="Google Shape;182;p6"/>
              <p:cNvSpPr/>
              <p:nvPr/>
            </p:nvSpPr>
            <p:spPr>
              <a:xfrm>
                <a:off x="0" y="0"/>
                <a:ext cx="1447901" cy="772659"/>
              </a:xfrm>
              <a:custGeom>
                <a:rect b="b" l="l" r="r" t="t"/>
                <a:pathLst>
                  <a:path extrusionOk="0" h="772659" w="1447901">
                    <a:moveTo>
                      <a:pt x="74399" y="0"/>
                    </a:moveTo>
                    <a:lnTo>
                      <a:pt x="1373502" y="0"/>
                    </a:lnTo>
                    <a:cubicBezTo>
                      <a:pt x="1393234" y="0"/>
                      <a:pt x="1412158" y="7838"/>
                      <a:pt x="1426110" y="21791"/>
                    </a:cubicBezTo>
                    <a:cubicBezTo>
                      <a:pt x="1440063" y="35744"/>
                      <a:pt x="1447901" y="54667"/>
                      <a:pt x="1447901" y="74399"/>
                    </a:cubicBezTo>
                    <a:lnTo>
                      <a:pt x="1447901" y="698260"/>
                    </a:lnTo>
                    <a:cubicBezTo>
                      <a:pt x="1447901" y="739349"/>
                      <a:pt x="1414592" y="772659"/>
                      <a:pt x="1373502" y="772659"/>
                    </a:cubicBezTo>
                    <a:lnTo>
                      <a:pt x="74399" y="772659"/>
                    </a:lnTo>
                    <a:cubicBezTo>
                      <a:pt x="33310" y="772659"/>
                      <a:pt x="0" y="739349"/>
                      <a:pt x="0" y="698260"/>
                    </a:cubicBezTo>
                    <a:lnTo>
                      <a:pt x="0" y="74399"/>
                    </a:lnTo>
                    <a:cubicBezTo>
                      <a:pt x="0" y="33310"/>
                      <a:pt x="33310" y="0"/>
                      <a:pt x="74399" y="0"/>
                    </a:cubicBezTo>
                    <a:close/>
                  </a:path>
                </a:pathLst>
              </a:custGeom>
              <a:solidFill>
                <a:srgbClr val="000000">
                  <a:alpha val="0"/>
                </a:srgbClr>
              </a:solidFill>
              <a:ln cap="rnd" cmpd="sng" w="13375">
                <a:solidFill>
                  <a:srgbClr val="FFFFFF"/>
                </a:solidFill>
                <a:prstDash val="solid"/>
                <a:round/>
                <a:headEnd len="sm" w="sm" type="none"/>
                <a:tailEnd len="sm" w="sm" type="none"/>
              </a:ln>
            </p:spPr>
            <p:txBody>
              <a:bodyPr anchorCtr="0" anchor="ctr" bIns="64300" lIns="64300" spcFirstLastPara="1" rIns="64300" wrap="square" tIns="64300">
                <a:noAutofit/>
              </a:bodyPr>
              <a:lstStyle/>
              <a:p>
                <a:pPr indent="0" lvl="0" marL="0" rtl="0" algn="l">
                  <a:spcBef>
                    <a:spcPts val="0"/>
                  </a:spcBef>
                  <a:spcAft>
                    <a:spcPts val="0"/>
                  </a:spcAft>
                  <a:buNone/>
                </a:pPr>
                <a:r>
                  <a:t/>
                </a:r>
                <a:endParaRPr/>
              </a:p>
            </p:txBody>
          </p:sp>
          <p:sp>
            <p:nvSpPr>
              <p:cNvPr id="183" name="Google Shape;183;p6"/>
              <p:cNvSpPr txBox="1"/>
              <p:nvPr/>
            </p:nvSpPr>
            <p:spPr>
              <a:xfrm>
                <a:off x="56345" y="50128"/>
                <a:ext cx="1447800" cy="725100"/>
              </a:xfrm>
              <a:prstGeom prst="rect">
                <a:avLst/>
              </a:prstGeom>
              <a:noFill/>
              <a:ln>
                <a:noFill/>
              </a:ln>
            </p:spPr>
            <p:txBody>
              <a:bodyPr anchorCtr="0" anchor="ctr" bIns="35700" lIns="35700" spcFirstLastPara="1" rIns="35700" wrap="square" tIns="35700">
                <a:noAutofit/>
              </a:bodyPr>
              <a:lstStyle/>
              <a:p>
                <a:pPr indent="0" lvl="0" marL="0" marR="0" rtl="0" algn="ctr">
                  <a:lnSpc>
                    <a:spcPct val="111722"/>
                  </a:lnSpc>
                  <a:spcBef>
                    <a:spcPts val="0"/>
                  </a:spcBef>
                  <a:spcAft>
                    <a:spcPts val="0"/>
                  </a:spcAft>
                  <a:buNone/>
                </a:pPr>
                <a:r>
                  <a:t/>
                </a:r>
                <a:endParaRPr b="0" i="0" sz="1265" u="none" cap="none" strike="noStrike">
                  <a:solidFill>
                    <a:schemeClr val="dk1"/>
                  </a:solidFill>
                  <a:latin typeface="Calibri"/>
                  <a:ea typeface="Calibri"/>
                  <a:cs typeface="Calibri"/>
                  <a:sym typeface="Calibri"/>
                </a:endParaRPr>
              </a:p>
            </p:txBody>
          </p:sp>
        </p:grpSp>
        <p:sp>
          <p:nvSpPr>
            <p:cNvPr id="184" name="Google Shape;184;p6"/>
            <p:cNvSpPr txBox="1"/>
            <p:nvPr/>
          </p:nvSpPr>
          <p:spPr>
            <a:xfrm>
              <a:off x="667385" y="1679909"/>
              <a:ext cx="5405100" cy="1403400"/>
            </a:xfrm>
            <a:prstGeom prst="rect">
              <a:avLst/>
            </a:prstGeom>
            <a:noFill/>
            <a:ln>
              <a:noFill/>
            </a:ln>
          </p:spPr>
          <p:txBody>
            <a:bodyPr anchorCtr="0" anchor="t" bIns="0" lIns="0" spcFirstLastPara="1" rIns="0" wrap="square" tIns="0">
              <a:spAutoFit/>
            </a:bodyPr>
            <a:lstStyle/>
            <a:p>
              <a:pPr indent="0" lvl="0" marL="0" marR="0" rtl="0" algn="ctr">
                <a:lnSpc>
                  <a:spcPct val="140022"/>
                </a:lnSpc>
                <a:spcBef>
                  <a:spcPts val="0"/>
                </a:spcBef>
                <a:spcAft>
                  <a:spcPts val="0"/>
                </a:spcAft>
                <a:buNone/>
              </a:pPr>
              <a:r>
                <a:rPr b="0" i="0" lang="en-US" sz="1264" u="none" cap="none" strike="noStrike">
                  <a:solidFill>
                    <a:srgbClr val="FFFFFF"/>
                  </a:solidFill>
                  <a:latin typeface="Arial"/>
                  <a:ea typeface="Arial"/>
                  <a:cs typeface="Arial"/>
                  <a:sym typeface="Arial"/>
                </a:rPr>
                <a:t>The user enters a natural language query through the Streamlit interface to initiate the NLU process.</a:t>
              </a:r>
              <a:endParaRPr sz="984"/>
            </a:p>
          </p:txBody>
        </p:sp>
        <p:sp>
          <p:nvSpPr>
            <p:cNvPr id="185" name="Google Shape;185;p6"/>
            <p:cNvSpPr txBox="1"/>
            <p:nvPr/>
          </p:nvSpPr>
          <p:spPr>
            <a:xfrm>
              <a:off x="499353" y="573935"/>
              <a:ext cx="5741400" cy="5130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0" i="0" lang="en-US" sz="1757" u="none" cap="none" strike="noStrike">
                  <a:solidFill>
                    <a:srgbClr val="44A5FF"/>
                  </a:solidFill>
                  <a:latin typeface="Arial"/>
                  <a:ea typeface="Arial"/>
                  <a:cs typeface="Arial"/>
                  <a:sym typeface="Arial"/>
                </a:rPr>
                <a:t>USER INPUT COLLECTION</a:t>
              </a:r>
              <a:endParaRPr sz="984"/>
            </a:p>
          </p:txBody>
        </p:sp>
        <p:cxnSp>
          <p:nvCxnSpPr>
            <p:cNvPr id="186" name="Google Shape;186;p6"/>
            <p:cNvCxnSpPr/>
            <p:nvPr/>
          </p:nvCxnSpPr>
          <p:spPr>
            <a:xfrm>
              <a:off x="1753230" y="1429084"/>
              <a:ext cx="3608671" cy="0"/>
            </a:xfrm>
            <a:prstGeom prst="straightConnector1">
              <a:avLst/>
            </a:prstGeom>
            <a:noFill/>
            <a:ln cap="flat" cmpd="sng" w="8925">
              <a:solidFill>
                <a:srgbClr val="FFFFFF"/>
              </a:solidFill>
              <a:prstDash val="solid"/>
              <a:round/>
              <a:headEnd len="sm" w="sm" type="none"/>
              <a:tailEnd len="sm" w="sm" type="none"/>
            </a:ln>
          </p:spPr>
        </p:cxnSp>
      </p:grpSp>
      <p:sp>
        <p:nvSpPr>
          <p:cNvPr id="187" name="Google Shape;187;p6"/>
          <p:cNvSpPr/>
          <p:nvPr/>
        </p:nvSpPr>
        <p:spPr>
          <a:xfrm flipH="1" rot="-425068">
            <a:off x="14517915" y="391898"/>
            <a:ext cx="2130573" cy="1900689"/>
          </a:xfrm>
          <a:custGeom>
            <a:rect b="b" l="l" r="r" t="t"/>
            <a:pathLst>
              <a:path extrusionOk="0" h="1900689" w="2130573">
                <a:moveTo>
                  <a:pt x="2130573" y="0"/>
                </a:moveTo>
                <a:lnTo>
                  <a:pt x="0" y="0"/>
                </a:lnTo>
                <a:lnTo>
                  <a:pt x="0" y="1900689"/>
                </a:lnTo>
                <a:lnTo>
                  <a:pt x="2130573" y="1900689"/>
                </a:lnTo>
                <a:lnTo>
                  <a:pt x="2130573" y="0"/>
                </a:lnTo>
                <a:close/>
              </a:path>
            </a:pathLst>
          </a:custGeom>
          <a:blipFill rotWithShape="1">
            <a:blip r:embed="rId5">
              <a:alphaModFix/>
            </a:blip>
            <a:stretch>
              <a:fillRect b="0" l="0" r="0" t="0"/>
            </a:stretch>
          </a:blipFill>
          <a:ln>
            <a:noFill/>
          </a:ln>
        </p:spPr>
      </p:sp>
      <p:grpSp>
        <p:nvGrpSpPr>
          <p:cNvPr id="188" name="Google Shape;188;p6"/>
          <p:cNvGrpSpPr/>
          <p:nvPr/>
        </p:nvGrpSpPr>
        <p:grpSpPr>
          <a:xfrm>
            <a:off x="3993950" y="2138675"/>
            <a:ext cx="3697934" cy="1973368"/>
            <a:chOff x="0" y="0"/>
            <a:chExt cx="7076031" cy="3776058"/>
          </a:xfrm>
        </p:grpSpPr>
        <p:grpSp>
          <p:nvGrpSpPr>
            <p:cNvPr id="189" name="Google Shape;189;p6"/>
            <p:cNvGrpSpPr/>
            <p:nvPr/>
          </p:nvGrpSpPr>
          <p:grpSpPr>
            <a:xfrm>
              <a:off x="0" y="0"/>
              <a:ext cx="7076031" cy="3776058"/>
              <a:chOff x="0" y="0"/>
              <a:chExt cx="1447901" cy="772659"/>
            </a:xfrm>
          </p:grpSpPr>
          <p:sp>
            <p:nvSpPr>
              <p:cNvPr id="190" name="Google Shape;190;p6"/>
              <p:cNvSpPr/>
              <p:nvPr/>
            </p:nvSpPr>
            <p:spPr>
              <a:xfrm>
                <a:off x="0" y="0"/>
                <a:ext cx="1447901" cy="772659"/>
              </a:xfrm>
              <a:custGeom>
                <a:rect b="b" l="l" r="r" t="t"/>
                <a:pathLst>
                  <a:path extrusionOk="0" h="772659" w="1447901">
                    <a:moveTo>
                      <a:pt x="74399" y="0"/>
                    </a:moveTo>
                    <a:lnTo>
                      <a:pt x="1373502" y="0"/>
                    </a:lnTo>
                    <a:cubicBezTo>
                      <a:pt x="1393234" y="0"/>
                      <a:pt x="1412158" y="7838"/>
                      <a:pt x="1426110" y="21791"/>
                    </a:cubicBezTo>
                    <a:cubicBezTo>
                      <a:pt x="1440063" y="35744"/>
                      <a:pt x="1447901" y="54667"/>
                      <a:pt x="1447901" y="74399"/>
                    </a:cubicBezTo>
                    <a:lnTo>
                      <a:pt x="1447901" y="698260"/>
                    </a:lnTo>
                    <a:cubicBezTo>
                      <a:pt x="1447901" y="739349"/>
                      <a:pt x="1414592" y="772659"/>
                      <a:pt x="1373502" y="772659"/>
                    </a:cubicBezTo>
                    <a:lnTo>
                      <a:pt x="74399" y="772659"/>
                    </a:lnTo>
                    <a:cubicBezTo>
                      <a:pt x="33310" y="772659"/>
                      <a:pt x="0" y="739349"/>
                      <a:pt x="0" y="698260"/>
                    </a:cubicBezTo>
                    <a:lnTo>
                      <a:pt x="0" y="74399"/>
                    </a:lnTo>
                    <a:cubicBezTo>
                      <a:pt x="0" y="33310"/>
                      <a:pt x="33310" y="0"/>
                      <a:pt x="74399" y="0"/>
                    </a:cubicBezTo>
                    <a:close/>
                  </a:path>
                </a:pathLst>
              </a:custGeom>
              <a:solidFill>
                <a:srgbClr val="000000">
                  <a:alpha val="0"/>
                </a:srgbClr>
              </a:solidFill>
              <a:ln cap="rnd" cmpd="sng" w="13275">
                <a:solidFill>
                  <a:srgbClr val="FFFFFF"/>
                </a:solidFill>
                <a:prstDash val="solid"/>
                <a:round/>
                <a:headEnd len="sm" w="sm" type="none"/>
                <a:tailEnd len="sm" w="sm" type="none"/>
              </a:ln>
            </p:spPr>
            <p:txBody>
              <a:bodyPr anchorCtr="0" anchor="ctr" bIns="63700" lIns="63700" spcFirstLastPara="1" rIns="63700" wrap="square" tIns="63700">
                <a:noAutofit/>
              </a:bodyPr>
              <a:lstStyle/>
              <a:p>
                <a:pPr indent="0" lvl="0" marL="0" rtl="0" algn="l">
                  <a:spcBef>
                    <a:spcPts val="0"/>
                  </a:spcBef>
                  <a:spcAft>
                    <a:spcPts val="0"/>
                  </a:spcAft>
                  <a:buNone/>
                </a:pPr>
                <a:r>
                  <a:t/>
                </a:r>
                <a:endParaRPr/>
              </a:p>
            </p:txBody>
          </p:sp>
          <p:sp>
            <p:nvSpPr>
              <p:cNvPr id="191" name="Google Shape;191;p6"/>
              <p:cNvSpPr txBox="1"/>
              <p:nvPr/>
            </p:nvSpPr>
            <p:spPr>
              <a:xfrm>
                <a:off x="0" y="47625"/>
                <a:ext cx="1447901" cy="725034"/>
              </a:xfrm>
              <a:prstGeom prst="rect">
                <a:avLst/>
              </a:prstGeom>
              <a:noFill/>
              <a:ln>
                <a:noFill/>
              </a:ln>
            </p:spPr>
            <p:txBody>
              <a:bodyPr anchorCtr="0" anchor="ctr" bIns="35400" lIns="35400" spcFirstLastPara="1" rIns="35400" wrap="square" tIns="35400">
                <a:noAutofit/>
              </a:bodyPr>
              <a:lstStyle/>
              <a:p>
                <a:pPr indent="0" lvl="0" marL="0" marR="0" rtl="0" algn="ctr">
                  <a:lnSpc>
                    <a:spcPct val="111722"/>
                  </a:lnSpc>
                  <a:spcBef>
                    <a:spcPts val="0"/>
                  </a:spcBef>
                  <a:spcAft>
                    <a:spcPts val="0"/>
                  </a:spcAft>
                  <a:buNone/>
                </a:pPr>
                <a:r>
                  <a:t/>
                </a:r>
                <a:endParaRPr b="0" i="0" sz="1254" u="none" cap="none" strike="noStrike">
                  <a:solidFill>
                    <a:schemeClr val="dk1"/>
                  </a:solidFill>
                  <a:latin typeface="Calibri"/>
                  <a:ea typeface="Calibri"/>
                  <a:cs typeface="Calibri"/>
                  <a:sym typeface="Calibri"/>
                </a:endParaRPr>
              </a:p>
            </p:txBody>
          </p:sp>
        </p:grpSp>
        <p:sp>
          <p:nvSpPr>
            <p:cNvPr id="192" name="Google Shape;192;p6"/>
            <p:cNvSpPr txBox="1"/>
            <p:nvPr/>
          </p:nvSpPr>
          <p:spPr>
            <a:xfrm>
              <a:off x="667385" y="1679909"/>
              <a:ext cx="5405100" cy="1920300"/>
            </a:xfrm>
            <a:prstGeom prst="rect">
              <a:avLst/>
            </a:prstGeom>
            <a:noFill/>
            <a:ln>
              <a:noFill/>
            </a:ln>
          </p:spPr>
          <p:txBody>
            <a:bodyPr anchorCtr="0" anchor="t" bIns="0" lIns="0" spcFirstLastPara="1" rIns="0" wrap="square" tIns="0">
              <a:spAutoFit/>
            </a:bodyPr>
            <a:lstStyle/>
            <a:p>
              <a:pPr indent="0" lvl="0" marL="0" marR="0" rtl="0" algn="ctr">
                <a:lnSpc>
                  <a:spcPct val="140022"/>
                </a:lnSpc>
                <a:spcBef>
                  <a:spcPts val="0"/>
                </a:spcBef>
                <a:spcAft>
                  <a:spcPts val="0"/>
                </a:spcAft>
                <a:buNone/>
              </a:pPr>
              <a:r>
                <a:rPr b="0" i="0" lang="en-US" sz="1253" u="none" cap="none" strike="noStrike">
                  <a:solidFill>
                    <a:srgbClr val="FFFFFF"/>
                  </a:solidFill>
                  <a:latin typeface="Arial"/>
                  <a:ea typeface="Arial"/>
                  <a:cs typeface="Arial"/>
                  <a:sym typeface="Arial"/>
                </a:rPr>
                <a:t>The input is combined with the intent schema, entity definitions, and a predefined prompt template to guide the LLM.</a:t>
              </a:r>
              <a:endParaRPr sz="975"/>
            </a:p>
          </p:txBody>
        </p:sp>
        <p:sp>
          <p:nvSpPr>
            <p:cNvPr id="193" name="Google Shape;193;p6"/>
            <p:cNvSpPr txBox="1"/>
            <p:nvPr/>
          </p:nvSpPr>
          <p:spPr>
            <a:xfrm>
              <a:off x="499353" y="573935"/>
              <a:ext cx="5741400" cy="5130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0" i="0" lang="en-US" sz="1741" u="none" cap="none" strike="noStrike">
                  <a:solidFill>
                    <a:srgbClr val="44A5FF"/>
                  </a:solidFill>
                  <a:latin typeface="Arial"/>
                  <a:ea typeface="Arial"/>
                  <a:cs typeface="Arial"/>
                  <a:sym typeface="Arial"/>
                </a:rPr>
                <a:t>PROMPT CONSTRUCTION</a:t>
              </a:r>
              <a:endParaRPr sz="975"/>
            </a:p>
          </p:txBody>
        </p:sp>
        <p:cxnSp>
          <p:nvCxnSpPr>
            <p:cNvPr id="194" name="Google Shape;194;p6"/>
            <p:cNvCxnSpPr/>
            <p:nvPr/>
          </p:nvCxnSpPr>
          <p:spPr>
            <a:xfrm>
              <a:off x="1753230" y="1429084"/>
              <a:ext cx="3608671" cy="0"/>
            </a:xfrm>
            <a:prstGeom prst="straightConnector1">
              <a:avLst/>
            </a:prstGeom>
            <a:noFill/>
            <a:ln cap="flat" cmpd="sng" w="8850">
              <a:solidFill>
                <a:srgbClr val="FFFFFF"/>
              </a:solidFill>
              <a:prstDash val="solid"/>
              <a:round/>
              <a:headEnd len="sm" w="sm" type="none"/>
              <a:tailEnd len="sm" w="sm" type="none"/>
            </a:ln>
          </p:spPr>
        </p:cxnSp>
      </p:grpSp>
      <p:grpSp>
        <p:nvGrpSpPr>
          <p:cNvPr id="195" name="Google Shape;195;p6"/>
          <p:cNvGrpSpPr/>
          <p:nvPr/>
        </p:nvGrpSpPr>
        <p:grpSpPr>
          <a:xfrm>
            <a:off x="117750" y="4471877"/>
            <a:ext cx="3876250" cy="2068936"/>
            <a:chOff x="0" y="-662147"/>
            <a:chExt cx="7076031" cy="3776809"/>
          </a:xfrm>
        </p:grpSpPr>
        <p:grpSp>
          <p:nvGrpSpPr>
            <p:cNvPr id="196" name="Google Shape;196;p6"/>
            <p:cNvGrpSpPr/>
            <p:nvPr/>
          </p:nvGrpSpPr>
          <p:grpSpPr>
            <a:xfrm>
              <a:off x="0" y="-662147"/>
              <a:ext cx="7076031" cy="3742705"/>
              <a:chOff x="0" y="-135489"/>
              <a:chExt cx="1447901" cy="765834"/>
            </a:xfrm>
          </p:grpSpPr>
          <p:sp>
            <p:nvSpPr>
              <p:cNvPr id="197" name="Google Shape;197;p6"/>
              <p:cNvSpPr/>
              <p:nvPr/>
            </p:nvSpPr>
            <p:spPr>
              <a:xfrm>
                <a:off x="0" y="-135489"/>
                <a:ext cx="1447901" cy="765834"/>
              </a:xfrm>
              <a:custGeom>
                <a:rect b="b" l="l" r="r" t="t"/>
                <a:pathLst>
                  <a:path extrusionOk="0" h="765834" w="1447901">
                    <a:moveTo>
                      <a:pt x="74399" y="0"/>
                    </a:moveTo>
                    <a:lnTo>
                      <a:pt x="1373502" y="0"/>
                    </a:lnTo>
                    <a:cubicBezTo>
                      <a:pt x="1393234" y="0"/>
                      <a:pt x="1412158" y="7838"/>
                      <a:pt x="1426110" y="21791"/>
                    </a:cubicBezTo>
                    <a:cubicBezTo>
                      <a:pt x="1440063" y="35744"/>
                      <a:pt x="1447901" y="54667"/>
                      <a:pt x="1447901" y="74399"/>
                    </a:cubicBezTo>
                    <a:lnTo>
                      <a:pt x="1447901" y="691435"/>
                    </a:lnTo>
                    <a:cubicBezTo>
                      <a:pt x="1447901" y="732525"/>
                      <a:pt x="1414592" y="765834"/>
                      <a:pt x="1373502" y="765834"/>
                    </a:cubicBezTo>
                    <a:lnTo>
                      <a:pt x="74399" y="765834"/>
                    </a:lnTo>
                    <a:cubicBezTo>
                      <a:pt x="33310" y="765834"/>
                      <a:pt x="0" y="732525"/>
                      <a:pt x="0" y="691435"/>
                    </a:cubicBezTo>
                    <a:lnTo>
                      <a:pt x="0" y="74399"/>
                    </a:lnTo>
                    <a:cubicBezTo>
                      <a:pt x="0" y="33310"/>
                      <a:pt x="33310" y="0"/>
                      <a:pt x="74399" y="0"/>
                    </a:cubicBezTo>
                    <a:close/>
                  </a:path>
                </a:pathLst>
              </a:custGeom>
              <a:solidFill>
                <a:srgbClr val="000000">
                  <a:alpha val="0"/>
                </a:srgbClr>
              </a:solidFill>
              <a:ln cap="rnd" cmpd="sng" w="13950">
                <a:solidFill>
                  <a:srgbClr val="FFFFFF"/>
                </a:solidFill>
                <a:prstDash val="solid"/>
                <a:round/>
                <a:headEnd len="sm" w="sm" type="none"/>
                <a:tailEnd len="sm" w="sm" type="none"/>
              </a:ln>
            </p:spPr>
            <p:txBody>
              <a:bodyPr anchorCtr="0" anchor="ctr" bIns="66750" lIns="66750" spcFirstLastPara="1" rIns="66750" wrap="square" tIns="66750">
                <a:noAutofit/>
              </a:bodyPr>
              <a:lstStyle/>
              <a:p>
                <a:pPr indent="0" lvl="0" marL="0" rtl="0" algn="l">
                  <a:spcBef>
                    <a:spcPts val="0"/>
                  </a:spcBef>
                  <a:spcAft>
                    <a:spcPts val="0"/>
                  </a:spcAft>
                  <a:buNone/>
                </a:pPr>
                <a:r>
                  <a:t/>
                </a:r>
                <a:endParaRPr/>
              </a:p>
            </p:txBody>
          </p:sp>
          <p:sp>
            <p:nvSpPr>
              <p:cNvPr id="198" name="Google Shape;198;p6"/>
              <p:cNvSpPr txBox="1"/>
              <p:nvPr/>
            </p:nvSpPr>
            <p:spPr>
              <a:xfrm>
                <a:off x="0" y="-111676"/>
                <a:ext cx="1447800" cy="718200"/>
              </a:xfrm>
              <a:prstGeom prst="rect">
                <a:avLst/>
              </a:prstGeom>
              <a:noFill/>
              <a:ln>
                <a:noFill/>
              </a:ln>
            </p:spPr>
            <p:txBody>
              <a:bodyPr anchorCtr="0" anchor="ctr" bIns="37125" lIns="37125" spcFirstLastPara="1" rIns="37125" wrap="square" tIns="37125">
                <a:noAutofit/>
              </a:bodyPr>
              <a:lstStyle/>
              <a:p>
                <a:pPr indent="0" lvl="0" marL="0" marR="0" rtl="0" algn="ctr">
                  <a:lnSpc>
                    <a:spcPct val="111722"/>
                  </a:lnSpc>
                  <a:spcBef>
                    <a:spcPts val="0"/>
                  </a:spcBef>
                  <a:spcAft>
                    <a:spcPts val="0"/>
                  </a:spcAft>
                  <a:buNone/>
                </a:pPr>
                <a:r>
                  <a:t/>
                </a:r>
                <a:endParaRPr b="0" i="0" sz="1314" u="none" cap="none" strike="noStrike">
                  <a:solidFill>
                    <a:schemeClr val="dk1"/>
                  </a:solidFill>
                  <a:latin typeface="Calibri"/>
                  <a:ea typeface="Calibri"/>
                  <a:cs typeface="Calibri"/>
                  <a:sym typeface="Calibri"/>
                </a:endParaRPr>
              </a:p>
            </p:txBody>
          </p:sp>
        </p:grpSp>
        <p:sp>
          <p:nvSpPr>
            <p:cNvPr id="199" name="Google Shape;199;p6"/>
            <p:cNvSpPr txBox="1"/>
            <p:nvPr/>
          </p:nvSpPr>
          <p:spPr>
            <a:xfrm>
              <a:off x="835417" y="1711562"/>
              <a:ext cx="5405100" cy="1403100"/>
            </a:xfrm>
            <a:prstGeom prst="rect">
              <a:avLst/>
            </a:prstGeom>
            <a:noFill/>
            <a:ln>
              <a:noFill/>
            </a:ln>
          </p:spPr>
          <p:txBody>
            <a:bodyPr anchorCtr="0" anchor="t" bIns="0" lIns="0" spcFirstLastPara="1" rIns="0" wrap="square" tIns="0">
              <a:spAutoFit/>
            </a:bodyPr>
            <a:lstStyle/>
            <a:p>
              <a:pPr indent="0" lvl="0" marL="0" marR="0" rtl="0" algn="ctr">
                <a:lnSpc>
                  <a:spcPct val="140022"/>
                </a:lnSpc>
                <a:spcBef>
                  <a:spcPts val="0"/>
                </a:spcBef>
                <a:spcAft>
                  <a:spcPts val="0"/>
                </a:spcAft>
                <a:buNone/>
              </a:pPr>
              <a:r>
                <a:rPr b="0" i="0" lang="en-US" sz="1313" u="none" cap="none" strike="noStrike">
                  <a:solidFill>
                    <a:srgbClr val="FFFFFF"/>
                  </a:solidFill>
                  <a:latin typeface="Arial"/>
                  <a:ea typeface="Arial"/>
                  <a:cs typeface="Arial"/>
                  <a:sym typeface="Arial"/>
                </a:rPr>
                <a:t>The constructed prompt is sent to the local Gemma-3 model via Ollama for reasoning and prediction.</a:t>
              </a:r>
              <a:endParaRPr sz="1022"/>
            </a:p>
          </p:txBody>
        </p:sp>
        <p:sp>
          <p:nvSpPr>
            <p:cNvPr id="200" name="Google Shape;200;p6"/>
            <p:cNvSpPr txBox="1"/>
            <p:nvPr/>
          </p:nvSpPr>
          <p:spPr>
            <a:xfrm>
              <a:off x="110009" y="294487"/>
              <a:ext cx="6716400" cy="12309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0" i="0" lang="en-US" sz="1825" u="none" cap="none" strike="noStrike">
                  <a:solidFill>
                    <a:srgbClr val="44A5FF"/>
                  </a:solidFill>
                  <a:latin typeface="Arial"/>
                  <a:ea typeface="Arial"/>
                  <a:cs typeface="Arial"/>
                  <a:sym typeface="Arial"/>
                </a:rPr>
                <a:t>LLM INFERENCE (GEMMA-3 / </a:t>
              </a:r>
              <a:r>
                <a:rPr lang="en-US" sz="1825">
                  <a:solidFill>
                    <a:srgbClr val="44A5FF"/>
                  </a:solidFill>
                </a:rPr>
                <a:t>Qwen2.5 </a:t>
              </a:r>
              <a:r>
                <a:rPr b="0" i="0" lang="en-US" sz="1825" u="none" cap="none" strike="noStrike">
                  <a:solidFill>
                    <a:srgbClr val="44A5FF"/>
                  </a:solidFill>
                  <a:latin typeface="Arial"/>
                  <a:ea typeface="Arial"/>
                  <a:cs typeface="Arial"/>
                  <a:sym typeface="Arial"/>
                </a:rPr>
                <a:t> )</a:t>
              </a:r>
              <a:endParaRPr sz="1022"/>
            </a:p>
          </p:txBody>
        </p:sp>
        <p:cxnSp>
          <p:nvCxnSpPr>
            <p:cNvPr id="201" name="Google Shape;201;p6"/>
            <p:cNvCxnSpPr/>
            <p:nvPr/>
          </p:nvCxnSpPr>
          <p:spPr>
            <a:xfrm>
              <a:off x="1565648" y="1460737"/>
              <a:ext cx="3608671" cy="0"/>
            </a:xfrm>
            <a:prstGeom prst="straightConnector1">
              <a:avLst/>
            </a:prstGeom>
            <a:noFill/>
            <a:ln cap="flat" cmpd="sng" w="9275">
              <a:solidFill>
                <a:srgbClr val="FFFFFF"/>
              </a:solidFill>
              <a:prstDash val="solid"/>
              <a:round/>
              <a:headEnd len="sm" w="sm" type="none"/>
              <a:tailEnd len="sm" w="sm" type="none"/>
            </a:ln>
          </p:spPr>
        </p:cxnSp>
      </p:grpSp>
      <p:grpSp>
        <p:nvGrpSpPr>
          <p:cNvPr id="202" name="Google Shape;202;p6"/>
          <p:cNvGrpSpPr/>
          <p:nvPr/>
        </p:nvGrpSpPr>
        <p:grpSpPr>
          <a:xfrm>
            <a:off x="3994025" y="7120925"/>
            <a:ext cx="4817547" cy="4907289"/>
            <a:chOff x="0" y="0"/>
            <a:chExt cx="8121287" cy="8148935"/>
          </a:xfrm>
        </p:grpSpPr>
        <p:grpSp>
          <p:nvGrpSpPr>
            <p:cNvPr id="203" name="Google Shape;203;p6"/>
            <p:cNvGrpSpPr/>
            <p:nvPr/>
          </p:nvGrpSpPr>
          <p:grpSpPr>
            <a:xfrm>
              <a:off x="0" y="0"/>
              <a:ext cx="8121287" cy="8148935"/>
              <a:chOff x="0" y="0"/>
              <a:chExt cx="1661782" cy="1667440"/>
            </a:xfrm>
          </p:grpSpPr>
          <p:sp>
            <p:nvSpPr>
              <p:cNvPr id="204" name="Google Shape;204;p6"/>
              <p:cNvSpPr/>
              <p:nvPr/>
            </p:nvSpPr>
            <p:spPr>
              <a:xfrm>
                <a:off x="0" y="0"/>
                <a:ext cx="1447901" cy="678520"/>
              </a:xfrm>
              <a:custGeom>
                <a:rect b="b" l="l" r="r" t="t"/>
                <a:pathLst>
                  <a:path extrusionOk="0" h="741552" w="1447901">
                    <a:moveTo>
                      <a:pt x="74399" y="0"/>
                    </a:moveTo>
                    <a:lnTo>
                      <a:pt x="1373502" y="0"/>
                    </a:lnTo>
                    <a:cubicBezTo>
                      <a:pt x="1393234" y="0"/>
                      <a:pt x="1412158" y="7838"/>
                      <a:pt x="1426110" y="21791"/>
                    </a:cubicBezTo>
                    <a:cubicBezTo>
                      <a:pt x="1440063" y="35744"/>
                      <a:pt x="1447901" y="54667"/>
                      <a:pt x="1447901" y="74399"/>
                    </a:cubicBezTo>
                    <a:lnTo>
                      <a:pt x="1447901" y="667152"/>
                    </a:lnTo>
                    <a:cubicBezTo>
                      <a:pt x="1447901" y="708242"/>
                      <a:pt x="1414592" y="741552"/>
                      <a:pt x="1373502" y="741552"/>
                    </a:cubicBezTo>
                    <a:lnTo>
                      <a:pt x="74399" y="741552"/>
                    </a:lnTo>
                    <a:cubicBezTo>
                      <a:pt x="33310" y="741552"/>
                      <a:pt x="0" y="708242"/>
                      <a:pt x="0" y="667152"/>
                    </a:cubicBezTo>
                    <a:lnTo>
                      <a:pt x="0" y="74399"/>
                    </a:lnTo>
                    <a:cubicBezTo>
                      <a:pt x="0" y="33310"/>
                      <a:pt x="33310" y="0"/>
                      <a:pt x="74399" y="0"/>
                    </a:cubicBezTo>
                    <a:close/>
                  </a:path>
                </a:pathLst>
              </a:custGeom>
              <a:solidFill>
                <a:srgbClr val="000000">
                  <a:alpha val="0"/>
                </a:srgbClr>
              </a:solidFill>
              <a:ln cap="rnd" cmpd="sng" w="15300">
                <a:solidFill>
                  <a:srgbClr val="FFFFFF"/>
                </a:solidFill>
                <a:prstDash val="solid"/>
                <a:round/>
                <a:headEnd len="sm" w="sm" type="none"/>
                <a:tailEnd len="sm" w="sm" type="none"/>
              </a:ln>
            </p:spPr>
            <p:txBody>
              <a:bodyPr anchorCtr="0" anchor="ctr" bIns="73400" lIns="73400" spcFirstLastPara="1" rIns="73400" wrap="square" tIns="73400">
                <a:noAutofit/>
              </a:bodyPr>
              <a:lstStyle/>
              <a:p>
                <a:pPr indent="0" lvl="0" marL="0" rtl="0" algn="l">
                  <a:spcBef>
                    <a:spcPts val="0"/>
                  </a:spcBef>
                  <a:spcAft>
                    <a:spcPts val="0"/>
                  </a:spcAft>
                  <a:buNone/>
                </a:pPr>
                <a:r>
                  <a:t/>
                </a:r>
                <a:endParaRPr/>
              </a:p>
            </p:txBody>
          </p:sp>
          <p:sp>
            <p:nvSpPr>
              <p:cNvPr id="205" name="Google Shape;205;p6"/>
              <p:cNvSpPr txBox="1"/>
              <p:nvPr/>
            </p:nvSpPr>
            <p:spPr>
              <a:xfrm>
                <a:off x="213982" y="973540"/>
                <a:ext cx="1447800" cy="693900"/>
              </a:xfrm>
              <a:prstGeom prst="rect">
                <a:avLst/>
              </a:prstGeom>
              <a:noFill/>
              <a:ln>
                <a:noFill/>
              </a:ln>
            </p:spPr>
            <p:txBody>
              <a:bodyPr anchorCtr="0" anchor="ctr" bIns="40775" lIns="40775" spcFirstLastPara="1" rIns="40775" wrap="square" tIns="40775">
                <a:noAutofit/>
              </a:bodyPr>
              <a:lstStyle/>
              <a:p>
                <a:pPr indent="0" lvl="0" marL="0" marR="0" rtl="0" algn="ctr">
                  <a:lnSpc>
                    <a:spcPct val="111722"/>
                  </a:lnSpc>
                  <a:spcBef>
                    <a:spcPts val="0"/>
                  </a:spcBef>
                  <a:spcAft>
                    <a:spcPts val="0"/>
                  </a:spcAft>
                  <a:buNone/>
                </a:pPr>
                <a:r>
                  <a:t/>
                </a:r>
                <a:endParaRPr b="0" i="0" sz="1445" u="none" cap="none" strike="noStrike">
                  <a:solidFill>
                    <a:schemeClr val="dk1"/>
                  </a:solidFill>
                  <a:latin typeface="Calibri"/>
                  <a:ea typeface="Calibri"/>
                  <a:cs typeface="Calibri"/>
                  <a:sym typeface="Calibri"/>
                </a:endParaRPr>
              </a:p>
            </p:txBody>
          </p:sp>
        </p:grpSp>
        <p:sp>
          <p:nvSpPr>
            <p:cNvPr id="206" name="Google Shape;206;p6"/>
            <p:cNvSpPr txBox="1"/>
            <p:nvPr/>
          </p:nvSpPr>
          <p:spPr>
            <a:xfrm>
              <a:off x="835417" y="1676288"/>
              <a:ext cx="5405100" cy="1920000"/>
            </a:xfrm>
            <a:prstGeom prst="rect">
              <a:avLst/>
            </a:prstGeom>
            <a:noFill/>
            <a:ln>
              <a:noFill/>
            </a:ln>
          </p:spPr>
          <p:txBody>
            <a:bodyPr anchorCtr="0" anchor="t" bIns="0" lIns="0" spcFirstLastPara="1" rIns="0" wrap="square" tIns="0">
              <a:spAutoFit/>
            </a:bodyPr>
            <a:lstStyle/>
            <a:p>
              <a:pPr indent="0" lvl="0" marL="0" marR="0" rtl="0" algn="ctr">
                <a:lnSpc>
                  <a:spcPct val="140022"/>
                </a:lnSpc>
                <a:spcBef>
                  <a:spcPts val="0"/>
                </a:spcBef>
                <a:spcAft>
                  <a:spcPts val="0"/>
                </a:spcAft>
                <a:buNone/>
              </a:pPr>
              <a:r>
                <a:rPr b="0" i="0" lang="en-US" sz="1444" u="none" cap="none" strike="noStrike">
                  <a:solidFill>
                    <a:srgbClr val="FFFFFF"/>
                  </a:solidFill>
                  <a:latin typeface="Arial"/>
                  <a:ea typeface="Arial"/>
                  <a:cs typeface="Arial"/>
                  <a:sym typeface="Arial"/>
                </a:rPr>
                <a:t>Predicted intents are evaluated using standard classification metrics, and performance is compared across different LLMs.</a:t>
              </a:r>
              <a:endParaRPr sz="1124"/>
            </a:p>
          </p:txBody>
        </p:sp>
        <p:sp>
          <p:nvSpPr>
            <p:cNvPr id="207" name="Google Shape;207;p6"/>
            <p:cNvSpPr txBox="1"/>
            <p:nvPr/>
          </p:nvSpPr>
          <p:spPr>
            <a:xfrm>
              <a:off x="277828" y="138831"/>
              <a:ext cx="6576600" cy="11820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1926" u="none" cap="none" strike="noStrike">
                  <a:solidFill>
                    <a:srgbClr val="44A5FF"/>
                  </a:solidFill>
                  <a:latin typeface="Arial"/>
                  <a:ea typeface="Arial"/>
                  <a:cs typeface="Arial"/>
                  <a:sym typeface="Arial"/>
                </a:rPr>
                <a:t>EVALUATION AND MODEL PERFORMANCE COMPARISON</a:t>
              </a:r>
              <a:endParaRPr sz="1124"/>
            </a:p>
          </p:txBody>
        </p:sp>
        <p:cxnSp>
          <p:nvCxnSpPr>
            <p:cNvPr id="208" name="Google Shape;208;p6"/>
            <p:cNvCxnSpPr/>
            <p:nvPr/>
          </p:nvCxnSpPr>
          <p:spPr>
            <a:xfrm>
              <a:off x="1761832" y="1324483"/>
              <a:ext cx="3608671" cy="0"/>
            </a:xfrm>
            <a:prstGeom prst="straightConnector1">
              <a:avLst/>
            </a:prstGeom>
            <a:noFill/>
            <a:ln cap="flat" cmpd="sng" w="10200">
              <a:solidFill>
                <a:srgbClr val="FFFFFF"/>
              </a:solidFill>
              <a:prstDash val="solid"/>
              <a:round/>
              <a:headEnd len="sm" w="sm" type="none"/>
              <a:tailEnd len="sm" w="sm" type="none"/>
            </a:ln>
          </p:spPr>
        </p:cxnSp>
      </p:grpSp>
      <p:grpSp>
        <p:nvGrpSpPr>
          <p:cNvPr id="209" name="Google Shape;209;p6"/>
          <p:cNvGrpSpPr/>
          <p:nvPr/>
        </p:nvGrpSpPr>
        <p:grpSpPr>
          <a:xfrm>
            <a:off x="4025700" y="4431851"/>
            <a:ext cx="3974645" cy="2148999"/>
            <a:chOff x="0" y="0"/>
            <a:chExt cx="7076100" cy="3700704"/>
          </a:xfrm>
        </p:grpSpPr>
        <p:grpSp>
          <p:nvGrpSpPr>
            <p:cNvPr id="210" name="Google Shape;210;p6"/>
            <p:cNvGrpSpPr/>
            <p:nvPr/>
          </p:nvGrpSpPr>
          <p:grpSpPr>
            <a:xfrm>
              <a:off x="0" y="0"/>
              <a:ext cx="7076031" cy="3700704"/>
              <a:chOff x="0" y="0"/>
              <a:chExt cx="1447901" cy="757240"/>
            </a:xfrm>
          </p:grpSpPr>
          <p:sp>
            <p:nvSpPr>
              <p:cNvPr id="211" name="Google Shape;211;p6"/>
              <p:cNvSpPr/>
              <p:nvPr/>
            </p:nvSpPr>
            <p:spPr>
              <a:xfrm>
                <a:off x="0" y="0"/>
                <a:ext cx="1447901" cy="757240"/>
              </a:xfrm>
              <a:custGeom>
                <a:rect b="b" l="l" r="r" t="t"/>
                <a:pathLst>
                  <a:path extrusionOk="0" h="757240" w="1447901">
                    <a:moveTo>
                      <a:pt x="74399" y="0"/>
                    </a:moveTo>
                    <a:lnTo>
                      <a:pt x="1373502" y="0"/>
                    </a:lnTo>
                    <a:cubicBezTo>
                      <a:pt x="1393234" y="0"/>
                      <a:pt x="1412158" y="7838"/>
                      <a:pt x="1426110" y="21791"/>
                    </a:cubicBezTo>
                    <a:cubicBezTo>
                      <a:pt x="1440063" y="35744"/>
                      <a:pt x="1447901" y="54667"/>
                      <a:pt x="1447901" y="74399"/>
                    </a:cubicBezTo>
                    <a:lnTo>
                      <a:pt x="1447901" y="682841"/>
                    </a:lnTo>
                    <a:cubicBezTo>
                      <a:pt x="1447901" y="723930"/>
                      <a:pt x="1414592" y="757240"/>
                      <a:pt x="1373502" y="757240"/>
                    </a:cubicBezTo>
                    <a:lnTo>
                      <a:pt x="74399" y="757240"/>
                    </a:lnTo>
                    <a:cubicBezTo>
                      <a:pt x="33310" y="757240"/>
                      <a:pt x="0" y="723930"/>
                      <a:pt x="0" y="682841"/>
                    </a:cubicBezTo>
                    <a:lnTo>
                      <a:pt x="0" y="74399"/>
                    </a:lnTo>
                    <a:cubicBezTo>
                      <a:pt x="0" y="33310"/>
                      <a:pt x="33310" y="0"/>
                      <a:pt x="74399" y="0"/>
                    </a:cubicBezTo>
                    <a:close/>
                  </a:path>
                </a:pathLst>
              </a:custGeom>
              <a:solidFill>
                <a:srgbClr val="000000">
                  <a:alpha val="0"/>
                </a:srgbClr>
              </a:solidFill>
              <a:ln cap="rnd" cmpd="sng" w="14750">
                <a:solidFill>
                  <a:srgbClr val="FFFFFF"/>
                </a:solidFill>
                <a:prstDash val="solid"/>
                <a:round/>
                <a:headEnd len="sm" w="sm" type="none"/>
                <a:tailEnd len="sm" w="sm" type="none"/>
              </a:ln>
            </p:spPr>
            <p:txBody>
              <a:bodyPr anchorCtr="0" anchor="t" bIns="35400" lIns="70775" spcFirstLastPara="1" rIns="70775" wrap="square" tIns="35400">
                <a:noAutofit/>
              </a:bodyPr>
              <a:lstStyle/>
              <a:p>
                <a:pPr indent="0" lvl="0" marL="0" marR="0" rtl="0" algn="l">
                  <a:spcBef>
                    <a:spcPts val="0"/>
                  </a:spcBef>
                  <a:spcAft>
                    <a:spcPts val="0"/>
                  </a:spcAft>
                  <a:buNone/>
                </a:pPr>
                <a:r>
                  <a:t/>
                </a:r>
                <a:endParaRPr sz="1393">
                  <a:solidFill>
                    <a:schemeClr val="dk1"/>
                  </a:solidFill>
                  <a:latin typeface="Calibri"/>
                  <a:ea typeface="Calibri"/>
                  <a:cs typeface="Calibri"/>
                  <a:sym typeface="Calibri"/>
                </a:endParaRPr>
              </a:p>
            </p:txBody>
          </p:sp>
          <p:sp>
            <p:nvSpPr>
              <p:cNvPr id="212" name="Google Shape;212;p6"/>
              <p:cNvSpPr txBox="1"/>
              <p:nvPr/>
            </p:nvSpPr>
            <p:spPr>
              <a:xfrm>
                <a:off x="0" y="47625"/>
                <a:ext cx="1447901" cy="709615"/>
              </a:xfrm>
              <a:prstGeom prst="rect">
                <a:avLst/>
              </a:prstGeom>
              <a:noFill/>
              <a:ln>
                <a:noFill/>
              </a:ln>
            </p:spPr>
            <p:txBody>
              <a:bodyPr anchorCtr="0" anchor="ctr" bIns="39350" lIns="39350" spcFirstLastPara="1" rIns="39350" wrap="square" tIns="39350">
                <a:noAutofit/>
              </a:bodyPr>
              <a:lstStyle/>
              <a:p>
                <a:pPr indent="0" lvl="0" marL="0" marR="0" rtl="0" algn="ctr">
                  <a:lnSpc>
                    <a:spcPct val="111722"/>
                  </a:lnSpc>
                  <a:spcBef>
                    <a:spcPts val="0"/>
                  </a:spcBef>
                  <a:spcAft>
                    <a:spcPts val="0"/>
                  </a:spcAft>
                  <a:buNone/>
                </a:pPr>
                <a:r>
                  <a:t/>
                </a:r>
                <a:endParaRPr sz="1393">
                  <a:solidFill>
                    <a:schemeClr val="dk1"/>
                  </a:solidFill>
                  <a:latin typeface="Calibri"/>
                  <a:ea typeface="Calibri"/>
                  <a:cs typeface="Calibri"/>
                  <a:sym typeface="Calibri"/>
                </a:endParaRPr>
              </a:p>
            </p:txBody>
          </p:sp>
        </p:grpSp>
        <p:sp>
          <p:nvSpPr>
            <p:cNvPr id="213" name="Google Shape;213;p6"/>
            <p:cNvSpPr txBox="1"/>
            <p:nvPr/>
          </p:nvSpPr>
          <p:spPr>
            <a:xfrm>
              <a:off x="667385" y="1604555"/>
              <a:ext cx="5405100" cy="1920300"/>
            </a:xfrm>
            <a:prstGeom prst="rect">
              <a:avLst/>
            </a:prstGeom>
            <a:noFill/>
            <a:ln>
              <a:noFill/>
            </a:ln>
          </p:spPr>
          <p:txBody>
            <a:bodyPr anchorCtr="0" anchor="t" bIns="0" lIns="0" spcFirstLastPara="1" rIns="0" wrap="square" tIns="0">
              <a:spAutoFit/>
            </a:bodyPr>
            <a:lstStyle/>
            <a:p>
              <a:pPr indent="0" lvl="0" marL="0" marR="0" rtl="0" algn="ctr">
                <a:lnSpc>
                  <a:spcPct val="140022"/>
                </a:lnSpc>
                <a:spcBef>
                  <a:spcPts val="0"/>
                </a:spcBef>
                <a:spcAft>
                  <a:spcPts val="0"/>
                </a:spcAft>
                <a:buNone/>
              </a:pPr>
              <a:r>
                <a:rPr lang="en-US" sz="1393">
                  <a:solidFill>
                    <a:srgbClr val="FFFFFF"/>
                  </a:solidFill>
                  <a:latin typeface="Arial"/>
                  <a:ea typeface="Arial"/>
                  <a:cs typeface="Arial"/>
                  <a:sym typeface="Arial"/>
                </a:rPr>
                <a:t>The LLM generates a structured JSON response containing the predicted intent, confidence score, and entities.</a:t>
              </a:r>
              <a:endParaRPr sz="1084"/>
            </a:p>
          </p:txBody>
        </p:sp>
        <p:sp>
          <p:nvSpPr>
            <p:cNvPr id="214" name="Google Shape;214;p6"/>
            <p:cNvSpPr txBox="1"/>
            <p:nvPr/>
          </p:nvSpPr>
          <p:spPr>
            <a:xfrm>
              <a:off x="0" y="610253"/>
              <a:ext cx="7076100" cy="492600"/>
            </a:xfrm>
            <a:prstGeom prst="rect">
              <a:avLst/>
            </a:prstGeom>
            <a:noFill/>
            <a:ln>
              <a:noFill/>
            </a:ln>
          </p:spPr>
          <p:txBody>
            <a:bodyPr anchorCtr="0" anchor="t" bIns="0" lIns="0" spcFirstLastPara="1" rIns="0" wrap="square" tIns="0">
              <a:spAutoFit/>
            </a:bodyPr>
            <a:lstStyle/>
            <a:p>
              <a:pPr indent="0" lvl="0" marL="0" marR="0" rtl="0" algn="ctr">
                <a:lnSpc>
                  <a:spcPct val="122500"/>
                </a:lnSpc>
                <a:spcBef>
                  <a:spcPts val="0"/>
                </a:spcBef>
                <a:spcAft>
                  <a:spcPts val="0"/>
                </a:spcAft>
                <a:buNone/>
              </a:pPr>
              <a:r>
                <a:rPr lang="en-US" sz="1858">
                  <a:solidFill>
                    <a:srgbClr val="44A5FF"/>
                  </a:solidFill>
                  <a:latin typeface="Arial"/>
                  <a:ea typeface="Arial"/>
                  <a:cs typeface="Arial"/>
                  <a:sym typeface="Arial"/>
                </a:rPr>
                <a:t>STRUCTURED JSON GENERATION</a:t>
              </a:r>
              <a:endParaRPr sz="1084"/>
            </a:p>
          </p:txBody>
        </p:sp>
        <p:cxnSp>
          <p:nvCxnSpPr>
            <p:cNvPr id="215" name="Google Shape;215;p6"/>
            <p:cNvCxnSpPr/>
            <p:nvPr/>
          </p:nvCxnSpPr>
          <p:spPr>
            <a:xfrm>
              <a:off x="1753230" y="1353730"/>
              <a:ext cx="3608671" cy="0"/>
            </a:xfrm>
            <a:prstGeom prst="straightConnector1">
              <a:avLst/>
            </a:prstGeom>
            <a:noFill/>
            <a:ln cap="flat" cmpd="sng" w="9825">
              <a:solidFill>
                <a:srgbClr val="FFFFFF"/>
              </a:solidFill>
              <a:prstDash val="solid"/>
              <a:round/>
              <a:headEnd len="sm" w="sm" type="none"/>
              <a:tailEnd len="sm" w="sm" type="none"/>
            </a:ln>
          </p:spPr>
        </p:cxnSp>
      </p:grpSp>
      <p:grpSp>
        <p:nvGrpSpPr>
          <p:cNvPr id="216" name="Google Shape;216;p6"/>
          <p:cNvGrpSpPr/>
          <p:nvPr/>
        </p:nvGrpSpPr>
        <p:grpSpPr>
          <a:xfrm>
            <a:off x="117725" y="7120925"/>
            <a:ext cx="3876288" cy="1977946"/>
            <a:chOff x="0" y="0"/>
            <a:chExt cx="7076100" cy="3610709"/>
          </a:xfrm>
        </p:grpSpPr>
        <p:grpSp>
          <p:nvGrpSpPr>
            <p:cNvPr id="217" name="Google Shape;217;p6"/>
            <p:cNvGrpSpPr/>
            <p:nvPr/>
          </p:nvGrpSpPr>
          <p:grpSpPr>
            <a:xfrm>
              <a:off x="0" y="0"/>
              <a:ext cx="7076031" cy="3610709"/>
              <a:chOff x="0" y="0"/>
              <a:chExt cx="1447901" cy="738825"/>
            </a:xfrm>
          </p:grpSpPr>
          <p:sp>
            <p:nvSpPr>
              <p:cNvPr id="218" name="Google Shape;218;p6"/>
              <p:cNvSpPr/>
              <p:nvPr/>
            </p:nvSpPr>
            <p:spPr>
              <a:xfrm>
                <a:off x="0" y="0"/>
                <a:ext cx="1447901" cy="738799"/>
              </a:xfrm>
              <a:custGeom>
                <a:rect b="b" l="l" r="r" t="t"/>
                <a:pathLst>
                  <a:path extrusionOk="0" h="738799" w="1447901">
                    <a:moveTo>
                      <a:pt x="74399" y="0"/>
                    </a:moveTo>
                    <a:lnTo>
                      <a:pt x="1373502" y="0"/>
                    </a:lnTo>
                    <a:cubicBezTo>
                      <a:pt x="1393234" y="0"/>
                      <a:pt x="1412158" y="7838"/>
                      <a:pt x="1426110" y="21791"/>
                    </a:cubicBezTo>
                    <a:cubicBezTo>
                      <a:pt x="1440063" y="35744"/>
                      <a:pt x="1447901" y="54667"/>
                      <a:pt x="1447901" y="74399"/>
                    </a:cubicBezTo>
                    <a:lnTo>
                      <a:pt x="1447901" y="664400"/>
                    </a:lnTo>
                    <a:cubicBezTo>
                      <a:pt x="1447901" y="705490"/>
                      <a:pt x="1414592" y="738799"/>
                      <a:pt x="1373502" y="738799"/>
                    </a:cubicBezTo>
                    <a:lnTo>
                      <a:pt x="74399" y="738799"/>
                    </a:lnTo>
                    <a:cubicBezTo>
                      <a:pt x="33310" y="738799"/>
                      <a:pt x="0" y="705490"/>
                      <a:pt x="0" y="664400"/>
                    </a:cubicBezTo>
                    <a:lnTo>
                      <a:pt x="0" y="74399"/>
                    </a:lnTo>
                    <a:cubicBezTo>
                      <a:pt x="0" y="33310"/>
                      <a:pt x="33310" y="0"/>
                      <a:pt x="74399" y="0"/>
                    </a:cubicBezTo>
                    <a:close/>
                  </a:path>
                </a:pathLst>
              </a:custGeom>
              <a:solidFill>
                <a:srgbClr val="000000">
                  <a:alpha val="0"/>
                </a:srgbClr>
              </a:solidFill>
              <a:ln cap="rnd" cmpd="sng" w="13925">
                <a:solidFill>
                  <a:srgbClr val="FFFFFF"/>
                </a:solidFill>
                <a:prstDash val="solid"/>
                <a:round/>
                <a:headEnd len="sm" w="sm" type="none"/>
                <a:tailEnd len="sm" w="sm" type="none"/>
              </a:ln>
            </p:spPr>
            <p:txBody>
              <a:bodyPr anchorCtr="0" anchor="ctr" bIns="66775" lIns="66775" spcFirstLastPara="1" rIns="66775" wrap="square" tIns="66775">
                <a:noAutofit/>
              </a:bodyPr>
              <a:lstStyle/>
              <a:p>
                <a:pPr indent="0" lvl="0" marL="0" rtl="0" algn="l">
                  <a:spcBef>
                    <a:spcPts val="0"/>
                  </a:spcBef>
                  <a:spcAft>
                    <a:spcPts val="0"/>
                  </a:spcAft>
                  <a:buNone/>
                </a:pPr>
                <a:r>
                  <a:t/>
                </a:r>
                <a:endParaRPr/>
              </a:p>
            </p:txBody>
          </p:sp>
          <p:sp>
            <p:nvSpPr>
              <p:cNvPr id="219" name="Google Shape;219;p6"/>
              <p:cNvSpPr txBox="1"/>
              <p:nvPr/>
            </p:nvSpPr>
            <p:spPr>
              <a:xfrm>
                <a:off x="0" y="47625"/>
                <a:ext cx="1447800" cy="691200"/>
              </a:xfrm>
              <a:prstGeom prst="rect">
                <a:avLst/>
              </a:prstGeom>
              <a:noFill/>
              <a:ln>
                <a:noFill/>
              </a:ln>
            </p:spPr>
            <p:txBody>
              <a:bodyPr anchorCtr="0" anchor="ctr" bIns="37100" lIns="37100" spcFirstLastPara="1" rIns="37100" wrap="square" tIns="37100">
                <a:noAutofit/>
              </a:bodyPr>
              <a:lstStyle/>
              <a:p>
                <a:pPr indent="0" lvl="0" marL="0" marR="0" rtl="0" algn="ctr">
                  <a:lnSpc>
                    <a:spcPct val="111722"/>
                  </a:lnSpc>
                  <a:spcBef>
                    <a:spcPts val="0"/>
                  </a:spcBef>
                  <a:spcAft>
                    <a:spcPts val="0"/>
                  </a:spcAft>
                  <a:buNone/>
                </a:pPr>
                <a:r>
                  <a:t/>
                </a:r>
                <a:endParaRPr sz="1314">
                  <a:solidFill>
                    <a:schemeClr val="dk1"/>
                  </a:solidFill>
                  <a:latin typeface="Calibri"/>
                  <a:ea typeface="Calibri"/>
                  <a:cs typeface="Calibri"/>
                  <a:sym typeface="Calibri"/>
                </a:endParaRPr>
              </a:p>
            </p:txBody>
          </p:sp>
        </p:grpSp>
        <p:sp>
          <p:nvSpPr>
            <p:cNvPr id="220" name="Google Shape;220;p6"/>
            <p:cNvSpPr txBox="1"/>
            <p:nvPr/>
          </p:nvSpPr>
          <p:spPr>
            <a:xfrm>
              <a:off x="835417" y="1757666"/>
              <a:ext cx="5405100" cy="1403100"/>
            </a:xfrm>
            <a:prstGeom prst="rect">
              <a:avLst/>
            </a:prstGeom>
            <a:noFill/>
            <a:ln>
              <a:noFill/>
            </a:ln>
          </p:spPr>
          <p:txBody>
            <a:bodyPr anchorCtr="0" anchor="t" bIns="0" lIns="0" spcFirstLastPara="1" rIns="0" wrap="square" tIns="0">
              <a:spAutoFit/>
            </a:bodyPr>
            <a:lstStyle/>
            <a:p>
              <a:pPr indent="0" lvl="0" marL="0" marR="0" rtl="0" algn="ctr">
                <a:lnSpc>
                  <a:spcPct val="140022"/>
                </a:lnSpc>
                <a:spcBef>
                  <a:spcPts val="0"/>
                </a:spcBef>
                <a:spcAft>
                  <a:spcPts val="0"/>
                </a:spcAft>
                <a:buNone/>
              </a:pPr>
              <a:r>
                <a:rPr lang="en-US" sz="1313">
                  <a:solidFill>
                    <a:srgbClr val="FFFFFF"/>
                  </a:solidFill>
                  <a:latin typeface="Arial"/>
                  <a:ea typeface="Arial"/>
                  <a:cs typeface="Arial"/>
                  <a:sym typeface="Arial"/>
                </a:rPr>
                <a:t>The JSON output is parsed, validated, and extracted to ensure correctness and reliability.</a:t>
              </a:r>
              <a:endParaRPr sz="1022"/>
            </a:p>
          </p:txBody>
        </p:sp>
        <p:sp>
          <p:nvSpPr>
            <p:cNvPr id="221" name="Google Shape;221;p6"/>
            <p:cNvSpPr txBox="1"/>
            <p:nvPr/>
          </p:nvSpPr>
          <p:spPr>
            <a:xfrm>
              <a:off x="0" y="485951"/>
              <a:ext cx="7076100" cy="471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1679">
                  <a:solidFill>
                    <a:srgbClr val="44A5FF"/>
                  </a:solidFill>
                  <a:latin typeface="Arial"/>
                  <a:ea typeface="Arial"/>
                  <a:cs typeface="Arial"/>
                  <a:sym typeface="Arial"/>
                </a:rPr>
                <a:t>OUTPUT PARSING &amp; VALIDATION</a:t>
              </a:r>
              <a:endParaRPr sz="1022"/>
            </a:p>
          </p:txBody>
        </p:sp>
        <p:cxnSp>
          <p:nvCxnSpPr>
            <p:cNvPr id="222" name="Google Shape;222;p6"/>
            <p:cNvCxnSpPr/>
            <p:nvPr/>
          </p:nvCxnSpPr>
          <p:spPr>
            <a:xfrm>
              <a:off x="1733680" y="1397187"/>
              <a:ext cx="3608671" cy="0"/>
            </a:xfrm>
            <a:prstGeom prst="straightConnector1">
              <a:avLst/>
            </a:prstGeom>
            <a:noFill/>
            <a:ln cap="flat" cmpd="sng" w="9275">
              <a:solidFill>
                <a:srgbClr val="FFFFFF"/>
              </a:solidFill>
              <a:prstDash val="solid"/>
              <a:round/>
              <a:headEnd len="sm" w="sm" type="none"/>
              <a:tailEnd len="sm" w="sm" type="none"/>
            </a:ln>
          </p:spPr>
        </p:cxnSp>
      </p:grpSp>
      <p:sp>
        <p:nvSpPr>
          <p:cNvPr id="223" name="Google Shape;223;p6"/>
          <p:cNvSpPr/>
          <p:nvPr/>
        </p:nvSpPr>
        <p:spPr>
          <a:xfrm>
            <a:off x="8218250" y="2031400"/>
            <a:ext cx="10069762" cy="6949894"/>
          </a:xfrm>
          <a:custGeom>
            <a:rect b="b" l="l" r="r" t="t"/>
            <a:pathLst>
              <a:path extrusionOk="0" h="10108936" w="11346211">
                <a:moveTo>
                  <a:pt x="0" y="0"/>
                </a:moveTo>
                <a:lnTo>
                  <a:pt x="11346211" y="0"/>
                </a:lnTo>
                <a:lnTo>
                  <a:pt x="11346211" y="10108936"/>
                </a:lnTo>
                <a:lnTo>
                  <a:pt x="0" y="10108936"/>
                </a:lnTo>
                <a:lnTo>
                  <a:pt x="0" y="0"/>
                </a:lnTo>
                <a:close/>
              </a:path>
            </a:pathLst>
          </a:custGeom>
          <a:blipFill rotWithShape="1">
            <a:blip r:embed="rId6">
              <a:alphaModFix/>
            </a:blip>
            <a:stretch>
              <a:fillRect b="-6119" l="0" r="0" t="-6119"/>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153C"/>
        </a:solidFill>
      </p:bgPr>
    </p:bg>
    <p:spTree>
      <p:nvGrpSpPr>
        <p:cNvPr id="227" name="Shape 227"/>
        <p:cNvGrpSpPr/>
        <p:nvPr/>
      </p:nvGrpSpPr>
      <p:grpSpPr>
        <a:xfrm>
          <a:off x="0" y="0"/>
          <a:ext cx="0" cy="0"/>
          <a:chOff x="0" y="0"/>
          <a:chExt cx="0" cy="0"/>
        </a:xfrm>
      </p:grpSpPr>
      <p:sp>
        <p:nvSpPr>
          <p:cNvPr id="228" name="Google Shape;228;p8"/>
          <p:cNvSpPr/>
          <p:nvPr/>
        </p:nvSpPr>
        <p:spPr>
          <a:xfrm>
            <a:off x="13435909" y="-121288"/>
            <a:ext cx="7139284" cy="9379588"/>
          </a:xfrm>
          <a:custGeom>
            <a:rect b="b" l="l" r="r" t="t"/>
            <a:pathLst>
              <a:path extrusionOk="0" h="9379588" w="7139284">
                <a:moveTo>
                  <a:pt x="0" y="0"/>
                </a:moveTo>
                <a:lnTo>
                  <a:pt x="7139284" y="0"/>
                </a:lnTo>
                <a:lnTo>
                  <a:pt x="7139284" y="9379588"/>
                </a:lnTo>
                <a:lnTo>
                  <a:pt x="0" y="9379588"/>
                </a:lnTo>
                <a:lnTo>
                  <a:pt x="0" y="0"/>
                </a:lnTo>
                <a:close/>
              </a:path>
            </a:pathLst>
          </a:custGeom>
          <a:blipFill rotWithShape="1">
            <a:blip r:embed="rId3">
              <a:alphaModFix/>
            </a:blip>
            <a:stretch>
              <a:fillRect b="0" l="0" r="0" t="0"/>
            </a:stretch>
          </a:blipFill>
          <a:ln>
            <a:noFill/>
          </a:ln>
        </p:spPr>
      </p:sp>
      <p:sp>
        <p:nvSpPr>
          <p:cNvPr id="229" name="Google Shape;229;p8"/>
          <p:cNvSpPr/>
          <p:nvPr/>
        </p:nvSpPr>
        <p:spPr>
          <a:xfrm flipH="1">
            <a:off x="-2715721" y="-121288"/>
            <a:ext cx="7139284" cy="9379588"/>
          </a:xfrm>
          <a:custGeom>
            <a:rect b="b" l="l" r="r" t="t"/>
            <a:pathLst>
              <a:path extrusionOk="0" h="9379588" w="7139284">
                <a:moveTo>
                  <a:pt x="7139284" y="0"/>
                </a:moveTo>
                <a:lnTo>
                  <a:pt x="0" y="0"/>
                </a:lnTo>
                <a:lnTo>
                  <a:pt x="0" y="9379588"/>
                </a:lnTo>
                <a:lnTo>
                  <a:pt x="7139284" y="9379588"/>
                </a:lnTo>
                <a:lnTo>
                  <a:pt x="7139284" y="0"/>
                </a:lnTo>
                <a:close/>
              </a:path>
            </a:pathLst>
          </a:custGeom>
          <a:blipFill rotWithShape="1">
            <a:blip r:embed="rId3">
              <a:alphaModFix/>
            </a:blip>
            <a:stretch>
              <a:fillRect b="0" l="0" r="0" t="0"/>
            </a:stretch>
          </a:blipFill>
          <a:ln>
            <a:noFill/>
          </a:ln>
        </p:spPr>
      </p:sp>
      <p:sp>
        <p:nvSpPr>
          <p:cNvPr id="230" name="Google Shape;230;p8"/>
          <p:cNvSpPr/>
          <p:nvPr/>
        </p:nvSpPr>
        <p:spPr>
          <a:xfrm>
            <a:off x="0" y="7690055"/>
            <a:ext cx="18701319" cy="4258146"/>
          </a:xfrm>
          <a:custGeom>
            <a:rect b="b" l="l" r="r" t="t"/>
            <a:pathLst>
              <a:path extrusionOk="0" h="4258146" w="18701319">
                <a:moveTo>
                  <a:pt x="0" y="0"/>
                </a:moveTo>
                <a:lnTo>
                  <a:pt x="18701319" y="0"/>
                </a:lnTo>
                <a:lnTo>
                  <a:pt x="18701319" y="4258146"/>
                </a:lnTo>
                <a:lnTo>
                  <a:pt x="0" y="4258146"/>
                </a:lnTo>
                <a:lnTo>
                  <a:pt x="0" y="0"/>
                </a:lnTo>
                <a:close/>
              </a:path>
            </a:pathLst>
          </a:custGeom>
          <a:blipFill rotWithShape="1">
            <a:blip r:embed="rId4">
              <a:alphaModFix/>
            </a:blip>
            <a:stretch>
              <a:fillRect b="0" l="0" r="0" t="0"/>
            </a:stretch>
          </a:blipFill>
          <a:ln>
            <a:noFill/>
          </a:ln>
        </p:spPr>
      </p:sp>
      <p:grpSp>
        <p:nvGrpSpPr>
          <p:cNvPr id="231" name="Google Shape;231;p8"/>
          <p:cNvGrpSpPr/>
          <p:nvPr/>
        </p:nvGrpSpPr>
        <p:grpSpPr>
          <a:xfrm>
            <a:off x="1453817" y="1645137"/>
            <a:ext cx="15333627" cy="1607519"/>
            <a:chOff x="0" y="0"/>
            <a:chExt cx="4183433" cy="438575"/>
          </a:xfrm>
        </p:grpSpPr>
        <p:sp>
          <p:nvSpPr>
            <p:cNvPr id="232" name="Google Shape;232;p8"/>
            <p:cNvSpPr/>
            <p:nvPr/>
          </p:nvSpPr>
          <p:spPr>
            <a:xfrm>
              <a:off x="0" y="0"/>
              <a:ext cx="4183433" cy="438575"/>
            </a:xfrm>
            <a:custGeom>
              <a:rect b="b" l="l" r="r" t="t"/>
              <a:pathLst>
                <a:path extrusionOk="0" h="438575" w="4183433">
                  <a:moveTo>
                    <a:pt x="25750" y="0"/>
                  </a:moveTo>
                  <a:lnTo>
                    <a:pt x="4157683" y="0"/>
                  </a:lnTo>
                  <a:cubicBezTo>
                    <a:pt x="4171904" y="0"/>
                    <a:pt x="4183433" y="11529"/>
                    <a:pt x="4183433" y="25750"/>
                  </a:cubicBezTo>
                  <a:lnTo>
                    <a:pt x="4183433" y="412825"/>
                  </a:lnTo>
                  <a:cubicBezTo>
                    <a:pt x="4183433" y="419655"/>
                    <a:pt x="4180720" y="426204"/>
                    <a:pt x="4175891" y="431033"/>
                  </a:cubicBezTo>
                  <a:cubicBezTo>
                    <a:pt x="4171062" y="435862"/>
                    <a:pt x="4164512" y="438575"/>
                    <a:pt x="4157683" y="438575"/>
                  </a:cubicBezTo>
                  <a:lnTo>
                    <a:pt x="25750" y="438575"/>
                  </a:lnTo>
                  <a:cubicBezTo>
                    <a:pt x="18921" y="438575"/>
                    <a:pt x="12371" y="435862"/>
                    <a:pt x="7542" y="431033"/>
                  </a:cubicBezTo>
                  <a:cubicBezTo>
                    <a:pt x="2713" y="426204"/>
                    <a:pt x="0" y="419655"/>
                    <a:pt x="0" y="412825"/>
                  </a:cubicBezTo>
                  <a:lnTo>
                    <a:pt x="0" y="25750"/>
                  </a:lnTo>
                  <a:cubicBezTo>
                    <a:pt x="0" y="18921"/>
                    <a:pt x="2713" y="12371"/>
                    <a:pt x="7542" y="7542"/>
                  </a:cubicBezTo>
                  <a:cubicBezTo>
                    <a:pt x="12371" y="2713"/>
                    <a:pt x="18921" y="0"/>
                    <a:pt x="25750" y="0"/>
                  </a:cubicBezTo>
                  <a:close/>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8"/>
            <p:cNvSpPr txBox="1"/>
            <p:nvPr/>
          </p:nvSpPr>
          <p:spPr>
            <a:xfrm>
              <a:off x="0" y="47625"/>
              <a:ext cx="4183433" cy="390950"/>
            </a:xfrm>
            <a:prstGeom prst="rect">
              <a:avLst/>
            </a:prstGeom>
            <a:noFill/>
            <a:ln>
              <a:noFill/>
            </a:ln>
          </p:spPr>
          <p:txBody>
            <a:bodyPr anchorCtr="0" anchor="ctr" bIns="50800" lIns="50800" spcFirstLastPara="1" rIns="50800" wrap="square" tIns="50800">
              <a:noAutofit/>
            </a:bodyPr>
            <a:lstStyle/>
            <a:p>
              <a:pPr indent="0" lvl="0" marL="0" marR="0" rtl="0" algn="ctr">
                <a:lnSpc>
                  <a:spcPct val="111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4" name="Google Shape;234;p8"/>
          <p:cNvSpPr/>
          <p:nvPr/>
        </p:nvSpPr>
        <p:spPr>
          <a:xfrm rot="186570">
            <a:off x="295350" y="374477"/>
            <a:ext cx="1466700" cy="1308446"/>
          </a:xfrm>
          <a:custGeom>
            <a:rect b="b" l="l" r="r" t="t"/>
            <a:pathLst>
              <a:path extrusionOk="0" h="1308446" w="1466700">
                <a:moveTo>
                  <a:pt x="0" y="0"/>
                </a:moveTo>
                <a:lnTo>
                  <a:pt x="1466700" y="0"/>
                </a:lnTo>
                <a:lnTo>
                  <a:pt x="1466700" y="1308446"/>
                </a:lnTo>
                <a:lnTo>
                  <a:pt x="0" y="1308446"/>
                </a:lnTo>
                <a:lnTo>
                  <a:pt x="0" y="0"/>
                </a:lnTo>
                <a:close/>
              </a:path>
            </a:pathLst>
          </a:custGeom>
          <a:blipFill rotWithShape="1">
            <a:blip r:embed="rId5">
              <a:alphaModFix/>
            </a:blip>
            <a:stretch>
              <a:fillRect b="0" l="0" r="0" t="0"/>
            </a:stretch>
          </a:blipFill>
          <a:ln>
            <a:noFill/>
          </a:ln>
        </p:spPr>
      </p:sp>
      <p:sp>
        <p:nvSpPr>
          <p:cNvPr id="235" name="Google Shape;235;p8"/>
          <p:cNvSpPr/>
          <p:nvPr/>
        </p:nvSpPr>
        <p:spPr>
          <a:xfrm flipH="1" rot="-425068">
            <a:off x="16520453" y="317395"/>
            <a:ext cx="1477694" cy="1318254"/>
          </a:xfrm>
          <a:custGeom>
            <a:rect b="b" l="l" r="r" t="t"/>
            <a:pathLst>
              <a:path extrusionOk="0" h="1318254" w="1477694">
                <a:moveTo>
                  <a:pt x="1477694" y="0"/>
                </a:moveTo>
                <a:lnTo>
                  <a:pt x="0" y="0"/>
                </a:lnTo>
                <a:lnTo>
                  <a:pt x="0" y="1318254"/>
                </a:lnTo>
                <a:lnTo>
                  <a:pt x="1477694" y="1318254"/>
                </a:lnTo>
                <a:lnTo>
                  <a:pt x="1477694" y="0"/>
                </a:lnTo>
                <a:close/>
              </a:path>
            </a:pathLst>
          </a:custGeom>
          <a:blipFill rotWithShape="1">
            <a:blip r:embed="rId5">
              <a:alphaModFix/>
            </a:blip>
            <a:stretch>
              <a:fillRect b="0" l="0" r="0" t="0"/>
            </a:stretch>
          </a:blipFill>
          <a:ln>
            <a:noFill/>
          </a:ln>
        </p:spPr>
      </p:sp>
      <p:sp>
        <p:nvSpPr>
          <p:cNvPr id="236" name="Google Shape;236;p8"/>
          <p:cNvSpPr txBox="1"/>
          <p:nvPr/>
        </p:nvSpPr>
        <p:spPr>
          <a:xfrm>
            <a:off x="2053115" y="288453"/>
            <a:ext cx="14167653" cy="123762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lang="en-US" sz="8500">
                <a:solidFill>
                  <a:srgbClr val="FFFFFF"/>
                </a:solidFill>
                <a:latin typeface="Arial"/>
                <a:ea typeface="Arial"/>
                <a:cs typeface="Arial"/>
                <a:sym typeface="Arial"/>
              </a:rPr>
              <a:t>Results – NLU Tester</a:t>
            </a:r>
            <a:endParaRPr/>
          </a:p>
        </p:txBody>
      </p:sp>
      <p:sp>
        <p:nvSpPr>
          <p:cNvPr id="237" name="Google Shape;237;p8"/>
          <p:cNvSpPr txBox="1"/>
          <p:nvPr/>
        </p:nvSpPr>
        <p:spPr>
          <a:xfrm>
            <a:off x="1796458" y="1820881"/>
            <a:ext cx="14648344" cy="1198881"/>
          </a:xfrm>
          <a:prstGeom prst="rect">
            <a:avLst/>
          </a:prstGeom>
          <a:noFill/>
          <a:ln>
            <a:noFill/>
          </a:ln>
        </p:spPr>
        <p:txBody>
          <a:bodyPr anchorCtr="0" anchor="t" bIns="0" lIns="0" spcFirstLastPara="1" rIns="0" wrap="square" tIns="0">
            <a:spAutoFit/>
          </a:bodyPr>
          <a:lstStyle/>
          <a:p>
            <a:pPr indent="0" lvl="0" marL="0" marR="0" rtl="0" algn="l">
              <a:lnSpc>
                <a:spcPct val="140017"/>
              </a:lnSpc>
              <a:spcBef>
                <a:spcPts val="0"/>
              </a:spcBef>
              <a:spcAft>
                <a:spcPts val="0"/>
              </a:spcAft>
              <a:buNone/>
            </a:pPr>
            <a:r>
              <a:rPr lang="en-US" sz="2299">
                <a:solidFill>
                  <a:srgbClr val="FFFFFF"/>
                </a:solidFill>
                <a:latin typeface="Arial"/>
                <a:ea typeface="Arial"/>
                <a:cs typeface="Arial"/>
                <a:sym typeface="Arial"/>
              </a:rPr>
              <a:t>The system allows users to enter natural language queries and instantly predicts the intent, confidence score, and extracted entities. Results are displayed in a structured UI, demonstrating real-time LLM inference and explainability through confidence and entity extraction.</a:t>
            </a:r>
            <a:endParaRPr/>
          </a:p>
        </p:txBody>
      </p:sp>
      <p:sp>
        <p:nvSpPr>
          <p:cNvPr id="238" name="Google Shape;238;p8"/>
          <p:cNvSpPr/>
          <p:nvPr/>
        </p:nvSpPr>
        <p:spPr>
          <a:xfrm>
            <a:off x="5029200" y="571500"/>
            <a:ext cx="6096000" cy="609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39" name="Google Shape;239;p8"/>
          <p:cNvPicPr preferRelativeResize="0"/>
          <p:nvPr/>
        </p:nvPicPr>
        <p:blipFill>
          <a:blip r:embed="rId6">
            <a:alphaModFix/>
          </a:blip>
          <a:stretch>
            <a:fillRect/>
          </a:stretch>
        </p:blipFill>
        <p:spPr>
          <a:xfrm>
            <a:off x="1204788" y="3718599"/>
            <a:ext cx="15240000" cy="6096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153C"/>
        </a:solidFill>
      </p:bgPr>
    </p:bg>
    <p:spTree>
      <p:nvGrpSpPr>
        <p:cNvPr id="243" name="Shape 243"/>
        <p:cNvGrpSpPr/>
        <p:nvPr/>
      </p:nvGrpSpPr>
      <p:grpSpPr>
        <a:xfrm>
          <a:off x="0" y="0"/>
          <a:ext cx="0" cy="0"/>
          <a:chOff x="0" y="0"/>
          <a:chExt cx="0" cy="0"/>
        </a:xfrm>
      </p:grpSpPr>
      <p:sp>
        <p:nvSpPr>
          <p:cNvPr id="244" name="Google Shape;244;p9"/>
          <p:cNvSpPr/>
          <p:nvPr/>
        </p:nvSpPr>
        <p:spPr>
          <a:xfrm>
            <a:off x="13435909" y="-121288"/>
            <a:ext cx="7139284" cy="9379588"/>
          </a:xfrm>
          <a:custGeom>
            <a:rect b="b" l="l" r="r" t="t"/>
            <a:pathLst>
              <a:path extrusionOk="0" h="9379588" w="7139284">
                <a:moveTo>
                  <a:pt x="0" y="0"/>
                </a:moveTo>
                <a:lnTo>
                  <a:pt x="7139284" y="0"/>
                </a:lnTo>
                <a:lnTo>
                  <a:pt x="7139284" y="9379588"/>
                </a:lnTo>
                <a:lnTo>
                  <a:pt x="0" y="9379588"/>
                </a:lnTo>
                <a:lnTo>
                  <a:pt x="0" y="0"/>
                </a:lnTo>
                <a:close/>
              </a:path>
            </a:pathLst>
          </a:custGeom>
          <a:blipFill rotWithShape="1">
            <a:blip r:embed="rId3">
              <a:alphaModFix/>
            </a:blip>
            <a:stretch>
              <a:fillRect b="0" l="0" r="0" t="0"/>
            </a:stretch>
          </a:blipFill>
          <a:ln>
            <a:noFill/>
          </a:ln>
        </p:spPr>
      </p:sp>
      <p:sp>
        <p:nvSpPr>
          <p:cNvPr id="245" name="Google Shape;245;p9"/>
          <p:cNvSpPr/>
          <p:nvPr/>
        </p:nvSpPr>
        <p:spPr>
          <a:xfrm flipH="1">
            <a:off x="-2715721" y="-121288"/>
            <a:ext cx="7139284" cy="9379588"/>
          </a:xfrm>
          <a:custGeom>
            <a:rect b="b" l="l" r="r" t="t"/>
            <a:pathLst>
              <a:path extrusionOk="0" h="9379588" w="7139284">
                <a:moveTo>
                  <a:pt x="7139284" y="0"/>
                </a:moveTo>
                <a:lnTo>
                  <a:pt x="0" y="0"/>
                </a:lnTo>
                <a:lnTo>
                  <a:pt x="0" y="9379588"/>
                </a:lnTo>
                <a:lnTo>
                  <a:pt x="7139284" y="9379588"/>
                </a:lnTo>
                <a:lnTo>
                  <a:pt x="7139284" y="0"/>
                </a:lnTo>
                <a:close/>
              </a:path>
            </a:pathLst>
          </a:custGeom>
          <a:blipFill rotWithShape="1">
            <a:blip r:embed="rId3">
              <a:alphaModFix/>
            </a:blip>
            <a:stretch>
              <a:fillRect b="0" l="0" r="0" t="0"/>
            </a:stretch>
          </a:blipFill>
          <a:ln>
            <a:noFill/>
          </a:ln>
        </p:spPr>
      </p:sp>
      <p:sp>
        <p:nvSpPr>
          <p:cNvPr id="246" name="Google Shape;246;p9"/>
          <p:cNvSpPr/>
          <p:nvPr/>
        </p:nvSpPr>
        <p:spPr>
          <a:xfrm>
            <a:off x="0" y="7690055"/>
            <a:ext cx="18701319" cy="4258146"/>
          </a:xfrm>
          <a:custGeom>
            <a:rect b="b" l="l" r="r" t="t"/>
            <a:pathLst>
              <a:path extrusionOk="0" h="4258146" w="18701319">
                <a:moveTo>
                  <a:pt x="0" y="0"/>
                </a:moveTo>
                <a:lnTo>
                  <a:pt x="18701319" y="0"/>
                </a:lnTo>
                <a:lnTo>
                  <a:pt x="18701319" y="4258146"/>
                </a:lnTo>
                <a:lnTo>
                  <a:pt x="0" y="4258146"/>
                </a:lnTo>
                <a:lnTo>
                  <a:pt x="0" y="0"/>
                </a:lnTo>
                <a:close/>
              </a:path>
            </a:pathLst>
          </a:custGeom>
          <a:blipFill rotWithShape="1">
            <a:blip r:embed="rId4">
              <a:alphaModFix/>
            </a:blip>
            <a:stretch>
              <a:fillRect b="0" l="0" r="0" t="0"/>
            </a:stretch>
          </a:blipFill>
          <a:ln>
            <a:noFill/>
          </a:ln>
        </p:spPr>
      </p:sp>
      <p:grpSp>
        <p:nvGrpSpPr>
          <p:cNvPr id="247" name="Google Shape;247;p9"/>
          <p:cNvGrpSpPr/>
          <p:nvPr/>
        </p:nvGrpSpPr>
        <p:grpSpPr>
          <a:xfrm>
            <a:off x="1453817" y="1645137"/>
            <a:ext cx="15333627" cy="1898163"/>
            <a:chOff x="0" y="0"/>
            <a:chExt cx="4183433" cy="438575"/>
          </a:xfrm>
        </p:grpSpPr>
        <p:sp>
          <p:nvSpPr>
            <p:cNvPr id="248" name="Google Shape;248;p9"/>
            <p:cNvSpPr/>
            <p:nvPr/>
          </p:nvSpPr>
          <p:spPr>
            <a:xfrm>
              <a:off x="0" y="0"/>
              <a:ext cx="4183433" cy="438575"/>
            </a:xfrm>
            <a:custGeom>
              <a:rect b="b" l="l" r="r" t="t"/>
              <a:pathLst>
                <a:path extrusionOk="0" h="438575" w="4183433">
                  <a:moveTo>
                    <a:pt x="25750" y="0"/>
                  </a:moveTo>
                  <a:lnTo>
                    <a:pt x="4157683" y="0"/>
                  </a:lnTo>
                  <a:cubicBezTo>
                    <a:pt x="4171904" y="0"/>
                    <a:pt x="4183433" y="11529"/>
                    <a:pt x="4183433" y="25750"/>
                  </a:cubicBezTo>
                  <a:lnTo>
                    <a:pt x="4183433" y="412825"/>
                  </a:lnTo>
                  <a:cubicBezTo>
                    <a:pt x="4183433" y="419655"/>
                    <a:pt x="4180720" y="426204"/>
                    <a:pt x="4175891" y="431033"/>
                  </a:cubicBezTo>
                  <a:cubicBezTo>
                    <a:pt x="4171062" y="435862"/>
                    <a:pt x="4164512" y="438575"/>
                    <a:pt x="4157683" y="438575"/>
                  </a:cubicBezTo>
                  <a:lnTo>
                    <a:pt x="25750" y="438575"/>
                  </a:lnTo>
                  <a:cubicBezTo>
                    <a:pt x="18921" y="438575"/>
                    <a:pt x="12371" y="435862"/>
                    <a:pt x="7542" y="431033"/>
                  </a:cubicBezTo>
                  <a:cubicBezTo>
                    <a:pt x="2713" y="426204"/>
                    <a:pt x="0" y="419655"/>
                    <a:pt x="0" y="412825"/>
                  </a:cubicBezTo>
                  <a:lnTo>
                    <a:pt x="0" y="25750"/>
                  </a:lnTo>
                  <a:cubicBezTo>
                    <a:pt x="0" y="18921"/>
                    <a:pt x="2713" y="12371"/>
                    <a:pt x="7542" y="7542"/>
                  </a:cubicBezTo>
                  <a:cubicBezTo>
                    <a:pt x="12371" y="2713"/>
                    <a:pt x="18921" y="0"/>
                    <a:pt x="25750" y="0"/>
                  </a:cubicBezTo>
                  <a:close/>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9"/>
            <p:cNvSpPr txBox="1"/>
            <p:nvPr/>
          </p:nvSpPr>
          <p:spPr>
            <a:xfrm>
              <a:off x="0" y="47625"/>
              <a:ext cx="4183433" cy="390950"/>
            </a:xfrm>
            <a:prstGeom prst="rect">
              <a:avLst/>
            </a:prstGeom>
            <a:noFill/>
            <a:ln>
              <a:noFill/>
            </a:ln>
          </p:spPr>
          <p:txBody>
            <a:bodyPr anchorCtr="0" anchor="ctr" bIns="50800" lIns="50800" spcFirstLastPara="1" rIns="50800" wrap="square" tIns="50800">
              <a:noAutofit/>
            </a:bodyPr>
            <a:lstStyle/>
            <a:p>
              <a:pPr indent="0" lvl="0" marL="0" marR="0" rtl="0" algn="ctr">
                <a:lnSpc>
                  <a:spcPct val="111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0" name="Google Shape;250;p9"/>
          <p:cNvSpPr/>
          <p:nvPr/>
        </p:nvSpPr>
        <p:spPr>
          <a:xfrm rot="186570">
            <a:off x="295350" y="374477"/>
            <a:ext cx="1466700" cy="1308446"/>
          </a:xfrm>
          <a:custGeom>
            <a:rect b="b" l="l" r="r" t="t"/>
            <a:pathLst>
              <a:path extrusionOk="0" h="1308446" w="1466700">
                <a:moveTo>
                  <a:pt x="0" y="0"/>
                </a:moveTo>
                <a:lnTo>
                  <a:pt x="1466700" y="0"/>
                </a:lnTo>
                <a:lnTo>
                  <a:pt x="1466700" y="1308446"/>
                </a:lnTo>
                <a:lnTo>
                  <a:pt x="0" y="1308446"/>
                </a:lnTo>
                <a:lnTo>
                  <a:pt x="0" y="0"/>
                </a:lnTo>
                <a:close/>
              </a:path>
            </a:pathLst>
          </a:custGeom>
          <a:blipFill rotWithShape="1">
            <a:blip r:embed="rId5">
              <a:alphaModFix/>
            </a:blip>
            <a:stretch>
              <a:fillRect b="0" l="0" r="0" t="0"/>
            </a:stretch>
          </a:blipFill>
          <a:ln>
            <a:noFill/>
          </a:ln>
        </p:spPr>
      </p:sp>
      <p:sp>
        <p:nvSpPr>
          <p:cNvPr id="251" name="Google Shape;251;p9"/>
          <p:cNvSpPr/>
          <p:nvPr/>
        </p:nvSpPr>
        <p:spPr>
          <a:xfrm flipH="1" rot="-425068">
            <a:off x="16520453" y="317395"/>
            <a:ext cx="1477694" cy="1318254"/>
          </a:xfrm>
          <a:custGeom>
            <a:rect b="b" l="l" r="r" t="t"/>
            <a:pathLst>
              <a:path extrusionOk="0" h="1318254" w="1477694">
                <a:moveTo>
                  <a:pt x="1477694" y="0"/>
                </a:moveTo>
                <a:lnTo>
                  <a:pt x="0" y="0"/>
                </a:lnTo>
                <a:lnTo>
                  <a:pt x="0" y="1318254"/>
                </a:lnTo>
                <a:lnTo>
                  <a:pt x="1477694" y="1318254"/>
                </a:lnTo>
                <a:lnTo>
                  <a:pt x="1477694" y="0"/>
                </a:lnTo>
                <a:close/>
              </a:path>
            </a:pathLst>
          </a:custGeom>
          <a:blipFill rotWithShape="1">
            <a:blip r:embed="rId5">
              <a:alphaModFix/>
            </a:blip>
            <a:stretch>
              <a:fillRect b="0" l="0" r="0" t="0"/>
            </a:stretch>
          </a:blipFill>
          <a:ln>
            <a:noFill/>
          </a:ln>
        </p:spPr>
      </p:sp>
      <p:sp>
        <p:nvSpPr>
          <p:cNvPr id="252" name="Google Shape;252;p9"/>
          <p:cNvSpPr txBox="1"/>
          <p:nvPr/>
        </p:nvSpPr>
        <p:spPr>
          <a:xfrm>
            <a:off x="2413601" y="288453"/>
            <a:ext cx="13446680" cy="1106072"/>
          </a:xfrm>
          <a:prstGeom prst="rect">
            <a:avLst/>
          </a:prstGeom>
          <a:noFill/>
          <a:ln>
            <a:noFill/>
          </a:ln>
        </p:spPr>
        <p:txBody>
          <a:bodyPr anchorCtr="0" anchor="t" bIns="0" lIns="0" spcFirstLastPara="1" rIns="0" wrap="square" tIns="0">
            <a:spAutoFit/>
          </a:bodyPr>
          <a:lstStyle/>
          <a:p>
            <a:pPr indent="0" lvl="0" marL="0" marR="0" rtl="0" algn="ctr">
              <a:lnSpc>
                <a:spcPct val="113013"/>
              </a:lnSpc>
              <a:spcBef>
                <a:spcPts val="0"/>
              </a:spcBef>
              <a:spcAft>
                <a:spcPts val="0"/>
              </a:spcAft>
              <a:buNone/>
            </a:pPr>
            <a:r>
              <a:rPr lang="en-US" sz="7500">
                <a:solidFill>
                  <a:srgbClr val="FFFFFF"/>
                </a:solidFill>
                <a:latin typeface="Arial"/>
                <a:ea typeface="Arial"/>
                <a:cs typeface="Arial"/>
                <a:sym typeface="Arial"/>
              </a:rPr>
              <a:t>Results  </a:t>
            </a:r>
            <a:endParaRPr/>
          </a:p>
        </p:txBody>
      </p:sp>
      <p:sp>
        <p:nvSpPr>
          <p:cNvPr id="253" name="Google Shape;253;p9"/>
          <p:cNvSpPr txBox="1"/>
          <p:nvPr/>
        </p:nvSpPr>
        <p:spPr>
          <a:xfrm>
            <a:off x="1796458" y="1820881"/>
            <a:ext cx="14648344" cy="1598931"/>
          </a:xfrm>
          <a:prstGeom prst="rect">
            <a:avLst/>
          </a:prstGeom>
          <a:noFill/>
          <a:ln>
            <a:noFill/>
          </a:ln>
        </p:spPr>
        <p:txBody>
          <a:bodyPr anchorCtr="0" anchor="t" bIns="0" lIns="0" spcFirstLastPara="1" rIns="0" wrap="square" tIns="0">
            <a:spAutoFit/>
          </a:bodyPr>
          <a:lstStyle/>
          <a:p>
            <a:pPr indent="0" lvl="0" marL="0" marR="0" rtl="0" algn="l">
              <a:lnSpc>
                <a:spcPct val="140017"/>
              </a:lnSpc>
              <a:spcBef>
                <a:spcPts val="0"/>
              </a:spcBef>
              <a:spcAft>
                <a:spcPts val="0"/>
              </a:spcAft>
              <a:buNone/>
            </a:pPr>
            <a:r>
              <a:rPr lang="en-US" sz="2299">
                <a:solidFill>
                  <a:srgbClr val="FFFFFF"/>
                </a:solidFill>
                <a:latin typeface="Arial"/>
                <a:ea typeface="Arial"/>
                <a:cs typeface="Arial"/>
                <a:sym typeface="Arial"/>
              </a:rPr>
              <a:t>“Batch Testing is used to test multiple user sentences together for the same intent.</a:t>
            </a:r>
            <a:endParaRPr/>
          </a:p>
          <a:p>
            <a:pPr indent="0" lvl="0" marL="0" marR="0" rtl="0" algn="l">
              <a:lnSpc>
                <a:spcPct val="140017"/>
              </a:lnSpc>
              <a:spcBef>
                <a:spcPts val="0"/>
              </a:spcBef>
              <a:spcAft>
                <a:spcPts val="0"/>
              </a:spcAft>
              <a:buNone/>
            </a:pPr>
            <a:r>
              <a:rPr lang="en-US" sz="2299">
                <a:solidFill>
                  <a:srgbClr val="FFFFFF"/>
                </a:solidFill>
                <a:latin typeface="Arial"/>
                <a:ea typeface="Arial"/>
                <a:cs typeface="Arial"/>
                <a:sym typeface="Arial"/>
              </a:rPr>
              <a:t>We select an intent and run several example sentences at once.</a:t>
            </a:r>
            <a:endParaRPr/>
          </a:p>
          <a:p>
            <a:pPr indent="0" lvl="0" marL="0" marR="0" rtl="0" algn="l">
              <a:lnSpc>
                <a:spcPct val="140017"/>
              </a:lnSpc>
              <a:spcBef>
                <a:spcPts val="0"/>
              </a:spcBef>
              <a:spcAft>
                <a:spcPts val="0"/>
              </a:spcAft>
              <a:buNone/>
            </a:pPr>
            <a:r>
              <a:rPr lang="en-US" sz="2299">
                <a:solidFill>
                  <a:srgbClr val="FFFFFF"/>
                </a:solidFill>
                <a:latin typeface="Arial"/>
                <a:ea typeface="Arial"/>
                <a:cs typeface="Arial"/>
                <a:sym typeface="Arial"/>
              </a:rPr>
              <a:t>This helps us check consistency, accuracy, and entity extraction across different ways users phrase the same request.”</a:t>
            </a:r>
            <a:endParaRPr/>
          </a:p>
        </p:txBody>
      </p:sp>
      <p:sp>
        <p:nvSpPr>
          <p:cNvPr id="254" name="Google Shape;254;p9"/>
          <p:cNvSpPr/>
          <p:nvPr/>
        </p:nvSpPr>
        <p:spPr>
          <a:xfrm>
            <a:off x="8772131" y="48387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55" name="Google Shape;255;p9"/>
          <p:cNvPicPr preferRelativeResize="0"/>
          <p:nvPr/>
        </p:nvPicPr>
        <p:blipFill>
          <a:blip r:embed="rId6">
            <a:alphaModFix/>
          </a:blip>
          <a:stretch>
            <a:fillRect/>
          </a:stretch>
        </p:blipFill>
        <p:spPr>
          <a:xfrm>
            <a:off x="1173750" y="3793900"/>
            <a:ext cx="16700652" cy="60068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153C"/>
        </a:solidFill>
      </p:bgPr>
    </p:bg>
    <p:spTree>
      <p:nvGrpSpPr>
        <p:cNvPr id="259" name="Shape 259"/>
        <p:cNvGrpSpPr/>
        <p:nvPr/>
      </p:nvGrpSpPr>
      <p:grpSpPr>
        <a:xfrm>
          <a:off x="0" y="0"/>
          <a:ext cx="0" cy="0"/>
          <a:chOff x="0" y="0"/>
          <a:chExt cx="0" cy="0"/>
        </a:xfrm>
      </p:grpSpPr>
      <p:sp>
        <p:nvSpPr>
          <p:cNvPr id="260" name="Google Shape;260;p10"/>
          <p:cNvSpPr/>
          <p:nvPr/>
        </p:nvSpPr>
        <p:spPr>
          <a:xfrm>
            <a:off x="13435909" y="-121288"/>
            <a:ext cx="7139284" cy="9379588"/>
          </a:xfrm>
          <a:custGeom>
            <a:rect b="b" l="l" r="r" t="t"/>
            <a:pathLst>
              <a:path extrusionOk="0" h="9379588" w="7139284">
                <a:moveTo>
                  <a:pt x="0" y="0"/>
                </a:moveTo>
                <a:lnTo>
                  <a:pt x="7139284" y="0"/>
                </a:lnTo>
                <a:lnTo>
                  <a:pt x="7139284" y="9379588"/>
                </a:lnTo>
                <a:lnTo>
                  <a:pt x="0" y="9379588"/>
                </a:lnTo>
                <a:lnTo>
                  <a:pt x="0" y="0"/>
                </a:lnTo>
                <a:close/>
              </a:path>
            </a:pathLst>
          </a:custGeom>
          <a:blipFill rotWithShape="1">
            <a:blip r:embed="rId3">
              <a:alphaModFix/>
            </a:blip>
            <a:stretch>
              <a:fillRect b="0" l="0" r="0" t="0"/>
            </a:stretch>
          </a:blipFill>
          <a:ln>
            <a:noFill/>
          </a:ln>
        </p:spPr>
      </p:sp>
      <p:sp>
        <p:nvSpPr>
          <p:cNvPr id="261" name="Google Shape;261;p10"/>
          <p:cNvSpPr/>
          <p:nvPr/>
        </p:nvSpPr>
        <p:spPr>
          <a:xfrm flipH="1">
            <a:off x="-2715721" y="-121288"/>
            <a:ext cx="7139284" cy="9379588"/>
          </a:xfrm>
          <a:custGeom>
            <a:rect b="b" l="l" r="r" t="t"/>
            <a:pathLst>
              <a:path extrusionOk="0" h="9379588" w="7139284">
                <a:moveTo>
                  <a:pt x="7139284" y="0"/>
                </a:moveTo>
                <a:lnTo>
                  <a:pt x="0" y="0"/>
                </a:lnTo>
                <a:lnTo>
                  <a:pt x="0" y="9379588"/>
                </a:lnTo>
                <a:lnTo>
                  <a:pt x="7139284" y="9379588"/>
                </a:lnTo>
                <a:lnTo>
                  <a:pt x="7139284" y="0"/>
                </a:lnTo>
                <a:close/>
              </a:path>
            </a:pathLst>
          </a:custGeom>
          <a:blipFill rotWithShape="1">
            <a:blip r:embed="rId3">
              <a:alphaModFix/>
            </a:blip>
            <a:stretch>
              <a:fillRect b="0" l="0" r="0" t="0"/>
            </a:stretch>
          </a:blipFill>
          <a:ln>
            <a:noFill/>
          </a:ln>
        </p:spPr>
      </p:sp>
      <p:sp>
        <p:nvSpPr>
          <p:cNvPr id="262" name="Google Shape;262;p10"/>
          <p:cNvSpPr/>
          <p:nvPr/>
        </p:nvSpPr>
        <p:spPr>
          <a:xfrm>
            <a:off x="0" y="7690055"/>
            <a:ext cx="18701319" cy="4258146"/>
          </a:xfrm>
          <a:custGeom>
            <a:rect b="b" l="l" r="r" t="t"/>
            <a:pathLst>
              <a:path extrusionOk="0" h="4258146" w="18701319">
                <a:moveTo>
                  <a:pt x="0" y="0"/>
                </a:moveTo>
                <a:lnTo>
                  <a:pt x="18701319" y="0"/>
                </a:lnTo>
                <a:lnTo>
                  <a:pt x="18701319" y="4258146"/>
                </a:lnTo>
                <a:lnTo>
                  <a:pt x="0" y="4258146"/>
                </a:lnTo>
                <a:lnTo>
                  <a:pt x="0" y="0"/>
                </a:lnTo>
                <a:close/>
              </a:path>
            </a:pathLst>
          </a:custGeom>
          <a:blipFill rotWithShape="1">
            <a:blip r:embed="rId4">
              <a:alphaModFix/>
            </a:blip>
            <a:stretch>
              <a:fillRect b="0" l="0" r="0" t="0"/>
            </a:stretch>
          </a:blipFill>
          <a:ln>
            <a:noFill/>
          </a:ln>
        </p:spPr>
      </p:sp>
      <p:grpSp>
        <p:nvGrpSpPr>
          <p:cNvPr id="263" name="Google Shape;263;p10"/>
          <p:cNvGrpSpPr/>
          <p:nvPr/>
        </p:nvGrpSpPr>
        <p:grpSpPr>
          <a:xfrm>
            <a:off x="1453817" y="1645137"/>
            <a:ext cx="15333627" cy="1607519"/>
            <a:chOff x="0" y="0"/>
            <a:chExt cx="4183433" cy="438575"/>
          </a:xfrm>
        </p:grpSpPr>
        <p:sp>
          <p:nvSpPr>
            <p:cNvPr id="264" name="Google Shape;264;p10"/>
            <p:cNvSpPr/>
            <p:nvPr/>
          </p:nvSpPr>
          <p:spPr>
            <a:xfrm>
              <a:off x="0" y="0"/>
              <a:ext cx="4183433" cy="438575"/>
            </a:xfrm>
            <a:custGeom>
              <a:rect b="b" l="l" r="r" t="t"/>
              <a:pathLst>
                <a:path extrusionOk="0" h="438575" w="4183433">
                  <a:moveTo>
                    <a:pt x="25750" y="0"/>
                  </a:moveTo>
                  <a:lnTo>
                    <a:pt x="4157683" y="0"/>
                  </a:lnTo>
                  <a:cubicBezTo>
                    <a:pt x="4171904" y="0"/>
                    <a:pt x="4183433" y="11529"/>
                    <a:pt x="4183433" y="25750"/>
                  </a:cubicBezTo>
                  <a:lnTo>
                    <a:pt x="4183433" y="412825"/>
                  </a:lnTo>
                  <a:cubicBezTo>
                    <a:pt x="4183433" y="419655"/>
                    <a:pt x="4180720" y="426204"/>
                    <a:pt x="4175891" y="431033"/>
                  </a:cubicBezTo>
                  <a:cubicBezTo>
                    <a:pt x="4171062" y="435862"/>
                    <a:pt x="4164512" y="438575"/>
                    <a:pt x="4157683" y="438575"/>
                  </a:cubicBezTo>
                  <a:lnTo>
                    <a:pt x="25750" y="438575"/>
                  </a:lnTo>
                  <a:cubicBezTo>
                    <a:pt x="18921" y="438575"/>
                    <a:pt x="12371" y="435862"/>
                    <a:pt x="7542" y="431033"/>
                  </a:cubicBezTo>
                  <a:cubicBezTo>
                    <a:pt x="2713" y="426204"/>
                    <a:pt x="0" y="419655"/>
                    <a:pt x="0" y="412825"/>
                  </a:cubicBezTo>
                  <a:lnTo>
                    <a:pt x="0" y="25750"/>
                  </a:lnTo>
                  <a:cubicBezTo>
                    <a:pt x="0" y="18921"/>
                    <a:pt x="2713" y="12371"/>
                    <a:pt x="7542" y="7542"/>
                  </a:cubicBezTo>
                  <a:cubicBezTo>
                    <a:pt x="12371" y="2713"/>
                    <a:pt x="18921" y="0"/>
                    <a:pt x="25750" y="0"/>
                  </a:cubicBezTo>
                  <a:close/>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0"/>
            <p:cNvSpPr txBox="1"/>
            <p:nvPr/>
          </p:nvSpPr>
          <p:spPr>
            <a:xfrm>
              <a:off x="0" y="47625"/>
              <a:ext cx="4183433" cy="390950"/>
            </a:xfrm>
            <a:prstGeom prst="rect">
              <a:avLst/>
            </a:prstGeom>
            <a:noFill/>
            <a:ln>
              <a:noFill/>
            </a:ln>
          </p:spPr>
          <p:txBody>
            <a:bodyPr anchorCtr="0" anchor="ctr" bIns="50800" lIns="50800" spcFirstLastPara="1" rIns="50800" wrap="square" tIns="50800">
              <a:noAutofit/>
            </a:bodyPr>
            <a:lstStyle/>
            <a:p>
              <a:pPr indent="0" lvl="0" marL="0" marR="0" rtl="0" algn="ctr">
                <a:lnSpc>
                  <a:spcPct val="111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6" name="Google Shape;266;p10"/>
          <p:cNvSpPr/>
          <p:nvPr/>
        </p:nvSpPr>
        <p:spPr>
          <a:xfrm rot="186570">
            <a:off x="295350" y="374477"/>
            <a:ext cx="1466700" cy="1308446"/>
          </a:xfrm>
          <a:custGeom>
            <a:rect b="b" l="l" r="r" t="t"/>
            <a:pathLst>
              <a:path extrusionOk="0" h="1308446" w="1466700">
                <a:moveTo>
                  <a:pt x="0" y="0"/>
                </a:moveTo>
                <a:lnTo>
                  <a:pt x="1466700" y="0"/>
                </a:lnTo>
                <a:lnTo>
                  <a:pt x="1466700" y="1308446"/>
                </a:lnTo>
                <a:lnTo>
                  <a:pt x="0" y="1308446"/>
                </a:lnTo>
                <a:lnTo>
                  <a:pt x="0" y="0"/>
                </a:lnTo>
                <a:close/>
              </a:path>
            </a:pathLst>
          </a:custGeom>
          <a:blipFill rotWithShape="1">
            <a:blip r:embed="rId5">
              <a:alphaModFix/>
            </a:blip>
            <a:stretch>
              <a:fillRect b="0" l="0" r="0" t="0"/>
            </a:stretch>
          </a:blipFill>
          <a:ln>
            <a:noFill/>
          </a:ln>
        </p:spPr>
      </p:sp>
      <p:sp>
        <p:nvSpPr>
          <p:cNvPr id="267" name="Google Shape;267;p10"/>
          <p:cNvSpPr/>
          <p:nvPr/>
        </p:nvSpPr>
        <p:spPr>
          <a:xfrm flipH="1" rot="-425068">
            <a:off x="16520453" y="317395"/>
            <a:ext cx="1477694" cy="1318254"/>
          </a:xfrm>
          <a:custGeom>
            <a:rect b="b" l="l" r="r" t="t"/>
            <a:pathLst>
              <a:path extrusionOk="0" h="1318254" w="1477694">
                <a:moveTo>
                  <a:pt x="1477694" y="0"/>
                </a:moveTo>
                <a:lnTo>
                  <a:pt x="0" y="0"/>
                </a:lnTo>
                <a:lnTo>
                  <a:pt x="0" y="1318254"/>
                </a:lnTo>
                <a:lnTo>
                  <a:pt x="1477694" y="1318254"/>
                </a:lnTo>
                <a:lnTo>
                  <a:pt x="1477694" y="0"/>
                </a:lnTo>
                <a:close/>
              </a:path>
            </a:pathLst>
          </a:custGeom>
          <a:blipFill rotWithShape="1">
            <a:blip r:embed="rId5">
              <a:alphaModFix/>
            </a:blip>
            <a:stretch>
              <a:fillRect b="0" l="0" r="0" t="0"/>
            </a:stretch>
          </a:blipFill>
          <a:ln>
            <a:noFill/>
          </a:ln>
        </p:spPr>
      </p:sp>
      <p:sp>
        <p:nvSpPr>
          <p:cNvPr id="268" name="Google Shape;268;p10"/>
          <p:cNvSpPr txBox="1"/>
          <p:nvPr/>
        </p:nvSpPr>
        <p:spPr>
          <a:xfrm>
            <a:off x="2053115" y="288453"/>
            <a:ext cx="14734328" cy="1146564"/>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lang="en-US" sz="7900">
                <a:solidFill>
                  <a:srgbClr val="FFFFFF"/>
                </a:solidFill>
                <a:latin typeface="Arial"/>
                <a:ea typeface="Arial"/>
                <a:cs typeface="Arial"/>
                <a:sym typeface="Arial"/>
              </a:rPr>
              <a:t>Results – Model Evaluation </a:t>
            </a:r>
            <a:endParaRPr/>
          </a:p>
        </p:txBody>
      </p:sp>
      <p:sp>
        <p:nvSpPr>
          <p:cNvPr id="269" name="Google Shape;269;p10"/>
          <p:cNvSpPr txBox="1"/>
          <p:nvPr/>
        </p:nvSpPr>
        <p:spPr>
          <a:xfrm>
            <a:off x="1796458" y="1820881"/>
            <a:ext cx="14648344" cy="1198881"/>
          </a:xfrm>
          <a:prstGeom prst="rect">
            <a:avLst/>
          </a:prstGeom>
          <a:noFill/>
          <a:ln>
            <a:noFill/>
          </a:ln>
        </p:spPr>
        <p:txBody>
          <a:bodyPr anchorCtr="0" anchor="t" bIns="0" lIns="0" spcFirstLastPara="1" rIns="0" wrap="square" tIns="0">
            <a:spAutoFit/>
          </a:bodyPr>
          <a:lstStyle/>
          <a:p>
            <a:pPr indent="0" lvl="0" marL="0" marR="0" rtl="0" algn="l">
              <a:lnSpc>
                <a:spcPct val="140017"/>
              </a:lnSpc>
              <a:spcBef>
                <a:spcPts val="0"/>
              </a:spcBef>
              <a:spcAft>
                <a:spcPts val="0"/>
              </a:spcAft>
              <a:buNone/>
            </a:pPr>
            <a:r>
              <a:rPr lang="en-US" sz="2299">
                <a:solidFill>
                  <a:srgbClr val="FFFFFF"/>
                </a:solidFill>
                <a:latin typeface="Arial"/>
                <a:ea typeface="Arial"/>
                <a:cs typeface="Arial"/>
                <a:sym typeface="Arial"/>
              </a:rPr>
              <a:t>The evaluation dashboard measures model performance using one sample per intent and displays Accuracy, Precision, Recall, F1-score, and a confusion matrix. This validates the reliability and correctness of intent predictions across all supported intents.</a:t>
            </a:r>
            <a:endParaRPr/>
          </a:p>
        </p:txBody>
      </p:sp>
      <p:sp>
        <p:nvSpPr>
          <p:cNvPr id="270" name="Google Shape;270;p10"/>
          <p:cNvSpPr/>
          <p:nvPr/>
        </p:nvSpPr>
        <p:spPr>
          <a:xfrm>
            <a:off x="8991600" y="49911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71" name="Google Shape;271;p10"/>
          <p:cNvPicPr preferRelativeResize="0"/>
          <p:nvPr/>
        </p:nvPicPr>
        <p:blipFill>
          <a:blip r:embed="rId6">
            <a:alphaModFix/>
          </a:blip>
          <a:stretch>
            <a:fillRect/>
          </a:stretch>
        </p:blipFill>
        <p:spPr>
          <a:xfrm>
            <a:off x="972525" y="3462750"/>
            <a:ext cx="16273076" cy="6262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153C"/>
        </a:solidFill>
      </p:bgPr>
    </p:bg>
    <p:spTree>
      <p:nvGrpSpPr>
        <p:cNvPr id="275" name="Shape 275"/>
        <p:cNvGrpSpPr/>
        <p:nvPr/>
      </p:nvGrpSpPr>
      <p:grpSpPr>
        <a:xfrm>
          <a:off x="0" y="0"/>
          <a:ext cx="0" cy="0"/>
          <a:chOff x="0" y="0"/>
          <a:chExt cx="0" cy="0"/>
        </a:xfrm>
      </p:grpSpPr>
      <p:sp>
        <p:nvSpPr>
          <p:cNvPr id="276" name="Google Shape;276;p12"/>
          <p:cNvSpPr/>
          <p:nvPr/>
        </p:nvSpPr>
        <p:spPr>
          <a:xfrm>
            <a:off x="13435909" y="-121288"/>
            <a:ext cx="7139284" cy="9379588"/>
          </a:xfrm>
          <a:custGeom>
            <a:rect b="b" l="l" r="r" t="t"/>
            <a:pathLst>
              <a:path extrusionOk="0" h="9379588" w="7139284">
                <a:moveTo>
                  <a:pt x="0" y="0"/>
                </a:moveTo>
                <a:lnTo>
                  <a:pt x="7139284" y="0"/>
                </a:lnTo>
                <a:lnTo>
                  <a:pt x="7139284" y="9379588"/>
                </a:lnTo>
                <a:lnTo>
                  <a:pt x="0" y="9379588"/>
                </a:lnTo>
                <a:lnTo>
                  <a:pt x="0" y="0"/>
                </a:lnTo>
                <a:close/>
              </a:path>
            </a:pathLst>
          </a:custGeom>
          <a:blipFill rotWithShape="1">
            <a:blip r:embed="rId3">
              <a:alphaModFix/>
            </a:blip>
            <a:stretch>
              <a:fillRect b="0" l="0" r="0" t="0"/>
            </a:stretch>
          </a:blipFill>
          <a:ln>
            <a:noFill/>
          </a:ln>
        </p:spPr>
      </p:sp>
      <p:sp>
        <p:nvSpPr>
          <p:cNvPr id="277" name="Google Shape;277;p12"/>
          <p:cNvSpPr/>
          <p:nvPr/>
        </p:nvSpPr>
        <p:spPr>
          <a:xfrm flipH="1">
            <a:off x="-2715721" y="-190500"/>
            <a:ext cx="7139284" cy="9379588"/>
          </a:xfrm>
          <a:custGeom>
            <a:rect b="b" l="l" r="r" t="t"/>
            <a:pathLst>
              <a:path extrusionOk="0" h="9379588" w="7139284">
                <a:moveTo>
                  <a:pt x="7139284" y="0"/>
                </a:moveTo>
                <a:lnTo>
                  <a:pt x="0" y="0"/>
                </a:lnTo>
                <a:lnTo>
                  <a:pt x="0" y="9379588"/>
                </a:lnTo>
                <a:lnTo>
                  <a:pt x="7139284" y="9379588"/>
                </a:lnTo>
                <a:lnTo>
                  <a:pt x="7139284" y="0"/>
                </a:lnTo>
                <a:close/>
              </a:path>
            </a:pathLst>
          </a:custGeom>
          <a:blipFill rotWithShape="1">
            <a:blip r:embed="rId3">
              <a:alphaModFix/>
            </a:blip>
            <a:stretch>
              <a:fillRect b="0" l="0" r="0" t="0"/>
            </a:stretch>
          </a:blipFill>
          <a:ln>
            <a:noFill/>
          </a:ln>
        </p:spPr>
      </p:sp>
      <p:sp>
        <p:nvSpPr>
          <p:cNvPr id="278" name="Google Shape;278;p12"/>
          <p:cNvSpPr/>
          <p:nvPr/>
        </p:nvSpPr>
        <p:spPr>
          <a:xfrm>
            <a:off x="0" y="7690055"/>
            <a:ext cx="18701319" cy="4258146"/>
          </a:xfrm>
          <a:custGeom>
            <a:rect b="b" l="l" r="r" t="t"/>
            <a:pathLst>
              <a:path extrusionOk="0" h="4258146" w="18701319">
                <a:moveTo>
                  <a:pt x="0" y="0"/>
                </a:moveTo>
                <a:lnTo>
                  <a:pt x="18701319" y="0"/>
                </a:lnTo>
                <a:lnTo>
                  <a:pt x="18701319" y="4258146"/>
                </a:lnTo>
                <a:lnTo>
                  <a:pt x="0" y="4258146"/>
                </a:lnTo>
                <a:lnTo>
                  <a:pt x="0" y="0"/>
                </a:lnTo>
                <a:close/>
              </a:path>
            </a:pathLst>
          </a:custGeom>
          <a:blipFill rotWithShape="1">
            <a:blip r:embed="rId4">
              <a:alphaModFix/>
            </a:blip>
            <a:stretch>
              <a:fillRect b="0" l="0" r="0" t="0"/>
            </a:stretch>
          </a:blipFill>
          <a:ln>
            <a:noFill/>
          </a:ln>
        </p:spPr>
      </p:sp>
      <p:grpSp>
        <p:nvGrpSpPr>
          <p:cNvPr id="279" name="Google Shape;279;p12"/>
          <p:cNvGrpSpPr/>
          <p:nvPr/>
        </p:nvGrpSpPr>
        <p:grpSpPr>
          <a:xfrm>
            <a:off x="1453825" y="1645131"/>
            <a:ext cx="15333537" cy="777155"/>
            <a:chOff x="0" y="0"/>
            <a:chExt cx="4183433" cy="438575"/>
          </a:xfrm>
        </p:grpSpPr>
        <p:sp>
          <p:nvSpPr>
            <p:cNvPr id="280" name="Google Shape;280;p12"/>
            <p:cNvSpPr/>
            <p:nvPr/>
          </p:nvSpPr>
          <p:spPr>
            <a:xfrm>
              <a:off x="0" y="0"/>
              <a:ext cx="4183433" cy="438575"/>
            </a:xfrm>
            <a:custGeom>
              <a:rect b="b" l="l" r="r" t="t"/>
              <a:pathLst>
                <a:path extrusionOk="0" h="438575" w="4183433">
                  <a:moveTo>
                    <a:pt x="25750" y="0"/>
                  </a:moveTo>
                  <a:lnTo>
                    <a:pt x="4157683" y="0"/>
                  </a:lnTo>
                  <a:cubicBezTo>
                    <a:pt x="4171904" y="0"/>
                    <a:pt x="4183433" y="11529"/>
                    <a:pt x="4183433" y="25750"/>
                  </a:cubicBezTo>
                  <a:lnTo>
                    <a:pt x="4183433" y="412825"/>
                  </a:lnTo>
                  <a:cubicBezTo>
                    <a:pt x="4183433" y="419655"/>
                    <a:pt x="4180720" y="426204"/>
                    <a:pt x="4175891" y="431033"/>
                  </a:cubicBezTo>
                  <a:cubicBezTo>
                    <a:pt x="4171062" y="435862"/>
                    <a:pt x="4164512" y="438575"/>
                    <a:pt x="4157683" y="438575"/>
                  </a:cubicBezTo>
                  <a:lnTo>
                    <a:pt x="25750" y="438575"/>
                  </a:lnTo>
                  <a:cubicBezTo>
                    <a:pt x="18921" y="438575"/>
                    <a:pt x="12371" y="435862"/>
                    <a:pt x="7542" y="431033"/>
                  </a:cubicBezTo>
                  <a:cubicBezTo>
                    <a:pt x="2713" y="426204"/>
                    <a:pt x="0" y="419655"/>
                    <a:pt x="0" y="412825"/>
                  </a:cubicBezTo>
                  <a:lnTo>
                    <a:pt x="0" y="25750"/>
                  </a:lnTo>
                  <a:cubicBezTo>
                    <a:pt x="0" y="18921"/>
                    <a:pt x="2713" y="12371"/>
                    <a:pt x="7542" y="7542"/>
                  </a:cubicBezTo>
                  <a:cubicBezTo>
                    <a:pt x="12371" y="2713"/>
                    <a:pt x="18921" y="0"/>
                    <a:pt x="25750" y="0"/>
                  </a:cubicBezTo>
                  <a:close/>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2"/>
            <p:cNvSpPr txBox="1"/>
            <p:nvPr/>
          </p:nvSpPr>
          <p:spPr>
            <a:xfrm>
              <a:off x="0" y="47625"/>
              <a:ext cx="4183433" cy="390950"/>
            </a:xfrm>
            <a:prstGeom prst="rect">
              <a:avLst/>
            </a:prstGeom>
            <a:noFill/>
            <a:ln>
              <a:noFill/>
            </a:ln>
          </p:spPr>
          <p:txBody>
            <a:bodyPr anchorCtr="0" anchor="ctr" bIns="50800" lIns="50800" spcFirstLastPara="1" rIns="50800" wrap="square" tIns="50800">
              <a:noAutofit/>
            </a:bodyPr>
            <a:lstStyle/>
            <a:p>
              <a:pPr indent="0" lvl="0" marL="0" marR="0" rtl="0" algn="ctr">
                <a:lnSpc>
                  <a:spcPct val="111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82" name="Google Shape;282;p12"/>
          <p:cNvSpPr/>
          <p:nvPr/>
        </p:nvSpPr>
        <p:spPr>
          <a:xfrm rot="186570">
            <a:off x="295350" y="374477"/>
            <a:ext cx="1466700" cy="1308446"/>
          </a:xfrm>
          <a:custGeom>
            <a:rect b="b" l="l" r="r" t="t"/>
            <a:pathLst>
              <a:path extrusionOk="0" h="1308446" w="1466700">
                <a:moveTo>
                  <a:pt x="0" y="0"/>
                </a:moveTo>
                <a:lnTo>
                  <a:pt x="1466700" y="0"/>
                </a:lnTo>
                <a:lnTo>
                  <a:pt x="1466700" y="1308446"/>
                </a:lnTo>
                <a:lnTo>
                  <a:pt x="0" y="1308446"/>
                </a:lnTo>
                <a:lnTo>
                  <a:pt x="0" y="0"/>
                </a:lnTo>
                <a:close/>
              </a:path>
            </a:pathLst>
          </a:custGeom>
          <a:blipFill rotWithShape="1">
            <a:blip r:embed="rId5">
              <a:alphaModFix/>
            </a:blip>
            <a:stretch>
              <a:fillRect b="0" l="0" r="0" t="0"/>
            </a:stretch>
          </a:blipFill>
          <a:ln>
            <a:noFill/>
          </a:ln>
        </p:spPr>
      </p:sp>
      <p:sp>
        <p:nvSpPr>
          <p:cNvPr id="283" name="Google Shape;283;p12"/>
          <p:cNvSpPr/>
          <p:nvPr/>
        </p:nvSpPr>
        <p:spPr>
          <a:xfrm flipH="1" rot="-425068">
            <a:off x="16520453" y="317395"/>
            <a:ext cx="1477694" cy="1318254"/>
          </a:xfrm>
          <a:custGeom>
            <a:rect b="b" l="l" r="r" t="t"/>
            <a:pathLst>
              <a:path extrusionOk="0" h="1318254" w="1477694">
                <a:moveTo>
                  <a:pt x="1477694" y="0"/>
                </a:moveTo>
                <a:lnTo>
                  <a:pt x="0" y="0"/>
                </a:lnTo>
                <a:lnTo>
                  <a:pt x="0" y="1318254"/>
                </a:lnTo>
                <a:lnTo>
                  <a:pt x="1477694" y="1318254"/>
                </a:lnTo>
                <a:lnTo>
                  <a:pt x="1477694" y="0"/>
                </a:lnTo>
                <a:close/>
              </a:path>
            </a:pathLst>
          </a:custGeom>
          <a:blipFill rotWithShape="1">
            <a:blip r:embed="rId5">
              <a:alphaModFix/>
            </a:blip>
            <a:stretch>
              <a:fillRect b="0" l="0" r="0" t="0"/>
            </a:stretch>
          </a:blipFill>
          <a:ln>
            <a:noFill/>
          </a:ln>
        </p:spPr>
      </p:sp>
      <p:sp>
        <p:nvSpPr>
          <p:cNvPr id="284" name="Google Shape;284;p12"/>
          <p:cNvSpPr txBox="1"/>
          <p:nvPr/>
        </p:nvSpPr>
        <p:spPr>
          <a:xfrm>
            <a:off x="2036804" y="373760"/>
            <a:ext cx="14167653" cy="933205"/>
          </a:xfrm>
          <a:prstGeom prst="rect">
            <a:avLst/>
          </a:prstGeom>
          <a:noFill/>
          <a:ln>
            <a:noFill/>
          </a:ln>
        </p:spPr>
        <p:txBody>
          <a:bodyPr anchorCtr="0" anchor="t" bIns="0" lIns="0" spcFirstLastPara="1" rIns="0" wrap="square" tIns="0">
            <a:spAutoFit/>
          </a:bodyPr>
          <a:lstStyle/>
          <a:p>
            <a:pPr indent="0" lvl="0" marL="0" marR="0" rtl="0" algn="ctr">
              <a:lnSpc>
                <a:spcPct val="112997"/>
              </a:lnSpc>
              <a:spcBef>
                <a:spcPts val="0"/>
              </a:spcBef>
              <a:spcAft>
                <a:spcPts val="0"/>
              </a:spcAft>
              <a:buNone/>
            </a:pPr>
            <a:r>
              <a:rPr lang="en-US" sz="6401">
                <a:solidFill>
                  <a:srgbClr val="FFFFFF"/>
                </a:solidFill>
                <a:latin typeface="Arial"/>
                <a:ea typeface="Arial"/>
                <a:cs typeface="Arial"/>
                <a:sym typeface="Arial"/>
              </a:rPr>
              <a:t>Results – intent schema</a:t>
            </a:r>
            <a:endParaRPr/>
          </a:p>
        </p:txBody>
      </p:sp>
      <p:sp>
        <p:nvSpPr>
          <p:cNvPr id="285" name="Google Shape;285;p12"/>
          <p:cNvSpPr txBox="1"/>
          <p:nvPr/>
        </p:nvSpPr>
        <p:spPr>
          <a:xfrm>
            <a:off x="1796458" y="1820881"/>
            <a:ext cx="14648344" cy="777136"/>
          </a:xfrm>
          <a:prstGeom prst="rect">
            <a:avLst/>
          </a:prstGeom>
          <a:noFill/>
          <a:ln>
            <a:noFill/>
          </a:ln>
        </p:spPr>
        <p:txBody>
          <a:bodyPr anchorCtr="0" anchor="t" bIns="0" lIns="0" spcFirstLastPara="1" rIns="0" wrap="square" tIns="0">
            <a:spAutoFit/>
          </a:bodyPr>
          <a:lstStyle/>
          <a:p>
            <a:pPr indent="0" lvl="0" marL="0" marR="0" rtl="0" algn="l">
              <a:lnSpc>
                <a:spcPct val="140017"/>
              </a:lnSpc>
              <a:spcBef>
                <a:spcPts val="0"/>
              </a:spcBef>
              <a:spcAft>
                <a:spcPts val="0"/>
              </a:spcAft>
              <a:buNone/>
            </a:pPr>
            <a:r>
              <a:rPr lang="en-US" sz="2299">
                <a:solidFill>
                  <a:srgbClr val="FFFFFF"/>
                </a:solidFill>
                <a:latin typeface="Arial"/>
                <a:ea typeface="Arial"/>
                <a:cs typeface="Arial"/>
                <a:sym typeface="Arial"/>
              </a:rPr>
              <a:t>The Intent Schema defines what actions the system understands and what information to extract for each action.</a:t>
            </a:r>
            <a:endParaRPr/>
          </a:p>
        </p:txBody>
      </p:sp>
      <p:sp>
        <p:nvSpPr>
          <p:cNvPr id="286" name="Google Shape;286;p12"/>
          <p:cNvSpPr/>
          <p:nvPr/>
        </p:nvSpPr>
        <p:spPr>
          <a:xfrm>
            <a:off x="8991600" y="49911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12"/>
          <p:cNvSpPr/>
          <p:nvPr/>
        </p:nvSpPr>
        <p:spPr>
          <a:xfrm>
            <a:off x="9144000" y="51435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88" name="Google Shape;288;p12"/>
          <p:cNvPicPr preferRelativeResize="0"/>
          <p:nvPr/>
        </p:nvPicPr>
        <p:blipFill>
          <a:blip r:embed="rId6">
            <a:alphaModFix/>
          </a:blip>
          <a:stretch>
            <a:fillRect/>
          </a:stretch>
        </p:blipFill>
        <p:spPr>
          <a:xfrm>
            <a:off x="260950" y="2697150"/>
            <a:ext cx="16783452" cy="70984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153C"/>
        </a:solidFill>
      </p:bgPr>
    </p:bg>
    <p:spTree>
      <p:nvGrpSpPr>
        <p:cNvPr id="292" name="Shape 292"/>
        <p:cNvGrpSpPr/>
        <p:nvPr/>
      </p:nvGrpSpPr>
      <p:grpSpPr>
        <a:xfrm>
          <a:off x="0" y="0"/>
          <a:ext cx="0" cy="0"/>
          <a:chOff x="0" y="0"/>
          <a:chExt cx="0" cy="0"/>
        </a:xfrm>
      </p:grpSpPr>
      <p:sp>
        <p:nvSpPr>
          <p:cNvPr id="293" name="Google Shape;293;p13"/>
          <p:cNvSpPr/>
          <p:nvPr/>
        </p:nvSpPr>
        <p:spPr>
          <a:xfrm>
            <a:off x="13435909" y="-121288"/>
            <a:ext cx="7139284" cy="9379588"/>
          </a:xfrm>
          <a:custGeom>
            <a:rect b="b" l="l" r="r" t="t"/>
            <a:pathLst>
              <a:path extrusionOk="0" h="9379588" w="7139284">
                <a:moveTo>
                  <a:pt x="0" y="0"/>
                </a:moveTo>
                <a:lnTo>
                  <a:pt x="7139284" y="0"/>
                </a:lnTo>
                <a:lnTo>
                  <a:pt x="7139284" y="9379588"/>
                </a:lnTo>
                <a:lnTo>
                  <a:pt x="0" y="9379588"/>
                </a:lnTo>
                <a:lnTo>
                  <a:pt x="0" y="0"/>
                </a:lnTo>
                <a:close/>
              </a:path>
            </a:pathLst>
          </a:custGeom>
          <a:blipFill rotWithShape="1">
            <a:blip r:embed="rId3">
              <a:alphaModFix/>
            </a:blip>
            <a:stretch>
              <a:fillRect b="0" l="0" r="0" t="0"/>
            </a:stretch>
          </a:blipFill>
          <a:ln>
            <a:noFill/>
          </a:ln>
        </p:spPr>
      </p:sp>
      <p:sp>
        <p:nvSpPr>
          <p:cNvPr id="294" name="Google Shape;294;p13"/>
          <p:cNvSpPr/>
          <p:nvPr/>
        </p:nvSpPr>
        <p:spPr>
          <a:xfrm flipH="1">
            <a:off x="-2715721" y="-121288"/>
            <a:ext cx="7139284" cy="9379588"/>
          </a:xfrm>
          <a:custGeom>
            <a:rect b="b" l="l" r="r" t="t"/>
            <a:pathLst>
              <a:path extrusionOk="0" h="9379588" w="7139284">
                <a:moveTo>
                  <a:pt x="7139284" y="0"/>
                </a:moveTo>
                <a:lnTo>
                  <a:pt x="0" y="0"/>
                </a:lnTo>
                <a:lnTo>
                  <a:pt x="0" y="9379588"/>
                </a:lnTo>
                <a:lnTo>
                  <a:pt x="7139284" y="9379588"/>
                </a:lnTo>
                <a:lnTo>
                  <a:pt x="7139284" y="0"/>
                </a:lnTo>
                <a:close/>
              </a:path>
            </a:pathLst>
          </a:custGeom>
          <a:blipFill rotWithShape="1">
            <a:blip r:embed="rId3">
              <a:alphaModFix/>
            </a:blip>
            <a:stretch>
              <a:fillRect b="0" l="0" r="0" t="0"/>
            </a:stretch>
          </a:blipFill>
          <a:ln>
            <a:noFill/>
          </a:ln>
        </p:spPr>
      </p:sp>
      <p:sp>
        <p:nvSpPr>
          <p:cNvPr id="295" name="Google Shape;295;p13"/>
          <p:cNvSpPr/>
          <p:nvPr/>
        </p:nvSpPr>
        <p:spPr>
          <a:xfrm>
            <a:off x="0" y="7690055"/>
            <a:ext cx="18701319" cy="4258146"/>
          </a:xfrm>
          <a:custGeom>
            <a:rect b="b" l="l" r="r" t="t"/>
            <a:pathLst>
              <a:path extrusionOk="0" h="4258146" w="18701319">
                <a:moveTo>
                  <a:pt x="0" y="0"/>
                </a:moveTo>
                <a:lnTo>
                  <a:pt x="18701319" y="0"/>
                </a:lnTo>
                <a:lnTo>
                  <a:pt x="18701319" y="4258146"/>
                </a:lnTo>
                <a:lnTo>
                  <a:pt x="0" y="4258146"/>
                </a:lnTo>
                <a:lnTo>
                  <a:pt x="0" y="0"/>
                </a:lnTo>
                <a:close/>
              </a:path>
            </a:pathLst>
          </a:custGeom>
          <a:blipFill rotWithShape="1">
            <a:blip r:embed="rId4">
              <a:alphaModFix/>
            </a:blip>
            <a:stretch>
              <a:fillRect b="0" l="0" r="0" t="0"/>
            </a:stretch>
          </a:blipFill>
          <a:ln>
            <a:noFill/>
          </a:ln>
        </p:spPr>
      </p:sp>
      <p:grpSp>
        <p:nvGrpSpPr>
          <p:cNvPr id="296" name="Google Shape;296;p13"/>
          <p:cNvGrpSpPr/>
          <p:nvPr/>
        </p:nvGrpSpPr>
        <p:grpSpPr>
          <a:xfrm>
            <a:off x="1453817" y="1645137"/>
            <a:ext cx="15333627" cy="1607519"/>
            <a:chOff x="0" y="0"/>
            <a:chExt cx="4183433" cy="438575"/>
          </a:xfrm>
        </p:grpSpPr>
        <p:sp>
          <p:nvSpPr>
            <p:cNvPr id="297" name="Google Shape;297;p13"/>
            <p:cNvSpPr/>
            <p:nvPr/>
          </p:nvSpPr>
          <p:spPr>
            <a:xfrm>
              <a:off x="0" y="0"/>
              <a:ext cx="4183433" cy="438575"/>
            </a:xfrm>
            <a:custGeom>
              <a:rect b="b" l="l" r="r" t="t"/>
              <a:pathLst>
                <a:path extrusionOk="0" h="438575" w="4183433">
                  <a:moveTo>
                    <a:pt x="25750" y="0"/>
                  </a:moveTo>
                  <a:lnTo>
                    <a:pt x="4157683" y="0"/>
                  </a:lnTo>
                  <a:cubicBezTo>
                    <a:pt x="4171904" y="0"/>
                    <a:pt x="4183433" y="11529"/>
                    <a:pt x="4183433" y="25750"/>
                  </a:cubicBezTo>
                  <a:lnTo>
                    <a:pt x="4183433" y="412825"/>
                  </a:lnTo>
                  <a:cubicBezTo>
                    <a:pt x="4183433" y="419655"/>
                    <a:pt x="4180720" y="426204"/>
                    <a:pt x="4175891" y="431033"/>
                  </a:cubicBezTo>
                  <a:cubicBezTo>
                    <a:pt x="4171062" y="435862"/>
                    <a:pt x="4164512" y="438575"/>
                    <a:pt x="4157683" y="438575"/>
                  </a:cubicBezTo>
                  <a:lnTo>
                    <a:pt x="25750" y="438575"/>
                  </a:lnTo>
                  <a:cubicBezTo>
                    <a:pt x="18921" y="438575"/>
                    <a:pt x="12371" y="435862"/>
                    <a:pt x="7542" y="431033"/>
                  </a:cubicBezTo>
                  <a:cubicBezTo>
                    <a:pt x="2713" y="426204"/>
                    <a:pt x="0" y="419655"/>
                    <a:pt x="0" y="412825"/>
                  </a:cubicBezTo>
                  <a:lnTo>
                    <a:pt x="0" y="25750"/>
                  </a:lnTo>
                  <a:cubicBezTo>
                    <a:pt x="0" y="18921"/>
                    <a:pt x="2713" y="12371"/>
                    <a:pt x="7542" y="7542"/>
                  </a:cubicBezTo>
                  <a:cubicBezTo>
                    <a:pt x="12371" y="2713"/>
                    <a:pt x="18921" y="0"/>
                    <a:pt x="25750" y="0"/>
                  </a:cubicBezTo>
                  <a:close/>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3"/>
            <p:cNvSpPr txBox="1"/>
            <p:nvPr/>
          </p:nvSpPr>
          <p:spPr>
            <a:xfrm>
              <a:off x="0" y="47625"/>
              <a:ext cx="4183433" cy="390950"/>
            </a:xfrm>
            <a:prstGeom prst="rect">
              <a:avLst/>
            </a:prstGeom>
            <a:noFill/>
            <a:ln>
              <a:noFill/>
            </a:ln>
          </p:spPr>
          <p:txBody>
            <a:bodyPr anchorCtr="0" anchor="ctr" bIns="50800" lIns="50800" spcFirstLastPara="1" rIns="50800" wrap="square" tIns="50800">
              <a:noAutofit/>
            </a:bodyPr>
            <a:lstStyle/>
            <a:p>
              <a:pPr indent="0" lvl="0" marL="0" marR="0" rtl="0" algn="ctr">
                <a:lnSpc>
                  <a:spcPct val="111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9" name="Google Shape;299;p13"/>
          <p:cNvSpPr/>
          <p:nvPr/>
        </p:nvSpPr>
        <p:spPr>
          <a:xfrm rot="186570">
            <a:off x="295350" y="374477"/>
            <a:ext cx="1466700" cy="1308446"/>
          </a:xfrm>
          <a:custGeom>
            <a:rect b="b" l="l" r="r" t="t"/>
            <a:pathLst>
              <a:path extrusionOk="0" h="1308446" w="1466700">
                <a:moveTo>
                  <a:pt x="0" y="0"/>
                </a:moveTo>
                <a:lnTo>
                  <a:pt x="1466700" y="0"/>
                </a:lnTo>
                <a:lnTo>
                  <a:pt x="1466700" y="1308446"/>
                </a:lnTo>
                <a:lnTo>
                  <a:pt x="0" y="1308446"/>
                </a:lnTo>
                <a:lnTo>
                  <a:pt x="0" y="0"/>
                </a:lnTo>
                <a:close/>
              </a:path>
            </a:pathLst>
          </a:custGeom>
          <a:blipFill rotWithShape="1">
            <a:blip r:embed="rId5">
              <a:alphaModFix/>
            </a:blip>
            <a:stretch>
              <a:fillRect b="0" l="0" r="0" t="0"/>
            </a:stretch>
          </a:blipFill>
          <a:ln>
            <a:noFill/>
          </a:ln>
        </p:spPr>
      </p:sp>
      <p:sp>
        <p:nvSpPr>
          <p:cNvPr id="300" name="Google Shape;300;p13"/>
          <p:cNvSpPr/>
          <p:nvPr/>
        </p:nvSpPr>
        <p:spPr>
          <a:xfrm flipH="1" rot="-425068">
            <a:off x="16520453" y="317395"/>
            <a:ext cx="1477694" cy="1318254"/>
          </a:xfrm>
          <a:custGeom>
            <a:rect b="b" l="l" r="r" t="t"/>
            <a:pathLst>
              <a:path extrusionOk="0" h="1318254" w="1477694">
                <a:moveTo>
                  <a:pt x="1477694" y="0"/>
                </a:moveTo>
                <a:lnTo>
                  <a:pt x="0" y="0"/>
                </a:lnTo>
                <a:lnTo>
                  <a:pt x="0" y="1318254"/>
                </a:lnTo>
                <a:lnTo>
                  <a:pt x="1477694" y="1318254"/>
                </a:lnTo>
                <a:lnTo>
                  <a:pt x="1477694" y="0"/>
                </a:lnTo>
                <a:close/>
              </a:path>
            </a:pathLst>
          </a:custGeom>
          <a:blipFill rotWithShape="1">
            <a:blip r:embed="rId5">
              <a:alphaModFix/>
            </a:blip>
            <a:stretch>
              <a:fillRect b="0" l="0" r="0" t="0"/>
            </a:stretch>
          </a:blipFill>
          <a:ln>
            <a:noFill/>
          </a:ln>
        </p:spPr>
      </p:sp>
      <p:sp>
        <p:nvSpPr>
          <p:cNvPr id="301" name="Google Shape;301;p13"/>
          <p:cNvSpPr txBox="1"/>
          <p:nvPr/>
        </p:nvSpPr>
        <p:spPr>
          <a:xfrm>
            <a:off x="2036804" y="373760"/>
            <a:ext cx="14167800" cy="985200"/>
          </a:xfrm>
          <a:prstGeom prst="rect">
            <a:avLst/>
          </a:prstGeom>
          <a:noFill/>
          <a:ln>
            <a:noFill/>
          </a:ln>
        </p:spPr>
        <p:txBody>
          <a:bodyPr anchorCtr="0" anchor="t" bIns="0" lIns="0" spcFirstLastPara="1" rIns="0" wrap="square" tIns="0">
            <a:spAutoFit/>
          </a:bodyPr>
          <a:lstStyle/>
          <a:p>
            <a:pPr indent="0" lvl="0" marL="0" marR="0" rtl="0" algn="ctr">
              <a:lnSpc>
                <a:spcPct val="112997"/>
              </a:lnSpc>
              <a:spcBef>
                <a:spcPts val="0"/>
              </a:spcBef>
              <a:spcAft>
                <a:spcPts val="0"/>
              </a:spcAft>
              <a:buNone/>
            </a:pPr>
            <a:r>
              <a:rPr lang="en-US" sz="6401">
                <a:solidFill>
                  <a:srgbClr val="FFFFFF"/>
                </a:solidFill>
                <a:latin typeface="Arial"/>
                <a:ea typeface="Arial"/>
                <a:cs typeface="Arial"/>
                <a:sym typeface="Arial"/>
              </a:rPr>
              <a:t>Results – Model </a:t>
            </a:r>
            <a:endParaRPr/>
          </a:p>
        </p:txBody>
      </p:sp>
      <p:sp>
        <p:nvSpPr>
          <p:cNvPr id="302" name="Google Shape;302;p13"/>
          <p:cNvSpPr/>
          <p:nvPr/>
        </p:nvSpPr>
        <p:spPr>
          <a:xfrm>
            <a:off x="8991600" y="49911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p13"/>
          <p:cNvSpPr/>
          <p:nvPr/>
        </p:nvSpPr>
        <p:spPr>
          <a:xfrm>
            <a:off x="9144000" y="51435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4" name="Google Shape;304;p13"/>
          <p:cNvSpPr/>
          <p:nvPr/>
        </p:nvSpPr>
        <p:spPr>
          <a:xfrm>
            <a:off x="9296400" y="52959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5" name="Google Shape;305;p13"/>
          <p:cNvSpPr txBox="1"/>
          <p:nvPr/>
        </p:nvSpPr>
        <p:spPr>
          <a:xfrm>
            <a:off x="1825024" y="2023725"/>
            <a:ext cx="128910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Calibri"/>
                <a:ea typeface="Calibri"/>
                <a:cs typeface="Calibri"/>
                <a:sym typeface="Calibri"/>
              </a:rPr>
              <a:t>This section compares two different LLMs — Gemma (local via Ollama) and Qwen</a:t>
            </a:r>
            <a:r>
              <a:rPr lang="en-US" sz="2400">
                <a:solidFill>
                  <a:schemeClr val="lt1"/>
                </a:solidFill>
                <a:latin typeface="Calibri"/>
                <a:ea typeface="Calibri"/>
                <a:cs typeface="Calibri"/>
                <a:sym typeface="Calibri"/>
              </a:rPr>
              <a:t> (local via Ollama)</a:t>
            </a:r>
            <a:r>
              <a:rPr lang="en-US" sz="2400">
                <a:solidFill>
                  <a:schemeClr val="lt1"/>
                </a:solidFill>
                <a:latin typeface="Calibri"/>
                <a:ea typeface="Calibri"/>
                <a:cs typeface="Calibri"/>
                <a:sym typeface="Calibri"/>
              </a:rPr>
              <a:t> — on the same set of intents and test samples, using standard classification metrics</a:t>
            </a:r>
            <a:endParaRPr/>
          </a:p>
        </p:txBody>
      </p:sp>
      <p:pic>
        <p:nvPicPr>
          <p:cNvPr id="306" name="Google Shape;306;p13"/>
          <p:cNvPicPr preferRelativeResize="0"/>
          <p:nvPr/>
        </p:nvPicPr>
        <p:blipFill>
          <a:blip r:embed="rId6">
            <a:alphaModFix/>
          </a:blip>
          <a:stretch>
            <a:fillRect/>
          </a:stretch>
        </p:blipFill>
        <p:spPr>
          <a:xfrm>
            <a:off x="8991600" y="3625525"/>
            <a:ext cx="8684024" cy="5212699"/>
          </a:xfrm>
          <a:prstGeom prst="rect">
            <a:avLst/>
          </a:prstGeom>
          <a:noFill/>
          <a:ln>
            <a:noFill/>
          </a:ln>
        </p:spPr>
      </p:pic>
      <p:pic>
        <p:nvPicPr>
          <p:cNvPr id="307" name="Google Shape;307;p13"/>
          <p:cNvPicPr preferRelativeResize="0"/>
          <p:nvPr/>
        </p:nvPicPr>
        <p:blipFill>
          <a:blip r:embed="rId7">
            <a:alphaModFix/>
          </a:blip>
          <a:stretch>
            <a:fillRect/>
          </a:stretch>
        </p:blipFill>
        <p:spPr>
          <a:xfrm>
            <a:off x="446300" y="3625525"/>
            <a:ext cx="8401376" cy="5299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153C"/>
        </a:solidFill>
      </p:bgPr>
    </p:bg>
    <p:spTree>
      <p:nvGrpSpPr>
        <p:cNvPr id="311" name="Shape 311"/>
        <p:cNvGrpSpPr/>
        <p:nvPr/>
      </p:nvGrpSpPr>
      <p:grpSpPr>
        <a:xfrm>
          <a:off x="0" y="0"/>
          <a:ext cx="0" cy="0"/>
          <a:chOff x="0" y="0"/>
          <a:chExt cx="0" cy="0"/>
        </a:xfrm>
      </p:grpSpPr>
      <p:sp>
        <p:nvSpPr>
          <p:cNvPr id="312" name="Google Shape;312;p15"/>
          <p:cNvSpPr/>
          <p:nvPr/>
        </p:nvSpPr>
        <p:spPr>
          <a:xfrm>
            <a:off x="0" y="7690055"/>
            <a:ext cx="18701319" cy="4258146"/>
          </a:xfrm>
          <a:custGeom>
            <a:rect b="b" l="l" r="r" t="t"/>
            <a:pathLst>
              <a:path extrusionOk="0" h="4258146" w="18701319">
                <a:moveTo>
                  <a:pt x="0" y="0"/>
                </a:moveTo>
                <a:lnTo>
                  <a:pt x="18701319" y="0"/>
                </a:lnTo>
                <a:lnTo>
                  <a:pt x="18701319" y="4258146"/>
                </a:lnTo>
                <a:lnTo>
                  <a:pt x="0" y="4258146"/>
                </a:lnTo>
                <a:lnTo>
                  <a:pt x="0" y="0"/>
                </a:lnTo>
                <a:close/>
              </a:path>
            </a:pathLst>
          </a:custGeom>
          <a:blipFill rotWithShape="1">
            <a:blip r:embed="rId3">
              <a:alphaModFix/>
            </a:blip>
            <a:stretch>
              <a:fillRect b="0" l="0" r="0" t="0"/>
            </a:stretch>
          </a:blipFill>
          <a:ln>
            <a:noFill/>
          </a:ln>
        </p:spPr>
      </p:sp>
      <p:sp>
        <p:nvSpPr>
          <p:cNvPr id="313" name="Google Shape;313;p15"/>
          <p:cNvSpPr/>
          <p:nvPr/>
        </p:nvSpPr>
        <p:spPr>
          <a:xfrm>
            <a:off x="-4802566" y="-3661094"/>
            <a:ext cx="8804594" cy="8804594"/>
          </a:xfrm>
          <a:custGeom>
            <a:rect b="b" l="l" r="r" t="t"/>
            <a:pathLst>
              <a:path extrusionOk="0" h="8804594" w="8804594">
                <a:moveTo>
                  <a:pt x="0" y="0"/>
                </a:moveTo>
                <a:lnTo>
                  <a:pt x="8804594" y="0"/>
                </a:lnTo>
                <a:lnTo>
                  <a:pt x="8804594" y="8804594"/>
                </a:lnTo>
                <a:lnTo>
                  <a:pt x="0" y="8804594"/>
                </a:lnTo>
                <a:lnTo>
                  <a:pt x="0" y="0"/>
                </a:lnTo>
                <a:close/>
              </a:path>
            </a:pathLst>
          </a:custGeom>
          <a:blipFill rotWithShape="1">
            <a:blip r:embed="rId4">
              <a:alphaModFix amt="43000"/>
            </a:blip>
            <a:stretch>
              <a:fillRect b="0" l="0" r="0" t="0"/>
            </a:stretch>
          </a:blipFill>
          <a:ln>
            <a:noFill/>
          </a:ln>
        </p:spPr>
      </p:sp>
      <p:sp>
        <p:nvSpPr>
          <p:cNvPr id="314" name="Google Shape;314;p15"/>
          <p:cNvSpPr/>
          <p:nvPr/>
        </p:nvSpPr>
        <p:spPr>
          <a:xfrm flipH="1">
            <a:off x="432386" y="-522364"/>
            <a:ext cx="7139284" cy="9379588"/>
          </a:xfrm>
          <a:custGeom>
            <a:rect b="b" l="l" r="r" t="t"/>
            <a:pathLst>
              <a:path extrusionOk="0" h="9379588" w="7139284">
                <a:moveTo>
                  <a:pt x="7139284" y="0"/>
                </a:moveTo>
                <a:lnTo>
                  <a:pt x="0" y="0"/>
                </a:lnTo>
                <a:lnTo>
                  <a:pt x="0" y="9379589"/>
                </a:lnTo>
                <a:lnTo>
                  <a:pt x="7139284" y="9379589"/>
                </a:lnTo>
                <a:lnTo>
                  <a:pt x="7139284" y="0"/>
                </a:lnTo>
                <a:close/>
              </a:path>
            </a:pathLst>
          </a:custGeom>
          <a:blipFill rotWithShape="1">
            <a:blip r:embed="rId5">
              <a:alphaModFix/>
            </a:blip>
            <a:stretch>
              <a:fillRect b="0" l="0" r="0" t="0"/>
            </a:stretch>
          </a:blipFill>
          <a:ln>
            <a:noFill/>
          </a:ln>
        </p:spPr>
      </p:sp>
      <p:sp>
        <p:nvSpPr>
          <p:cNvPr id="315" name="Google Shape;315;p15"/>
          <p:cNvSpPr/>
          <p:nvPr/>
        </p:nvSpPr>
        <p:spPr>
          <a:xfrm>
            <a:off x="1990007" y="7690055"/>
            <a:ext cx="7625234" cy="4528630"/>
          </a:xfrm>
          <a:custGeom>
            <a:rect b="b" l="l" r="r" t="t"/>
            <a:pathLst>
              <a:path extrusionOk="0" h="4528630" w="7625234">
                <a:moveTo>
                  <a:pt x="0" y="0"/>
                </a:moveTo>
                <a:lnTo>
                  <a:pt x="7625233" y="0"/>
                </a:lnTo>
                <a:lnTo>
                  <a:pt x="7625233" y="4528630"/>
                </a:lnTo>
                <a:lnTo>
                  <a:pt x="0" y="4528630"/>
                </a:lnTo>
                <a:lnTo>
                  <a:pt x="0" y="0"/>
                </a:lnTo>
                <a:close/>
              </a:path>
            </a:pathLst>
          </a:custGeom>
          <a:blipFill rotWithShape="1">
            <a:blip r:embed="rId6">
              <a:alphaModFix amt="23000"/>
            </a:blip>
            <a:stretch>
              <a:fillRect b="0" l="0" r="0" t="0"/>
            </a:stretch>
          </a:blipFill>
          <a:ln>
            <a:noFill/>
          </a:ln>
        </p:spPr>
      </p:sp>
      <p:sp>
        <p:nvSpPr>
          <p:cNvPr id="316" name="Google Shape;316;p15"/>
          <p:cNvSpPr/>
          <p:nvPr/>
        </p:nvSpPr>
        <p:spPr>
          <a:xfrm>
            <a:off x="252301" y="2166525"/>
            <a:ext cx="5989184" cy="6690699"/>
          </a:xfrm>
          <a:custGeom>
            <a:rect b="b" l="l" r="r" t="t"/>
            <a:pathLst>
              <a:path extrusionOk="0" h="6690699" w="5989184">
                <a:moveTo>
                  <a:pt x="0" y="0"/>
                </a:moveTo>
                <a:lnTo>
                  <a:pt x="5989185" y="0"/>
                </a:lnTo>
                <a:lnTo>
                  <a:pt x="5989185" y="6690700"/>
                </a:lnTo>
                <a:lnTo>
                  <a:pt x="0" y="6690700"/>
                </a:lnTo>
                <a:lnTo>
                  <a:pt x="0" y="0"/>
                </a:lnTo>
                <a:close/>
              </a:path>
            </a:pathLst>
          </a:custGeom>
          <a:blipFill rotWithShape="1">
            <a:blip r:embed="rId7">
              <a:alphaModFix/>
            </a:blip>
            <a:stretch>
              <a:fillRect b="0" l="0" r="0" t="0"/>
            </a:stretch>
          </a:blipFill>
          <a:ln>
            <a:noFill/>
          </a:ln>
        </p:spPr>
      </p:sp>
      <p:sp>
        <p:nvSpPr>
          <p:cNvPr id="317" name="Google Shape;317;p15"/>
          <p:cNvSpPr/>
          <p:nvPr/>
        </p:nvSpPr>
        <p:spPr>
          <a:xfrm>
            <a:off x="13885703" y="-1789620"/>
            <a:ext cx="8804594" cy="8804594"/>
          </a:xfrm>
          <a:custGeom>
            <a:rect b="b" l="l" r="r" t="t"/>
            <a:pathLst>
              <a:path extrusionOk="0" h="8804594" w="8804594">
                <a:moveTo>
                  <a:pt x="0" y="0"/>
                </a:moveTo>
                <a:lnTo>
                  <a:pt x="8804594" y="0"/>
                </a:lnTo>
                <a:lnTo>
                  <a:pt x="8804594" y="8804594"/>
                </a:lnTo>
                <a:lnTo>
                  <a:pt x="0" y="8804594"/>
                </a:lnTo>
                <a:lnTo>
                  <a:pt x="0" y="0"/>
                </a:lnTo>
                <a:close/>
              </a:path>
            </a:pathLst>
          </a:custGeom>
          <a:blipFill rotWithShape="1">
            <a:blip r:embed="rId4">
              <a:alphaModFix amt="43000"/>
            </a:blip>
            <a:stretch>
              <a:fillRect b="0" l="0" r="0" t="0"/>
            </a:stretch>
          </a:blipFill>
          <a:ln>
            <a:noFill/>
          </a:ln>
        </p:spPr>
      </p:sp>
      <p:sp>
        <p:nvSpPr>
          <p:cNvPr id="318" name="Google Shape;318;p15"/>
          <p:cNvSpPr txBox="1"/>
          <p:nvPr/>
        </p:nvSpPr>
        <p:spPr>
          <a:xfrm>
            <a:off x="655726" y="224077"/>
            <a:ext cx="18288000" cy="1319100"/>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lang="en-US" sz="8569">
                <a:solidFill>
                  <a:srgbClr val="FFFFFF"/>
                </a:solidFill>
                <a:latin typeface="Arial"/>
                <a:ea typeface="Arial"/>
                <a:cs typeface="Arial"/>
                <a:sym typeface="Arial"/>
              </a:rPr>
              <a:t>Overall Performance Summary</a:t>
            </a:r>
            <a:endParaRPr/>
          </a:p>
        </p:txBody>
      </p:sp>
      <p:sp>
        <p:nvSpPr>
          <p:cNvPr id="319" name="Google Shape;319;p15"/>
          <p:cNvSpPr txBox="1"/>
          <p:nvPr/>
        </p:nvSpPr>
        <p:spPr>
          <a:xfrm>
            <a:off x="6241486" y="1543176"/>
            <a:ext cx="11641200" cy="9140700"/>
          </a:xfrm>
          <a:prstGeom prst="rect">
            <a:avLst/>
          </a:prstGeom>
          <a:noFill/>
          <a:ln>
            <a:noFill/>
          </a:ln>
        </p:spPr>
        <p:txBody>
          <a:bodyPr anchorCtr="0" anchor="t" bIns="0" lIns="0" spcFirstLastPara="1" rIns="0" wrap="square" tIns="0">
            <a:spAutoFit/>
          </a:bodyPr>
          <a:lstStyle/>
          <a:p>
            <a:pPr indent="-291465" lvl="1" marL="582930" marR="0" rtl="0" algn="l">
              <a:lnSpc>
                <a:spcPct val="139962"/>
              </a:lnSpc>
              <a:spcBef>
                <a:spcPts val="0"/>
              </a:spcBef>
              <a:spcAft>
                <a:spcPts val="0"/>
              </a:spcAft>
              <a:buClr>
                <a:srgbClr val="44A5FF"/>
              </a:buClr>
              <a:buSzPts val="2700"/>
              <a:buFont typeface="Arial"/>
              <a:buChar char="•"/>
            </a:pPr>
            <a:r>
              <a:rPr b="0" i="0" lang="en-US" sz="2700" u="none" cap="none" strike="noStrike">
                <a:solidFill>
                  <a:srgbClr val="44A5FF"/>
                </a:solidFill>
                <a:latin typeface="Arial"/>
                <a:ea typeface="Arial"/>
                <a:cs typeface="Arial"/>
                <a:sym typeface="Arial"/>
              </a:rPr>
              <a:t>High Intent Classification Accuracy</a:t>
            </a:r>
            <a:endParaRPr/>
          </a:p>
          <a:p>
            <a:pPr indent="0" lvl="0" marL="0" marR="0" rtl="0" algn="l">
              <a:lnSpc>
                <a:spcPct val="139962"/>
              </a:lnSpc>
              <a:spcBef>
                <a:spcPts val="0"/>
              </a:spcBef>
              <a:spcAft>
                <a:spcPts val="0"/>
              </a:spcAft>
              <a:buNone/>
            </a:pPr>
            <a:r>
              <a:rPr lang="en-US" sz="2700">
                <a:solidFill>
                  <a:srgbClr val="FFFFFF"/>
                </a:solidFill>
                <a:latin typeface="Arial"/>
                <a:ea typeface="Arial"/>
                <a:cs typeface="Arial"/>
                <a:sym typeface="Arial"/>
              </a:rPr>
              <a:t>     The model achieved correct intent predictions across all     evaluated intents without misclassification.</a:t>
            </a:r>
            <a:endParaRPr/>
          </a:p>
          <a:p>
            <a:pPr indent="-291465" lvl="1" marL="582930" marR="0" rtl="0" algn="l">
              <a:lnSpc>
                <a:spcPct val="139962"/>
              </a:lnSpc>
              <a:spcBef>
                <a:spcPts val="0"/>
              </a:spcBef>
              <a:spcAft>
                <a:spcPts val="0"/>
              </a:spcAft>
              <a:buClr>
                <a:srgbClr val="44A5FF"/>
              </a:buClr>
              <a:buSzPts val="2700"/>
              <a:buFont typeface="Arial"/>
              <a:buChar char="•"/>
            </a:pPr>
            <a:r>
              <a:rPr b="0" i="0" lang="en-US" sz="2700" u="none" cap="none" strike="noStrike">
                <a:solidFill>
                  <a:srgbClr val="44A5FF"/>
                </a:solidFill>
                <a:latin typeface="Arial"/>
                <a:ea typeface="Arial"/>
                <a:cs typeface="Arial"/>
                <a:sym typeface="Arial"/>
              </a:rPr>
              <a:t>Consistent LLM Performance</a:t>
            </a:r>
            <a:endParaRPr/>
          </a:p>
          <a:p>
            <a:pPr indent="0" lvl="0" marL="0" marR="0" rtl="0" algn="l">
              <a:lnSpc>
                <a:spcPct val="139962"/>
              </a:lnSpc>
              <a:spcBef>
                <a:spcPts val="0"/>
              </a:spcBef>
              <a:spcAft>
                <a:spcPts val="0"/>
              </a:spcAft>
              <a:buNone/>
            </a:pPr>
            <a:r>
              <a:rPr lang="en-US" sz="2700">
                <a:solidFill>
                  <a:srgbClr val="FFFFFF"/>
                </a:solidFill>
                <a:latin typeface="Arial"/>
                <a:ea typeface="Arial"/>
                <a:cs typeface="Arial"/>
                <a:sym typeface="Arial"/>
              </a:rPr>
              <a:t>     The LLM delivered stable results without requiring retraining or parameter updates.</a:t>
            </a:r>
            <a:endParaRPr/>
          </a:p>
          <a:p>
            <a:pPr indent="-291465" lvl="1" marL="582930" marR="0" rtl="0" algn="l">
              <a:lnSpc>
                <a:spcPct val="139962"/>
              </a:lnSpc>
              <a:spcBef>
                <a:spcPts val="0"/>
              </a:spcBef>
              <a:spcAft>
                <a:spcPts val="0"/>
              </a:spcAft>
              <a:buClr>
                <a:srgbClr val="44A5FF"/>
              </a:buClr>
              <a:buSzPts val="2700"/>
              <a:buFont typeface="Arial"/>
              <a:buChar char="•"/>
            </a:pPr>
            <a:r>
              <a:rPr b="0" i="0" lang="en-US" sz="2700" u="none" cap="none" strike="noStrike">
                <a:solidFill>
                  <a:srgbClr val="44A5FF"/>
                </a:solidFill>
                <a:latin typeface="Arial"/>
                <a:ea typeface="Arial"/>
                <a:cs typeface="Arial"/>
                <a:sym typeface="Arial"/>
              </a:rPr>
              <a:t>Reliable Structured Output</a:t>
            </a:r>
            <a:endParaRPr/>
          </a:p>
          <a:p>
            <a:pPr indent="0" lvl="0" marL="0" marR="0" rtl="0" algn="l">
              <a:lnSpc>
                <a:spcPct val="139962"/>
              </a:lnSpc>
              <a:spcBef>
                <a:spcPts val="0"/>
              </a:spcBef>
              <a:spcAft>
                <a:spcPts val="0"/>
              </a:spcAft>
              <a:buNone/>
            </a:pPr>
            <a:r>
              <a:rPr lang="en-US" sz="2700">
                <a:solidFill>
                  <a:srgbClr val="FFFFFF"/>
                </a:solidFill>
                <a:latin typeface="Arial"/>
                <a:ea typeface="Arial"/>
                <a:cs typeface="Arial"/>
                <a:sym typeface="Arial"/>
              </a:rPr>
              <a:t>     Enforced JSON responses ensured error-free parsing and downstream processing.</a:t>
            </a:r>
            <a:endParaRPr/>
          </a:p>
          <a:p>
            <a:pPr indent="-291465" lvl="1" marL="582930" marR="0" rtl="0" algn="l">
              <a:lnSpc>
                <a:spcPct val="139962"/>
              </a:lnSpc>
              <a:spcBef>
                <a:spcPts val="0"/>
              </a:spcBef>
              <a:spcAft>
                <a:spcPts val="0"/>
              </a:spcAft>
              <a:buClr>
                <a:srgbClr val="44A5FF"/>
              </a:buClr>
              <a:buSzPts val="2700"/>
              <a:buFont typeface="Arial"/>
              <a:buChar char="•"/>
            </a:pPr>
            <a:r>
              <a:rPr b="0" i="0" lang="en-US" sz="2700" u="none" cap="none" strike="noStrike">
                <a:solidFill>
                  <a:srgbClr val="44A5FF"/>
                </a:solidFill>
                <a:latin typeface="Arial"/>
                <a:ea typeface="Arial"/>
                <a:cs typeface="Arial"/>
                <a:sym typeface="Arial"/>
              </a:rPr>
              <a:t>Effective Evaluation Coverage</a:t>
            </a:r>
            <a:endParaRPr/>
          </a:p>
          <a:p>
            <a:pPr indent="0" lvl="0" marL="0" marR="0" rtl="0" algn="l">
              <a:lnSpc>
                <a:spcPct val="139962"/>
              </a:lnSpc>
              <a:spcBef>
                <a:spcPts val="0"/>
              </a:spcBef>
              <a:spcAft>
                <a:spcPts val="0"/>
              </a:spcAft>
              <a:buNone/>
            </a:pPr>
            <a:r>
              <a:rPr lang="en-US" sz="2700">
                <a:solidFill>
                  <a:srgbClr val="FFFFFF"/>
                </a:solidFill>
                <a:latin typeface="Arial"/>
                <a:ea typeface="Arial"/>
                <a:cs typeface="Arial"/>
                <a:sym typeface="Arial"/>
              </a:rPr>
              <a:t>     Each intent was validated at least once, confirming reliable intent separation.</a:t>
            </a:r>
            <a:endParaRPr/>
          </a:p>
          <a:p>
            <a:pPr indent="-291465" lvl="1" marL="582930" marR="0" rtl="0" algn="l">
              <a:lnSpc>
                <a:spcPct val="139962"/>
              </a:lnSpc>
              <a:spcBef>
                <a:spcPts val="0"/>
              </a:spcBef>
              <a:spcAft>
                <a:spcPts val="0"/>
              </a:spcAft>
              <a:buClr>
                <a:srgbClr val="44A5FF"/>
              </a:buClr>
              <a:buSzPts val="2700"/>
              <a:buFont typeface="Arial"/>
              <a:buChar char="•"/>
            </a:pPr>
            <a:r>
              <a:rPr b="0" i="0" lang="en-US" sz="2700" u="none" cap="none" strike="noStrike">
                <a:solidFill>
                  <a:srgbClr val="44A5FF"/>
                </a:solidFill>
                <a:latin typeface="Arial"/>
                <a:ea typeface="Arial"/>
                <a:cs typeface="Arial"/>
                <a:sym typeface="Arial"/>
              </a:rPr>
              <a:t>Key Outcome</a:t>
            </a:r>
            <a:endParaRPr/>
          </a:p>
          <a:p>
            <a:pPr indent="0" lvl="0" marL="0" marR="0" rtl="0" algn="l">
              <a:lnSpc>
                <a:spcPct val="139962"/>
              </a:lnSpc>
              <a:spcBef>
                <a:spcPts val="0"/>
              </a:spcBef>
              <a:spcAft>
                <a:spcPts val="0"/>
              </a:spcAft>
              <a:buNone/>
            </a:pPr>
            <a:r>
              <a:rPr lang="en-US" sz="2700">
                <a:solidFill>
                  <a:srgbClr val="FFFFFF"/>
                </a:solidFill>
                <a:latin typeface="Arial"/>
                <a:ea typeface="Arial"/>
                <a:cs typeface="Arial"/>
                <a:sym typeface="Arial"/>
              </a:rPr>
              <a:t>     Prompt-engineered LLMs can successfully replace classical NLU pipelines when combined with structured evaluation.</a:t>
            </a:r>
            <a:endParaRPr/>
          </a:p>
          <a:p>
            <a:pPr indent="0" lvl="0" marL="0" marR="0" rtl="0" algn="l">
              <a:lnSpc>
                <a:spcPct val="139962"/>
              </a:lnSpc>
              <a:spcBef>
                <a:spcPts val="0"/>
              </a:spcBef>
              <a:spcAft>
                <a:spcPts val="0"/>
              </a:spcAft>
              <a:buNone/>
            </a:pPr>
            <a:r>
              <a:t/>
            </a:r>
            <a:endParaRPr sz="2700">
              <a:solidFill>
                <a:srgbClr val="FFFFFF"/>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153C"/>
        </a:solidFill>
      </p:bgPr>
    </p:bg>
    <p:spTree>
      <p:nvGrpSpPr>
        <p:cNvPr id="323" name="Shape 323"/>
        <p:cNvGrpSpPr/>
        <p:nvPr/>
      </p:nvGrpSpPr>
      <p:grpSpPr>
        <a:xfrm>
          <a:off x="0" y="0"/>
          <a:ext cx="0" cy="0"/>
          <a:chOff x="0" y="0"/>
          <a:chExt cx="0" cy="0"/>
        </a:xfrm>
      </p:grpSpPr>
      <p:sp>
        <p:nvSpPr>
          <p:cNvPr id="324" name="Google Shape;324;p16"/>
          <p:cNvSpPr/>
          <p:nvPr/>
        </p:nvSpPr>
        <p:spPr>
          <a:xfrm>
            <a:off x="0" y="7690055"/>
            <a:ext cx="18701319" cy="4258146"/>
          </a:xfrm>
          <a:custGeom>
            <a:rect b="b" l="l" r="r" t="t"/>
            <a:pathLst>
              <a:path extrusionOk="0" h="4258146" w="18701319">
                <a:moveTo>
                  <a:pt x="0" y="0"/>
                </a:moveTo>
                <a:lnTo>
                  <a:pt x="18701319" y="0"/>
                </a:lnTo>
                <a:lnTo>
                  <a:pt x="18701319" y="4258146"/>
                </a:lnTo>
                <a:lnTo>
                  <a:pt x="0" y="4258146"/>
                </a:lnTo>
                <a:lnTo>
                  <a:pt x="0" y="0"/>
                </a:lnTo>
                <a:close/>
              </a:path>
            </a:pathLst>
          </a:custGeom>
          <a:blipFill rotWithShape="1">
            <a:blip r:embed="rId3">
              <a:alphaModFix/>
            </a:blip>
            <a:stretch>
              <a:fillRect b="0" l="0" r="0" t="0"/>
            </a:stretch>
          </a:blipFill>
          <a:ln>
            <a:noFill/>
          </a:ln>
        </p:spPr>
      </p:sp>
      <p:sp>
        <p:nvSpPr>
          <p:cNvPr id="325" name="Google Shape;325;p16"/>
          <p:cNvSpPr/>
          <p:nvPr/>
        </p:nvSpPr>
        <p:spPr>
          <a:xfrm>
            <a:off x="-4802566" y="-3661094"/>
            <a:ext cx="8804594" cy="8804594"/>
          </a:xfrm>
          <a:custGeom>
            <a:rect b="b" l="l" r="r" t="t"/>
            <a:pathLst>
              <a:path extrusionOk="0" h="8804594" w="8804594">
                <a:moveTo>
                  <a:pt x="0" y="0"/>
                </a:moveTo>
                <a:lnTo>
                  <a:pt x="8804594" y="0"/>
                </a:lnTo>
                <a:lnTo>
                  <a:pt x="8804594" y="8804594"/>
                </a:lnTo>
                <a:lnTo>
                  <a:pt x="0" y="8804594"/>
                </a:lnTo>
                <a:lnTo>
                  <a:pt x="0" y="0"/>
                </a:lnTo>
                <a:close/>
              </a:path>
            </a:pathLst>
          </a:custGeom>
          <a:blipFill rotWithShape="1">
            <a:blip r:embed="rId4">
              <a:alphaModFix amt="43000"/>
            </a:blip>
            <a:stretch>
              <a:fillRect b="0" l="0" r="0" t="0"/>
            </a:stretch>
          </a:blipFill>
          <a:ln>
            <a:noFill/>
          </a:ln>
        </p:spPr>
      </p:sp>
      <p:sp>
        <p:nvSpPr>
          <p:cNvPr id="326" name="Google Shape;326;p16"/>
          <p:cNvSpPr/>
          <p:nvPr/>
        </p:nvSpPr>
        <p:spPr>
          <a:xfrm flipH="1">
            <a:off x="432386" y="-522364"/>
            <a:ext cx="7139284" cy="9379588"/>
          </a:xfrm>
          <a:custGeom>
            <a:rect b="b" l="l" r="r" t="t"/>
            <a:pathLst>
              <a:path extrusionOk="0" h="9379588" w="7139284">
                <a:moveTo>
                  <a:pt x="7139284" y="0"/>
                </a:moveTo>
                <a:lnTo>
                  <a:pt x="0" y="0"/>
                </a:lnTo>
                <a:lnTo>
                  <a:pt x="0" y="9379589"/>
                </a:lnTo>
                <a:lnTo>
                  <a:pt x="7139284" y="9379589"/>
                </a:lnTo>
                <a:lnTo>
                  <a:pt x="7139284" y="0"/>
                </a:lnTo>
                <a:close/>
              </a:path>
            </a:pathLst>
          </a:custGeom>
          <a:blipFill rotWithShape="1">
            <a:blip r:embed="rId5">
              <a:alphaModFix/>
            </a:blip>
            <a:stretch>
              <a:fillRect b="0" l="0" r="0" t="0"/>
            </a:stretch>
          </a:blipFill>
          <a:ln>
            <a:noFill/>
          </a:ln>
        </p:spPr>
      </p:sp>
      <p:sp>
        <p:nvSpPr>
          <p:cNvPr id="327" name="Google Shape;327;p16"/>
          <p:cNvSpPr/>
          <p:nvPr/>
        </p:nvSpPr>
        <p:spPr>
          <a:xfrm>
            <a:off x="1990007" y="7690055"/>
            <a:ext cx="7625234" cy="4528630"/>
          </a:xfrm>
          <a:custGeom>
            <a:rect b="b" l="l" r="r" t="t"/>
            <a:pathLst>
              <a:path extrusionOk="0" h="4528630" w="7625234">
                <a:moveTo>
                  <a:pt x="0" y="0"/>
                </a:moveTo>
                <a:lnTo>
                  <a:pt x="7625233" y="0"/>
                </a:lnTo>
                <a:lnTo>
                  <a:pt x="7625233" y="4528630"/>
                </a:lnTo>
                <a:lnTo>
                  <a:pt x="0" y="4528630"/>
                </a:lnTo>
                <a:lnTo>
                  <a:pt x="0" y="0"/>
                </a:lnTo>
                <a:close/>
              </a:path>
            </a:pathLst>
          </a:custGeom>
          <a:blipFill rotWithShape="1">
            <a:blip r:embed="rId6">
              <a:alphaModFix amt="23000"/>
            </a:blip>
            <a:stretch>
              <a:fillRect b="0" l="0" r="0" t="0"/>
            </a:stretch>
          </a:blipFill>
          <a:ln>
            <a:noFill/>
          </a:ln>
        </p:spPr>
      </p:sp>
      <p:sp>
        <p:nvSpPr>
          <p:cNvPr id="328" name="Google Shape;328;p16"/>
          <p:cNvSpPr/>
          <p:nvPr/>
        </p:nvSpPr>
        <p:spPr>
          <a:xfrm>
            <a:off x="252301" y="2166525"/>
            <a:ext cx="5989184" cy="6690699"/>
          </a:xfrm>
          <a:custGeom>
            <a:rect b="b" l="l" r="r" t="t"/>
            <a:pathLst>
              <a:path extrusionOk="0" h="6690699" w="5989184">
                <a:moveTo>
                  <a:pt x="0" y="0"/>
                </a:moveTo>
                <a:lnTo>
                  <a:pt x="5989185" y="0"/>
                </a:lnTo>
                <a:lnTo>
                  <a:pt x="5989185" y="6690700"/>
                </a:lnTo>
                <a:lnTo>
                  <a:pt x="0" y="6690700"/>
                </a:lnTo>
                <a:lnTo>
                  <a:pt x="0" y="0"/>
                </a:lnTo>
                <a:close/>
              </a:path>
            </a:pathLst>
          </a:custGeom>
          <a:blipFill rotWithShape="1">
            <a:blip r:embed="rId7">
              <a:alphaModFix/>
            </a:blip>
            <a:stretch>
              <a:fillRect b="0" l="0" r="0" t="0"/>
            </a:stretch>
          </a:blipFill>
          <a:ln>
            <a:noFill/>
          </a:ln>
        </p:spPr>
      </p:sp>
      <p:sp>
        <p:nvSpPr>
          <p:cNvPr id="329" name="Google Shape;329;p16"/>
          <p:cNvSpPr/>
          <p:nvPr/>
        </p:nvSpPr>
        <p:spPr>
          <a:xfrm>
            <a:off x="13885703" y="-1789620"/>
            <a:ext cx="8804594" cy="8804594"/>
          </a:xfrm>
          <a:custGeom>
            <a:rect b="b" l="l" r="r" t="t"/>
            <a:pathLst>
              <a:path extrusionOk="0" h="8804594" w="8804594">
                <a:moveTo>
                  <a:pt x="0" y="0"/>
                </a:moveTo>
                <a:lnTo>
                  <a:pt x="8804594" y="0"/>
                </a:lnTo>
                <a:lnTo>
                  <a:pt x="8804594" y="8804594"/>
                </a:lnTo>
                <a:lnTo>
                  <a:pt x="0" y="8804594"/>
                </a:lnTo>
                <a:lnTo>
                  <a:pt x="0" y="0"/>
                </a:lnTo>
                <a:close/>
              </a:path>
            </a:pathLst>
          </a:custGeom>
          <a:blipFill rotWithShape="1">
            <a:blip r:embed="rId4">
              <a:alphaModFix amt="43000"/>
            </a:blip>
            <a:stretch>
              <a:fillRect b="0" l="0" r="0" t="0"/>
            </a:stretch>
          </a:blipFill>
          <a:ln>
            <a:noFill/>
          </a:ln>
        </p:spPr>
      </p:sp>
      <p:sp>
        <p:nvSpPr>
          <p:cNvPr id="330" name="Google Shape;330;p16"/>
          <p:cNvSpPr txBox="1"/>
          <p:nvPr/>
        </p:nvSpPr>
        <p:spPr>
          <a:xfrm>
            <a:off x="-212779" y="903128"/>
            <a:ext cx="18288000" cy="114159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8569">
                <a:solidFill>
                  <a:srgbClr val="FFFFFF"/>
                </a:solidFill>
                <a:latin typeface="Arial"/>
                <a:ea typeface="Arial"/>
                <a:cs typeface="Arial"/>
                <a:sym typeface="Arial"/>
              </a:rPr>
              <a:t>Challenges Faced</a:t>
            </a:r>
            <a:endParaRPr/>
          </a:p>
        </p:txBody>
      </p:sp>
      <p:sp>
        <p:nvSpPr>
          <p:cNvPr id="331" name="Google Shape;331;p16"/>
          <p:cNvSpPr txBox="1"/>
          <p:nvPr/>
        </p:nvSpPr>
        <p:spPr>
          <a:xfrm>
            <a:off x="6241486" y="2850865"/>
            <a:ext cx="11641305" cy="6179820"/>
          </a:xfrm>
          <a:prstGeom prst="rect">
            <a:avLst/>
          </a:prstGeom>
          <a:noFill/>
          <a:ln>
            <a:noFill/>
          </a:ln>
        </p:spPr>
        <p:txBody>
          <a:bodyPr anchorCtr="0" anchor="t" bIns="0" lIns="0" spcFirstLastPara="1" rIns="0" wrap="square" tIns="0">
            <a:spAutoFit/>
          </a:bodyPr>
          <a:lstStyle/>
          <a:p>
            <a:pPr indent="-291465" lvl="1" marL="582930" marR="0" rtl="0" algn="l">
              <a:lnSpc>
                <a:spcPct val="139962"/>
              </a:lnSpc>
              <a:spcBef>
                <a:spcPts val="0"/>
              </a:spcBef>
              <a:spcAft>
                <a:spcPts val="0"/>
              </a:spcAft>
              <a:buClr>
                <a:srgbClr val="46F4FF"/>
              </a:buClr>
              <a:buSzPts val="2700"/>
              <a:buFont typeface="Arial"/>
              <a:buChar char="•"/>
            </a:pPr>
            <a:r>
              <a:rPr b="0" i="0" lang="en-US" sz="2700" u="none" cap="none" strike="noStrike">
                <a:solidFill>
                  <a:srgbClr val="46F4FF"/>
                </a:solidFill>
                <a:latin typeface="Arial"/>
                <a:ea typeface="Arial"/>
                <a:cs typeface="Arial"/>
                <a:sym typeface="Arial"/>
              </a:rPr>
              <a:t>Structured Output Enforcement</a:t>
            </a:r>
            <a:endParaRPr/>
          </a:p>
          <a:p>
            <a:pPr indent="0" lvl="0" marL="0" marR="0" rtl="0" algn="l">
              <a:lnSpc>
                <a:spcPct val="139962"/>
              </a:lnSpc>
              <a:spcBef>
                <a:spcPts val="0"/>
              </a:spcBef>
              <a:spcAft>
                <a:spcPts val="0"/>
              </a:spcAft>
              <a:buNone/>
            </a:pPr>
            <a:r>
              <a:rPr lang="en-US" sz="2700">
                <a:solidFill>
                  <a:srgbClr val="FFFFFF"/>
                </a:solidFill>
                <a:latin typeface="Arial"/>
                <a:ea typeface="Arial"/>
                <a:cs typeface="Arial"/>
                <a:sym typeface="Arial"/>
              </a:rPr>
              <a:t>     Ensuring the LLM consistently returns valid JSON required careful prompt design and robust parsing logic.</a:t>
            </a:r>
            <a:endParaRPr/>
          </a:p>
          <a:p>
            <a:pPr indent="-291465" lvl="1" marL="582930" marR="0" rtl="0" algn="l">
              <a:lnSpc>
                <a:spcPct val="139962"/>
              </a:lnSpc>
              <a:spcBef>
                <a:spcPts val="0"/>
              </a:spcBef>
              <a:spcAft>
                <a:spcPts val="0"/>
              </a:spcAft>
              <a:buClr>
                <a:srgbClr val="46F4FF"/>
              </a:buClr>
              <a:buSzPts val="2700"/>
              <a:buFont typeface="Arial"/>
              <a:buChar char="•"/>
            </a:pPr>
            <a:r>
              <a:rPr b="0" i="0" lang="en-US" sz="2700" u="none" cap="none" strike="noStrike">
                <a:solidFill>
                  <a:srgbClr val="46F4FF"/>
                </a:solidFill>
                <a:latin typeface="Arial"/>
                <a:ea typeface="Arial"/>
                <a:cs typeface="Arial"/>
                <a:sym typeface="Arial"/>
              </a:rPr>
              <a:t>Inference Latency</a:t>
            </a:r>
            <a:endParaRPr/>
          </a:p>
          <a:p>
            <a:pPr indent="0" lvl="0" marL="0" marR="0" rtl="0" algn="l">
              <a:lnSpc>
                <a:spcPct val="139962"/>
              </a:lnSpc>
              <a:spcBef>
                <a:spcPts val="0"/>
              </a:spcBef>
              <a:spcAft>
                <a:spcPts val="0"/>
              </a:spcAft>
              <a:buNone/>
            </a:pPr>
            <a:r>
              <a:rPr lang="en-US" sz="2700">
                <a:solidFill>
                  <a:srgbClr val="FFFFFF"/>
                </a:solidFill>
                <a:latin typeface="Arial"/>
                <a:ea typeface="Arial"/>
                <a:cs typeface="Arial"/>
                <a:sym typeface="Arial"/>
              </a:rPr>
              <a:t>     Running a local LLM (Gemma-3) introduces response time delays compared to traditional classifiers.</a:t>
            </a:r>
            <a:endParaRPr/>
          </a:p>
          <a:p>
            <a:pPr indent="-291465" lvl="1" marL="582930" marR="0" rtl="0" algn="l">
              <a:lnSpc>
                <a:spcPct val="139962"/>
              </a:lnSpc>
              <a:spcBef>
                <a:spcPts val="0"/>
              </a:spcBef>
              <a:spcAft>
                <a:spcPts val="0"/>
              </a:spcAft>
              <a:buClr>
                <a:srgbClr val="46F4FF"/>
              </a:buClr>
              <a:buSzPts val="2700"/>
              <a:buFont typeface="Arial"/>
              <a:buChar char="•"/>
            </a:pPr>
            <a:r>
              <a:rPr b="0" i="0" lang="en-US" sz="2700" u="none" cap="none" strike="noStrike">
                <a:solidFill>
                  <a:srgbClr val="46F4FF"/>
                </a:solidFill>
                <a:latin typeface="Arial"/>
                <a:ea typeface="Arial"/>
                <a:cs typeface="Arial"/>
                <a:sym typeface="Arial"/>
              </a:rPr>
              <a:t>Evaluation Consistency</a:t>
            </a:r>
            <a:endParaRPr/>
          </a:p>
          <a:p>
            <a:pPr indent="0" lvl="0" marL="0" marR="0" rtl="0" algn="l">
              <a:lnSpc>
                <a:spcPct val="139962"/>
              </a:lnSpc>
              <a:spcBef>
                <a:spcPts val="0"/>
              </a:spcBef>
              <a:spcAft>
                <a:spcPts val="0"/>
              </a:spcAft>
              <a:buNone/>
            </a:pPr>
            <a:r>
              <a:rPr lang="en-US" sz="2700">
                <a:solidFill>
                  <a:srgbClr val="FFFFFF"/>
                </a:solidFill>
                <a:latin typeface="Arial"/>
                <a:ea typeface="Arial"/>
                <a:cs typeface="Arial"/>
                <a:sym typeface="Arial"/>
              </a:rPr>
              <a:t>     Designing a fair evaluation strategy for LLM outputs without retraining posed challenges in comparison.</a:t>
            </a:r>
            <a:endParaRPr/>
          </a:p>
          <a:p>
            <a:pPr indent="-291465" lvl="1" marL="582930" marR="0" rtl="0" algn="l">
              <a:lnSpc>
                <a:spcPct val="139962"/>
              </a:lnSpc>
              <a:spcBef>
                <a:spcPts val="0"/>
              </a:spcBef>
              <a:spcAft>
                <a:spcPts val="0"/>
              </a:spcAft>
              <a:buClr>
                <a:srgbClr val="46F4FF"/>
              </a:buClr>
              <a:buSzPts val="2700"/>
              <a:buFont typeface="Arial"/>
              <a:buChar char="•"/>
            </a:pPr>
            <a:r>
              <a:rPr b="0" i="0" lang="en-US" sz="2700" u="none" cap="none" strike="noStrike">
                <a:solidFill>
                  <a:srgbClr val="46F4FF"/>
                </a:solidFill>
                <a:latin typeface="Arial"/>
                <a:ea typeface="Arial"/>
                <a:cs typeface="Arial"/>
                <a:sym typeface="Arial"/>
              </a:rPr>
              <a:t>Prompt Sensitivity</a:t>
            </a:r>
            <a:endParaRPr/>
          </a:p>
          <a:p>
            <a:pPr indent="0" lvl="0" marL="0" marR="0" rtl="0" algn="l">
              <a:lnSpc>
                <a:spcPct val="139962"/>
              </a:lnSpc>
              <a:spcBef>
                <a:spcPts val="0"/>
              </a:spcBef>
              <a:spcAft>
                <a:spcPts val="0"/>
              </a:spcAft>
              <a:buNone/>
            </a:pPr>
            <a:r>
              <a:rPr lang="en-US" sz="2700">
                <a:solidFill>
                  <a:srgbClr val="FFFFFF"/>
                </a:solidFill>
                <a:latin typeface="Arial"/>
                <a:ea typeface="Arial"/>
                <a:cs typeface="Arial"/>
                <a:sym typeface="Arial"/>
              </a:rPr>
              <a:t>     Small changes in prompt wording can impact intent prediction accuracy, requiring iterative prompt tuning.</a:t>
            </a:r>
            <a:endParaRPr/>
          </a:p>
          <a:p>
            <a:pPr indent="0" lvl="0" marL="0" marR="0" rtl="0" algn="l">
              <a:lnSpc>
                <a:spcPct val="139962"/>
              </a:lnSpc>
              <a:spcBef>
                <a:spcPts val="0"/>
              </a:spcBef>
              <a:spcAft>
                <a:spcPts val="0"/>
              </a:spcAft>
              <a:buNone/>
            </a:pPr>
            <a:r>
              <a:t/>
            </a:r>
            <a:endParaRPr sz="2700">
              <a:solidFill>
                <a:srgbClr val="FFFFFF"/>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153C"/>
        </a:solidFill>
      </p:bgPr>
    </p:bg>
    <p:spTree>
      <p:nvGrpSpPr>
        <p:cNvPr id="335" name="Shape 335"/>
        <p:cNvGrpSpPr/>
        <p:nvPr/>
      </p:nvGrpSpPr>
      <p:grpSpPr>
        <a:xfrm>
          <a:off x="0" y="0"/>
          <a:ext cx="0" cy="0"/>
          <a:chOff x="0" y="0"/>
          <a:chExt cx="0" cy="0"/>
        </a:xfrm>
      </p:grpSpPr>
      <p:sp>
        <p:nvSpPr>
          <p:cNvPr id="336" name="Google Shape;336;p17"/>
          <p:cNvSpPr/>
          <p:nvPr/>
        </p:nvSpPr>
        <p:spPr>
          <a:xfrm>
            <a:off x="13305362" y="-1058517"/>
            <a:ext cx="7139284" cy="9379588"/>
          </a:xfrm>
          <a:custGeom>
            <a:rect b="b" l="l" r="r" t="t"/>
            <a:pathLst>
              <a:path extrusionOk="0" h="9379588" w="7139284">
                <a:moveTo>
                  <a:pt x="0" y="0"/>
                </a:moveTo>
                <a:lnTo>
                  <a:pt x="7139284" y="0"/>
                </a:lnTo>
                <a:lnTo>
                  <a:pt x="7139284" y="9379588"/>
                </a:lnTo>
                <a:lnTo>
                  <a:pt x="0" y="9379588"/>
                </a:lnTo>
                <a:lnTo>
                  <a:pt x="0" y="0"/>
                </a:lnTo>
                <a:close/>
              </a:path>
            </a:pathLst>
          </a:custGeom>
          <a:blipFill rotWithShape="1">
            <a:blip r:embed="rId3">
              <a:alphaModFix/>
            </a:blip>
            <a:stretch>
              <a:fillRect b="0" l="0" r="0" t="0"/>
            </a:stretch>
          </a:blipFill>
          <a:ln>
            <a:noFill/>
          </a:ln>
        </p:spPr>
      </p:sp>
      <p:sp>
        <p:nvSpPr>
          <p:cNvPr id="337" name="Google Shape;337;p17"/>
          <p:cNvSpPr/>
          <p:nvPr/>
        </p:nvSpPr>
        <p:spPr>
          <a:xfrm flipH="1">
            <a:off x="-2312313" y="-771314"/>
            <a:ext cx="7139284" cy="9379588"/>
          </a:xfrm>
          <a:custGeom>
            <a:rect b="b" l="l" r="r" t="t"/>
            <a:pathLst>
              <a:path extrusionOk="0" h="9379588" w="7139284">
                <a:moveTo>
                  <a:pt x="7139284" y="0"/>
                </a:moveTo>
                <a:lnTo>
                  <a:pt x="0" y="0"/>
                </a:lnTo>
                <a:lnTo>
                  <a:pt x="0" y="9379589"/>
                </a:lnTo>
                <a:lnTo>
                  <a:pt x="7139284" y="9379589"/>
                </a:lnTo>
                <a:lnTo>
                  <a:pt x="7139284" y="0"/>
                </a:lnTo>
                <a:close/>
              </a:path>
            </a:pathLst>
          </a:custGeom>
          <a:blipFill rotWithShape="1">
            <a:blip r:embed="rId3">
              <a:alphaModFix/>
            </a:blip>
            <a:stretch>
              <a:fillRect b="0" l="0" r="0" t="0"/>
            </a:stretch>
          </a:blipFill>
          <a:ln>
            <a:noFill/>
          </a:ln>
        </p:spPr>
      </p:sp>
      <p:sp>
        <p:nvSpPr>
          <p:cNvPr id="338" name="Google Shape;338;p17"/>
          <p:cNvSpPr/>
          <p:nvPr/>
        </p:nvSpPr>
        <p:spPr>
          <a:xfrm>
            <a:off x="258104" y="3631277"/>
            <a:ext cx="17771791" cy="5925733"/>
          </a:xfrm>
          <a:custGeom>
            <a:rect b="b" l="l" r="r" t="t"/>
            <a:pathLst>
              <a:path extrusionOk="0" h="5925733" w="17771791">
                <a:moveTo>
                  <a:pt x="0" y="0"/>
                </a:moveTo>
                <a:lnTo>
                  <a:pt x="17771792" y="0"/>
                </a:lnTo>
                <a:lnTo>
                  <a:pt x="17771792" y="5925733"/>
                </a:lnTo>
                <a:lnTo>
                  <a:pt x="0" y="5925733"/>
                </a:lnTo>
                <a:lnTo>
                  <a:pt x="0" y="0"/>
                </a:lnTo>
                <a:close/>
              </a:path>
            </a:pathLst>
          </a:custGeom>
          <a:blipFill rotWithShape="1">
            <a:blip r:embed="rId4">
              <a:alphaModFix amt="20999"/>
            </a:blip>
            <a:stretch>
              <a:fillRect b="0" l="0" r="0" t="0"/>
            </a:stretch>
          </a:blipFill>
          <a:ln>
            <a:noFill/>
          </a:ln>
        </p:spPr>
      </p:sp>
      <p:sp>
        <p:nvSpPr>
          <p:cNvPr id="339" name="Google Shape;339;p17"/>
          <p:cNvSpPr/>
          <p:nvPr/>
        </p:nvSpPr>
        <p:spPr>
          <a:xfrm>
            <a:off x="0" y="7690055"/>
            <a:ext cx="18701319" cy="4258146"/>
          </a:xfrm>
          <a:custGeom>
            <a:rect b="b" l="l" r="r" t="t"/>
            <a:pathLst>
              <a:path extrusionOk="0" h="4258146" w="18701319">
                <a:moveTo>
                  <a:pt x="0" y="0"/>
                </a:moveTo>
                <a:lnTo>
                  <a:pt x="18701319" y="0"/>
                </a:lnTo>
                <a:lnTo>
                  <a:pt x="18701319" y="4258146"/>
                </a:lnTo>
                <a:lnTo>
                  <a:pt x="0" y="4258146"/>
                </a:lnTo>
                <a:lnTo>
                  <a:pt x="0" y="0"/>
                </a:lnTo>
                <a:close/>
              </a:path>
            </a:pathLst>
          </a:custGeom>
          <a:blipFill rotWithShape="1">
            <a:blip r:embed="rId5">
              <a:alphaModFix/>
            </a:blip>
            <a:stretch>
              <a:fillRect b="0" l="0" r="0" t="0"/>
            </a:stretch>
          </a:blipFill>
          <a:ln>
            <a:noFill/>
          </a:ln>
        </p:spPr>
      </p:sp>
      <p:sp>
        <p:nvSpPr>
          <p:cNvPr id="340" name="Google Shape;340;p17"/>
          <p:cNvSpPr/>
          <p:nvPr/>
        </p:nvSpPr>
        <p:spPr>
          <a:xfrm>
            <a:off x="13627599" y="5884703"/>
            <a:ext cx="8804594" cy="8804594"/>
          </a:xfrm>
          <a:custGeom>
            <a:rect b="b" l="l" r="r" t="t"/>
            <a:pathLst>
              <a:path extrusionOk="0" h="8804594" w="8804594">
                <a:moveTo>
                  <a:pt x="0" y="0"/>
                </a:moveTo>
                <a:lnTo>
                  <a:pt x="8804594" y="0"/>
                </a:lnTo>
                <a:lnTo>
                  <a:pt x="8804594" y="8804594"/>
                </a:lnTo>
                <a:lnTo>
                  <a:pt x="0" y="8804594"/>
                </a:lnTo>
                <a:lnTo>
                  <a:pt x="0" y="0"/>
                </a:lnTo>
                <a:close/>
              </a:path>
            </a:pathLst>
          </a:custGeom>
          <a:blipFill rotWithShape="1">
            <a:blip r:embed="rId6">
              <a:alphaModFix amt="43000"/>
            </a:blip>
            <a:stretch>
              <a:fillRect b="0" l="0" r="0" t="0"/>
            </a:stretch>
          </a:blipFill>
          <a:ln>
            <a:noFill/>
          </a:ln>
        </p:spPr>
      </p:sp>
      <p:sp>
        <p:nvSpPr>
          <p:cNvPr id="341" name="Google Shape;341;p17"/>
          <p:cNvSpPr/>
          <p:nvPr/>
        </p:nvSpPr>
        <p:spPr>
          <a:xfrm>
            <a:off x="-3661078" y="6089322"/>
            <a:ext cx="8804594" cy="8804594"/>
          </a:xfrm>
          <a:custGeom>
            <a:rect b="b" l="l" r="r" t="t"/>
            <a:pathLst>
              <a:path extrusionOk="0" h="8804594" w="8804594">
                <a:moveTo>
                  <a:pt x="0" y="0"/>
                </a:moveTo>
                <a:lnTo>
                  <a:pt x="8804594" y="0"/>
                </a:lnTo>
                <a:lnTo>
                  <a:pt x="8804594" y="8804594"/>
                </a:lnTo>
                <a:lnTo>
                  <a:pt x="0" y="8804594"/>
                </a:lnTo>
                <a:lnTo>
                  <a:pt x="0" y="0"/>
                </a:lnTo>
                <a:close/>
              </a:path>
            </a:pathLst>
          </a:custGeom>
          <a:blipFill rotWithShape="1">
            <a:blip r:embed="rId6">
              <a:alphaModFix amt="43000"/>
            </a:blip>
            <a:stretch>
              <a:fillRect b="0" l="0" r="0" t="0"/>
            </a:stretch>
          </a:blipFill>
          <a:ln>
            <a:noFill/>
          </a:ln>
        </p:spPr>
      </p:sp>
      <p:sp>
        <p:nvSpPr>
          <p:cNvPr id="342" name="Google Shape;342;p17"/>
          <p:cNvSpPr/>
          <p:nvPr/>
        </p:nvSpPr>
        <p:spPr>
          <a:xfrm>
            <a:off x="5679783" y="7833401"/>
            <a:ext cx="6928434" cy="4114800"/>
          </a:xfrm>
          <a:custGeom>
            <a:rect b="b" l="l" r="r" t="t"/>
            <a:pathLst>
              <a:path extrusionOk="0" h="4114800" w="6928434">
                <a:moveTo>
                  <a:pt x="0" y="0"/>
                </a:moveTo>
                <a:lnTo>
                  <a:pt x="6928434" y="0"/>
                </a:lnTo>
                <a:lnTo>
                  <a:pt x="6928434" y="4114800"/>
                </a:lnTo>
                <a:lnTo>
                  <a:pt x="0" y="4114800"/>
                </a:lnTo>
                <a:lnTo>
                  <a:pt x="0" y="0"/>
                </a:lnTo>
                <a:close/>
              </a:path>
            </a:pathLst>
          </a:custGeom>
          <a:blipFill rotWithShape="1">
            <a:blip r:embed="rId7">
              <a:alphaModFix amt="24000"/>
            </a:blip>
            <a:stretch>
              <a:fillRect b="0" l="0" r="0" t="0"/>
            </a:stretch>
          </a:blipFill>
          <a:ln>
            <a:noFill/>
          </a:ln>
        </p:spPr>
      </p:sp>
      <p:sp>
        <p:nvSpPr>
          <p:cNvPr id="343" name="Google Shape;343;p17"/>
          <p:cNvSpPr/>
          <p:nvPr/>
        </p:nvSpPr>
        <p:spPr>
          <a:xfrm>
            <a:off x="258100" y="3419400"/>
            <a:ext cx="4576351" cy="5339820"/>
          </a:xfrm>
          <a:custGeom>
            <a:rect b="b" l="l" r="r" t="t"/>
            <a:pathLst>
              <a:path extrusionOk="0" h="5339820" w="4717888">
                <a:moveTo>
                  <a:pt x="0" y="0"/>
                </a:moveTo>
                <a:lnTo>
                  <a:pt x="4717887" y="0"/>
                </a:lnTo>
                <a:lnTo>
                  <a:pt x="4717887" y="5339820"/>
                </a:lnTo>
                <a:lnTo>
                  <a:pt x="0" y="5339820"/>
                </a:lnTo>
                <a:lnTo>
                  <a:pt x="0" y="0"/>
                </a:lnTo>
                <a:close/>
              </a:path>
            </a:pathLst>
          </a:custGeom>
          <a:blipFill rotWithShape="1">
            <a:blip r:embed="rId8">
              <a:alphaModFix/>
            </a:blip>
            <a:stretch>
              <a:fillRect b="0" l="0" r="0" t="0"/>
            </a:stretch>
          </a:blipFill>
          <a:ln>
            <a:noFill/>
          </a:ln>
        </p:spPr>
      </p:sp>
      <p:sp>
        <p:nvSpPr>
          <p:cNvPr id="344" name="Google Shape;344;p17"/>
          <p:cNvSpPr txBox="1"/>
          <p:nvPr/>
        </p:nvSpPr>
        <p:spPr>
          <a:xfrm>
            <a:off x="680410" y="289323"/>
            <a:ext cx="16927200" cy="187890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lang="en-US" sz="12206">
                <a:solidFill>
                  <a:srgbClr val="FFFFFF"/>
                </a:solidFill>
                <a:latin typeface="Arial"/>
                <a:ea typeface="Arial"/>
                <a:cs typeface="Arial"/>
                <a:sym typeface="Arial"/>
              </a:rPr>
              <a:t>Future Potential </a:t>
            </a:r>
            <a:endParaRPr/>
          </a:p>
        </p:txBody>
      </p:sp>
      <p:sp>
        <p:nvSpPr>
          <p:cNvPr id="345" name="Google Shape;345;p17"/>
          <p:cNvSpPr txBox="1"/>
          <p:nvPr/>
        </p:nvSpPr>
        <p:spPr>
          <a:xfrm>
            <a:off x="5143525" y="2439350"/>
            <a:ext cx="12911700" cy="8010300"/>
          </a:xfrm>
          <a:prstGeom prst="rect">
            <a:avLst/>
          </a:prstGeom>
          <a:noFill/>
          <a:ln>
            <a:noFill/>
          </a:ln>
        </p:spPr>
        <p:txBody>
          <a:bodyPr anchorCtr="0" anchor="t" bIns="0" lIns="0" spcFirstLastPara="1" rIns="0" wrap="square" tIns="0">
            <a:spAutoFit/>
          </a:bodyPr>
          <a:lstStyle/>
          <a:p>
            <a:pPr indent="-315672" lvl="1" marL="631347" marR="0" rtl="0" algn="just">
              <a:lnSpc>
                <a:spcPct val="139979"/>
              </a:lnSpc>
              <a:spcBef>
                <a:spcPts val="0"/>
              </a:spcBef>
              <a:spcAft>
                <a:spcPts val="0"/>
              </a:spcAft>
              <a:buClr>
                <a:srgbClr val="46F4FF"/>
              </a:buClr>
              <a:buSzPts val="2924"/>
              <a:buFont typeface="Arial"/>
              <a:buChar char="•"/>
            </a:pPr>
            <a:r>
              <a:rPr b="0" i="0" lang="en-US" sz="2924" u="none" cap="none" strike="noStrike">
                <a:solidFill>
                  <a:srgbClr val="46F4FF"/>
                </a:solidFill>
                <a:latin typeface="Arial"/>
                <a:ea typeface="Arial"/>
                <a:cs typeface="Arial"/>
                <a:sym typeface="Arial"/>
              </a:rPr>
              <a:t>Entity-Level Evaluation &amp; Explainability</a:t>
            </a:r>
            <a:endParaRPr b="0" i="0" sz="2924" u="none" cap="none" strike="noStrike">
              <a:solidFill>
                <a:srgbClr val="46F4FF"/>
              </a:solidFill>
              <a:latin typeface="Arial"/>
              <a:ea typeface="Arial"/>
              <a:cs typeface="Arial"/>
              <a:sym typeface="Arial"/>
            </a:endParaRPr>
          </a:p>
          <a:p>
            <a:pPr indent="0" lvl="0" marL="0" marR="0" rtl="0" algn="just">
              <a:lnSpc>
                <a:spcPct val="139979"/>
              </a:lnSpc>
              <a:spcBef>
                <a:spcPts val="0"/>
              </a:spcBef>
              <a:spcAft>
                <a:spcPts val="0"/>
              </a:spcAft>
              <a:buNone/>
            </a:pPr>
            <a:r>
              <a:rPr lang="en-US" sz="2924">
                <a:solidFill>
                  <a:srgbClr val="FFFFFF"/>
                </a:solidFill>
                <a:latin typeface="Arial"/>
                <a:ea typeface="Arial"/>
                <a:cs typeface="Arial"/>
                <a:sym typeface="Arial"/>
              </a:rPr>
              <a:t>     Extend evaluation to measure entity extraction accuracy and  provide deeper interpretability.</a:t>
            </a:r>
            <a:endParaRPr sz="2924">
              <a:solidFill>
                <a:srgbClr val="FFFFFF"/>
              </a:solidFill>
              <a:latin typeface="Arial"/>
              <a:ea typeface="Arial"/>
              <a:cs typeface="Arial"/>
              <a:sym typeface="Arial"/>
            </a:endParaRPr>
          </a:p>
          <a:p>
            <a:pPr indent="-315672" lvl="1" marL="631347" marR="0" rtl="0" algn="just">
              <a:lnSpc>
                <a:spcPct val="139979"/>
              </a:lnSpc>
              <a:spcBef>
                <a:spcPts val="0"/>
              </a:spcBef>
              <a:spcAft>
                <a:spcPts val="0"/>
              </a:spcAft>
              <a:buClr>
                <a:srgbClr val="46F4FF"/>
              </a:buClr>
              <a:buSzPts val="2924"/>
              <a:buFont typeface="Arial"/>
              <a:buChar char="•"/>
            </a:pPr>
            <a:r>
              <a:rPr b="0" i="0" lang="en-US" sz="2924" u="none" cap="none" strike="noStrike">
                <a:solidFill>
                  <a:srgbClr val="46F4FF"/>
                </a:solidFill>
                <a:latin typeface="Arial"/>
                <a:ea typeface="Arial"/>
                <a:cs typeface="Arial"/>
                <a:sym typeface="Arial"/>
              </a:rPr>
              <a:t>Multi-Language &amp; Multi-Domain Support</a:t>
            </a:r>
            <a:endParaRPr/>
          </a:p>
          <a:p>
            <a:pPr indent="0" lvl="0" marL="0" marR="0" rtl="0" algn="just">
              <a:lnSpc>
                <a:spcPct val="139979"/>
              </a:lnSpc>
              <a:spcBef>
                <a:spcPts val="0"/>
              </a:spcBef>
              <a:spcAft>
                <a:spcPts val="0"/>
              </a:spcAft>
              <a:buNone/>
            </a:pPr>
            <a:r>
              <a:rPr lang="en-US" sz="2924">
                <a:solidFill>
                  <a:srgbClr val="FFFFFF"/>
                </a:solidFill>
                <a:latin typeface="Arial"/>
                <a:ea typeface="Arial"/>
                <a:cs typeface="Arial"/>
                <a:sym typeface="Arial"/>
              </a:rPr>
              <a:t>     Adapt the system for multilingual inputs and scale it across different business domains.</a:t>
            </a:r>
            <a:endParaRPr sz="2924">
              <a:solidFill>
                <a:srgbClr val="FFFFFF"/>
              </a:solidFill>
              <a:latin typeface="Arial"/>
              <a:ea typeface="Arial"/>
              <a:cs typeface="Arial"/>
              <a:sym typeface="Arial"/>
            </a:endParaRPr>
          </a:p>
          <a:p>
            <a:pPr indent="-315673" lvl="1" marL="631347" rtl="0" algn="just">
              <a:lnSpc>
                <a:spcPct val="139979"/>
              </a:lnSpc>
              <a:spcBef>
                <a:spcPts val="0"/>
              </a:spcBef>
              <a:spcAft>
                <a:spcPts val="0"/>
              </a:spcAft>
              <a:buClr>
                <a:srgbClr val="46F4FF"/>
              </a:buClr>
              <a:buSzPts val="2924"/>
              <a:buChar char="•"/>
            </a:pPr>
            <a:r>
              <a:rPr lang="en-US" sz="2924">
                <a:solidFill>
                  <a:srgbClr val="46F4FF"/>
                </a:solidFill>
              </a:rPr>
              <a:t>Voice-Enabled NLU Pipeline</a:t>
            </a:r>
            <a:endParaRPr>
              <a:solidFill>
                <a:schemeClr val="dk1"/>
              </a:solidFill>
            </a:endParaRPr>
          </a:p>
          <a:p>
            <a:pPr indent="0" lvl="0" marL="0" rtl="0" algn="just">
              <a:lnSpc>
                <a:spcPct val="139979"/>
              </a:lnSpc>
              <a:spcBef>
                <a:spcPts val="0"/>
              </a:spcBef>
              <a:spcAft>
                <a:spcPts val="0"/>
              </a:spcAft>
              <a:buNone/>
            </a:pPr>
            <a:r>
              <a:rPr lang="en-US" sz="2924">
                <a:solidFill>
                  <a:schemeClr val="lt1"/>
                </a:solidFill>
              </a:rPr>
              <a:t>     Integrate a speech-to-text module to allow voice inputs, enabling hands-free interaction while reusing the same LLM-based NLU pipeline.</a:t>
            </a:r>
            <a:endParaRPr sz="2924">
              <a:solidFill>
                <a:srgbClr val="FFFFFF"/>
              </a:solidFill>
              <a:latin typeface="Arial"/>
              <a:ea typeface="Arial"/>
              <a:cs typeface="Arial"/>
              <a:sym typeface="Arial"/>
            </a:endParaRPr>
          </a:p>
          <a:p>
            <a:pPr indent="-315672" lvl="1" marL="631347" marR="0" rtl="0" algn="just">
              <a:lnSpc>
                <a:spcPct val="139979"/>
              </a:lnSpc>
              <a:spcBef>
                <a:spcPts val="0"/>
              </a:spcBef>
              <a:spcAft>
                <a:spcPts val="0"/>
              </a:spcAft>
              <a:buClr>
                <a:srgbClr val="46F4FF"/>
              </a:buClr>
              <a:buSzPts val="2924"/>
              <a:buFont typeface="Arial"/>
              <a:buChar char="•"/>
            </a:pPr>
            <a:r>
              <a:rPr b="0" i="0" lang="en-US" sz="2924" u="none" cap="none" strike="noStrike">
                <a:solidFill>
                  <a:srgbClr val="46F4FF"/>
                </a:solidFill>
                <a:latin typeface="Arial"/>
                <a:ea typeface="Arial"/>
                <a:cs typeface="Arial"/>
                <a:sym typeface="Arial"/>
              </a:rPr>
              <a:t>Production Deployment &amp; Conversational Expansion</a:t>
            </a:r>
            <a:endParaRPr/>
          </a:p>
          <a:p>
            <a:pPr indent="0" lvl="0" marL="0" marR="0" rtl="0" algn="just">
              <a:lnSpc>
                <a:spcPct val="139979"/>
              </a:lnSpc>
              <a:spcBef>
                <a:spcPts val="0"/>
              </a:spcBef>
              <a:spcAft>
                <a:spcPts val="0"/>
              </a:spcAft>
              <a:buNone/>
            </a:pPr>
            <a:r>
              <a:rPr lang="en-US" sz="2924">
                <a:solidFill>
                  <a:srgbClr val="FFFFFF"/>
                </a:solidFill>
                <a:latin typeface="Arial"/>
                <a:ea typeface="Arial"/>
                <a:cs typeface="Arial"/>
                <a:sym typeface="Arial"/>
              </a:rPr>
              <a:t>     Deploy using Docker or cloud platforms and extend the system to support voice input and multi-turn conversations.</a:t>
            </a:r>
            <a:endParaRPr/>
          </a:p>
          <a:p>
            <a:pPr indent="0" lvl="0" marL="0" marR="0" rtl="0" algn="just">
              <a:lnSpc>
                <a:spcPct val="139979"/>
              </a:lnSpc>
              <a:spcBef>
                <a:spcPts val="0"/>
              </a:spcBef>
              <a:spcAft>
                <a:spcPts val="0"/>
              </a:spcAft>
              <a:buNone/>
            </a:pPr>
            <a:r>
              <a:t/>
            </a:r>
            <a:endParaRPr sz="2924">
              <a:solidFill>
                <a:srgbClr val="FFFFFF"/>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153C"/>
        </a:solidFill>
      </p:bgPr>
    </p:bg>
    <p:spTree>
      <p:nvGrpSpPr>
        <p:cNvPr id="349" name="Shape 349"/>
        <p:cNvGrpSpPr/>
        <p:nvPr/>
      </p:nvGrpSpPr>
      <p:grpSpPr>
        <a:xfrm>
          <a:off x="0" y="0"/>
          <a:ext cx="0" cy="0"/>
          <a:chOff x="0" y="0"/>
          <a:chExt cx="0" cy="0"/>
        </a:xfrm>
      </p:grpSpPr>
      <p:sp>
        <p:nvSpPr>
          <p:cNvPr id="350" name="Google Shape;350;p18"/>
          <p:cNvSpPr/>
          <p:nvPr/>
        </p:nvSpPr>
        <p:spPr>
          <a:xfrm>
            <a:off x="258104" y="3631277"/>
            <a:ext cx="17771791" cy="5925733"/>
          </a:xfrm>
          <a:custGeom>
            <a:rect b="b" l="l" r="r" t="t"/>
            <a:pathLst>
              <a:path extrusionOk="0" h="5925733" w="17771791">
                <a:moveTo>
                  <a:pt x="0" y="0"/>
                </a:moveTo>
                <a:lnTo>
                  <a:pt x="17771792" y="0"/>
                </a:lnTo>
                <a:lnTo>
                  <a:pt x="17771792" y="5925733"/>
                </a:lnTo>
                <a:lnTo>
                  <a:pt x="0" y="5925733"/>
                </a:lnTo>
                <a:lnTo>
                  <a:pt x="0" y="0"/>
                </a:lnTo>
                <a:close/>
              </a:path>
            </a:pathLst>
          </a:custGeom>
          <a:blipFill rotWithShape="1">
            <a:blip r:embed="rId3">
              <a:alphaModFix amt="7999"/>
            </a:blip>
            <a:stretch>
              <a:fillRect b="0" l="0" r="0" t="0"/>
            </a:stretch>
          </a:blipFill>
          <a:ln>
            <a:noFill/>
          </a:ln>
        </p:spPr>
      </p:sp>
      <p:sp>
        <p:nvSpPr>
          <p:cNvPr id="351" name="Google Shape;351;p18"/>
          <p:cNvSpPr/>
          <p:nvPr/>
        </p:nvSpPr>
        <p:spPr>
          <a:xfrm>
            <a:off x="14655571" y="-4402297"/>
            <a:ext cx="8804594" cy="8804594"/>
          </a:xfrm>
          <a:custGeom>
            <a:rect b="b" l="l" r="r" t="t"/>
            <a:pathLst>
              <a:path extrusionOk="0" h="8804594" w="8804594">
                <a:moveTo>
                  <a:pt x="0" y="0"/>
                </a:moveTo>
                <a:lnTo>
                  <a:pt x="8804594" y="0"/>
                </a:lnTo>
                <a:lnTo>
                  <a:pt x="8804594" y="8804594"/>
                </a:lnTo>
                <a:lnTo>
                  <a:pt x="0" y="8804594"/>
                </a:lnTo>
                <a:lnTo>
                  <a:pt x="0" y="0"/>
                </a:lnTo>
                <a:close/>
              </a:path>
            </a:pathLst>
          </a:custGeom>
          <a:blipFill rotWithShape="1">
            <a:blip r:embed="rId4">
              <a:alphaModFix amt="43000"/>
            </a:blip>
            <a:stretch>
              <a:fillRect b="0" l="0" r="0" t="0"/>
            </a:stretch>
          </a:blipFill>
          <a:ln>
            <a:noFill/>
          </a:ln>
        </p:spPr>
      </p:sp>
      <p:sp>
        <p:nvSpPr>
          <p:cNvPr id="352" name="Google Shape;352;p18"/>
          <p:cNvSpPr/>
          <p:nvPr/>
        </p:nvSpPr>
        <p:spPr>
          <a:xfrm>
            <a:off x="13305362" y="-1058517"/>
            <a:ext cx="7139284" cy="9379588"/>
          </a:xfrm>
          <a:custGeom>
            <a:rect b="b" l="l" r="r" t="t"/>
            <a:pathLst>
              <a:path extrusionOk="0" h="9379588" w="7139284">
                <a:moveTo>
                  <a:pt x="0" y="0"/>
                </a:moveTo>
                <a:lnTo>
                  <a:pt x="7139284" y="0"/>
                </a:lnTo>
                <a:lnTo>
                  <a:pt x="7139284" y="9379588"/>
                </a:lnTo>
                <a:lnTo>
                  <a:pt x="0" y="9379588"/>
                </a:lnTo>
                <a:lnTo>
                  <a:pt x="0" y="0"/>
                </a:lnTo>
                <a:close/>
              </a:path>
            </a:pathLst>
          </a:custGeom>
          <a:blipFill rotWithShape="1">
            <a:blip r:embed="rId5">
              <a:alphaModFix/>
            </a:blip>
            <a:stretch>
              <a:fillRect b="0" l="0" r="0" t="0"/>
            </a:stretch>
          </a:blipFill>
          <a:ln>
            <a:noFill/>
          </a:ln>
        </p:spPr>
      </p:sp>
      <p:sp>
        <p:nvSpPr>
          <p:cNvPr id="353" name="Google Shape;353;p18"/>
          <p:cNvSpPr/>
          <p:nvPr/>
        </p:nvSpPr>
        <p:spPr>
          <a:xfrm>
            <a:off x="-4615177" y="-3981722"/>
            <a:ext cx="8804594" cy="8804594"/>
          </a:xfrm>
          <a:custGeom>
            <a:rect b="b" l="l" r="r" t="t"/>
            <a:pathLst>
              <a:path extrusionOk="0" h="8804594" w="8804594">
                <a:moveTo>
                  <a:pt x="0" y="0"/>
                </a:moveTo>
                <a:lnTo>
                  <a:pt x="8804594" y="0"/>
                </a:lnTo>
                <a:lnTo>
                  <a:pt x="8804594" y="8804594"/>
                </a:lnTo>
                <a:lnTo>
                  <a:pt x="0" y="8804594"/>
                </a:lnTo>
                <a:lnTo>
                  <a:pt x="0" y="0"/>
                </a:lnTo>
                <a:close/>
              </a:path>
            </a:pathLst>
          </a:custGeom>
          <a:blipFill rotWithShape="1">
            <a:blip r:embed="rId4">
              <a:alphaModFix amt="43000"/>
            </a:blip>
            <a:stretch>
              <a:fillRect b="0" l="0" r="0" t="0"/>
            </a:stretch>
          </a:blipFill>
          <a:ln>
            <a:noFill/>
          </a:ln>
        </p:spPr>
      </p:sp>
      <p:sp>
        <p:nvSpPr>
          <p:cNvPr id="354" name="Google Shape;354;p18"/>
          <p:cNvSpPr/>
          <p:nvPr/>
        </p:nvSpPr>
        <p:spPr>
          <a:xfrm flipH="1">
            <a:off x="-2312313" y="-771314"/>
            <a:ext cx="7139284" cy="9379588"/>
          </a:xfrm>
          <a:custGeom>
            <a:rect b="b" l="l" r="r" t="t"/>
            <a:pathLst>
              <a:path extrusionOk="0" h="9379588" w="7139284">
                <a:moveTo>
                  <a:pt x="7139284" y="0"/>
                </a:moveTo>
                <a:lnTo>
                  <a:pt x="0" y="0"/>
                </a:lnTo>
                <a:lnTo>
                  <a:pt x="0" y="9379589"/>
                </a:lnTo>
                <a:lnTo>
                  <a:pt x="7139284" y="9379589"/>
                </a:lnTo>
                <a:lnTo>
                  <a:pt x="7139284" y="0"/>
                </a:lnTo>
                <a:close/>
              </a:path>
            </a:pathLst>
          </a:custGeom>
          <a:blipFill rotWithShape="1">
            <a:blip r:embed="rId5">
              <a:alphaModFix/>
            </a:blip>
            <a:stretch>
              <a:fillRect b="0" l="0" r="0" t="0"/>
            </a:stretch>
          </a:blipFill>
          <a:ln>
            <a:noFill/>
          </a:ln>
        </p:spPr>
      </p:sp>
      <p:sp>
        <p:nvSpPr>
          <p:cNvPr id="355" name="Google Shape;355;p18"/>
          <p:cNvSpPr/>
          <p:nvPr/>
        </p:nvSpPr>
        <p:spPr>
          <a:xfrm>
            <a:off x="0" y="7690055"/>
            <a:ext cx="18701319" cy="4258146"/>
          </a:xfrm>
          <a:custGeom>
            <a:rect b="b" l="l" r="r" t="t"/>
            <a:pathLst>
              <a:path extrusionOk="0" h="4258146" w="18701319">
                <a:moveTo>
                  <a:pt x="0" y="0"/>
                </a:moveTo>
                <a:lnTo>
                  <a:pt x="18701319" y="0"/>
                </a:lnTo>
                <a:lnTo>
                  <a:pt x="18701319" y="4258146"/>
                </a:lnTo>
                <a:lnTo>
                  <a:pt x="0" y="4258146"/>
                </a:lnTo>
                <a:lnTo>
                  <a:pt x="0" y="0"/>
                </a:lnTo>
                <a:close/>
              </a:path>
            </a:pathLst>
          </a:custGeom>
          <a:blipFill rotWithShape="1">
            <a:blip r:embed="rId6">
              <a:alphaModFix/>
            </a:blip>
            <a:stretch>
              <a:fillRect b="0" l="0" r="0" t="0"/>
            </a:stretch>
          </a:blipFill>
          <a:ln>
            <a:noFill/>
          </a:ln>
        </p:spPr>
      </p:sp>
      <p:grpSp>
        <p:nvGrpSpPr>
          <p:cNvPr id="356" name="Google Shape;356;p18"/>
          <p:cNvGrpSpPr/>
          <p:nvPr/>
        </p:nvGrpSpPr>
        <p:grpSpPr>
          <a:xfrm>
            <a:off x="3282845" y="3658916"/>
            <a:ext cx="12135629" cy="3086100"/>
            <a:chOff x="0" y="0"/>
            <a:chExt cx="3196215" cy="812800"/>
          </a:xfrm>
        </p:grpSpPr>
        <p:sp>
          <p:nvSpPr>
            <p:cNvPr id="357" name="Google Shape;357;p18"/>
            <p:cNvSpPr/>
            <p:nvPr/>
          </p:nvSpPr>
          <p:spPr>
            <a:xfrm>
              <a:off x="0" y="0"/>
              <a:ext cx="3196215" cy="812800"/>
            </a:xfrm>
            <a:custGeom>
              <a:rect b="b" l="l" r="r" t="t"/>
              <a:pathLst>
                <a:path extrusionOk="0" h="812800" w="3196215">
                  <a:moveTo>
                    <a:pt x="32535" y="0"/>
                  </a:moveTo>
                  <a:lnTo>
                    <a:pt x="3163680" y="0"/>
                  </a:lnTo>
                  <a:cubicBezTo>
                    <a:pt x="3181649" y="0"/>
                    <a:pt x="3196215" y="14567"/>
                    <a:pt x="3196215" y="32535"/>
                  </a:cubicBezTo>
                  <a:lnTo>
                    <a:pt x="3196215" y="780265"/>
                  </a:lnTo>
                  <a:cubicBezTo>
                    <a:pt x="3196215" y="788894"/>
                    <a:pt x="3192787" y="797169"/>
                    <a:pt x="3186686" y="803271"/>
                  </a:cubicBezTo>
                  <a:cubicBezTo>
                    <a:pt x="3180584" y="809372"/>
                    <a:pt x="3172309" y="812800"/>
                    <a:pt x="3163680" y="812800"/>
                  </a:cubicBezTo>
                  <a:lnTo>
                    <a:pt x="32535" y="812800"/>
                  </a:lnTo>
                  <a:cubicBezTo>
                    <a:pt x="23906" y="812800"/>
                    <a:pt x="15631" y="809372"/>
                    <a:pt x="9529" y="803271"/>
                  </a:cubicBezTo>
                  <a:cubicBezTo>
                    <a:pt x="3428" y="797169"/>
                    <a:pt x="0" y="788894"/>
                    <a:pt x="0" y="780265"/>
                  </a:cubicBezTo>
                  <a:lnTo>
                    <a:pt x="0" y="32535"/>
                  </a:lnTo>
                  <a:cubicBezTo>
                    <a:pt x="0" y="23906"/>
                    <a:pt x="3428" y="15631"/>
                    <a:pt x="9529" y="9529"/>
                  </a:cubicBezTo>
                  <a:cubicBezTo>
                    <a:pt x="15631" y="3428"/>
                    <a:pt x="23906" y="0"/>
                    <a:pt x="32535" y="0"/>
                  </a:cubicBezTo>
                  <a:close/>
                </a:path>
              </a:pathLst>
            </a:custGeom>
            <a:solidFill>
              <a:srgbClr val="000000">
                <a:alpha val="0"/>
              </a:srgbClr>
            </a:solidFill>
            <a:ln cap="rnd"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8"/>
            <p:cNvSpPr txBox="1"/>
            <p:nvPr/>
          </p:nvSpPr>
          <p:spPr>
            <a:xfrm>
              <a:off x="0" y="47625"/>
              <a:ext cx="3196215" cy="765175"/>
            </a:xfrm>
            <a:prstGeom prst="rect">
              <a:avLst/>
            </a:prstGeom>
            <a:noFill/>
            <a:ln>
              <a:noFill/>
            </a:ln>
          </p:spPr>
          <p:txBody>
            <a:bodyPr anchorCtr="0" anchor="ctr" bIns="50800" lIns="50800" spcFirstLastPara="1" rIns="50800" wrap="square" tIns="50800">
              <a:noAutofit/>
            </a:bodyPr>
            <a:lstStyle/>
            <a:p>
              <a:pPr indent="0" lvl="0" marL="0" marR="0" rtl="0" algn="ctr">
                <a:lnSpc>
                  <a:spcPct val="111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9" name="Google Shape;359;p18"/>
          <p:cNvSpPr/>
          <p:nvPr/>
        </p:nvSpPr>
        <p:spPr>
          <a:xfrm>
            <a:off x="-366906" y="4402297"/>
            <a:ext cx="4554340" cy="5154713"/>
          </a:xfrm>
          <a:custGeom>
            <a:rect b="b" l="l" r="r" t="t"/>
            <a:pathLst>
              <a:path extrusionOk="0" h="5154713" w="4554340">
                <a:moveTo>
                  <a:pt x="0" y="0"/>
                </a:moveTo>
                <a:lnTo>
                  <a:pt x="4554340" y="0"/>
                </a:lnTo>
                <a:lnTo>
                  <a:pt x="4554340" y="5154713"/>
                </a:lnTo>
                <a:lnTo>
                  <a:pt x="0" y="5154713"/>
                </a:lnTo>
                <a:lnTo>
                  <a:pt x="0" y="0"/>
                </a:lnTo>
                <a:close/>
              </a:path>
            </a:pathLst>
          </a:custGeom>
          <a:blipFill rotWithShape="1">
            <a:blip r:embed="rId7">
              <a:alphaModFix/>
            </a:blip>
            <a:stretch>
              <a:fillRect b="0" l="0" r="0" t="0"/>
            </a:stretch>
          </a:blipFill>
          <a:ln>
            <a:noFill/>
          </a:ln>
        </p:spPr>
      </p:sp>
      <p:sp>
        <p:nvSpPr>
          <p:cNvPr id="360" name="Google Shape;360;p18"/>
          <p:cNvSpPr/>
          <p:nvPr/>
        </p:nvSpPr>
        <p:spPr>
          <a:xfrm>
            <a:off x="7502503" y="6745016"/>
            <a:ext cx="3282994" cy="2963651"/>
          </a:xfrm>
          <a:custGeom>
            <a:rect b="b" l="l" r="r" t="t"/>
            <a:pathLst>
              <a:path extrusionOk="0" h="2963651" w="3282994">
                <a:moveTo>
                  <a:pt x="0" y="0"/>
                </a:moveTo>
                <a:lnTo>
                  <a:pt x="3282994" y="0"/>
                </a:lnTo>
                <a:lnTo>
                  <a:pt x="3282994" y="2963652"/>
                </a:lnTo>
                <a:lnTo>
                  <a:pt x="0" y="2963652"/>
                </a:lnTo>
                <a:lnTo>
                  <a:pt x="0" y="0"/>
                </a:lnTo>
                <a:close/>
              </a:path>
            </a:pathLst>
          </a:custGeom>
          <a:blipFill rotWithShape="1">
            <a:blip r:embed="rId8">
              <a:alphaModFix/>
            </a:blip>
            <a:stretch>
              <a:fillRect b="0" l="0" r="0" t="0"/>
            </a:stretch>
          </a:blipFill>
          <a:ln>
            <a:noFill/>
          </a:ln>
        </p:spPr>
      </p:sp>
      <p:sp>
        <p:nvSpPr>
          <p:cNvPr id="361" name="Google Shape;361;p18"/>
          <p:cNvSpPr txBox="1"/>
          <p:nvPr/>
        </p:nvSpPr>
        <p:spPr>
          <a:xfrm>
            <a:off x="5175331" y="1779526"/>
            <a:ext cx="7937339" cy="1637833"/>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9625">
                <a:solidFill>
                  <a:srgbClr val="FFFFFF"/>
                </a:solidFill>
                <a:latin typeface="Arial"/>
                <a:ea typeface="Arial"/>
                <a:cs typeface="Arial"/>
                <a:sym typeface="Arial"/>
              </a:rPr>
              <a:t>Conclusion</a:t>
            </a:r>
            <a:endParaRPr/>
          </a:p>
        </p:txBody>
      </p:sp>
      <p:sp>
        <p:nvSpPr>
          <p:cNvPr id="362" name="Google Shape;362;p18"/>
          <p:cNvSpPr txBox="1"/>
          <p:nvPr/>
        </p:nvSpPr>
        <p:spPr>
          <a:xfrm>
            <a:off x="4187434" y="3870855"/>
            <a:ext cx="9913132" cy="2724355"/>
          </a:xfrm>
          <a:prstGeom prst="rect">
            <a:avLst/>
          </a:prstGeom>
          <a:noFill/>
          <a:ln>
            <a:noFill/>
          </a:ln>
        </p:spPr>
        <p:txBody>
          <a:bodyPr anchorCtr="0" anchor="t" bIns="0" lIns="0" spcFirstLastPara="1" rIns="0" wrap="square" tIns="0">
            <a:spAutoFit/>
          </a:bodyPr>
          <a:lstStyle/>
          <a:p>
            <a:pPr indent="0" lvl="0" marL="0" marR="0" rtl="0" algn="ctr">
              <a:lnSpc>
                <a:spcPct val="140022"/>
              </a:lnSpc>
              <a:spcBef>
                <a:spcPts val="0"/>
              </a:spcBef>
              <a:spcAft>
                <a:spcPts val="0"/>
              </a:spcAft>
              <a:buNone/>
            </a:pPr>
            <a:r>
              <a:rPr lang="en-US" sz="2616">
                <a:solidFill>
                  <a:srgbClr val="FFFFFF"/>
                </a:solidFill>
                <a:latin typeface="Arial"/>
                <a:ea typeface="Arial"/>
                <a:cs typeface="Arial"/>
                <a:sym typeface="Arial"/>
              </a:rPr>
              <a:t>BotTrainer successfully demonstrates how Large Language Models can be used to build a modern, scalable, and explainable NLU system using prompt engineering and structured outputs, eliminating the need for traditional intent classifiers while maintaining evaluation rigor.</a:t>
            </a:r>
            <a:endParaRPr/>
          </a:p>
        </p:txBody>
      </p:sp>
      <p:sp>
        <p:nvSpPr>
          <p:cNvPr id="363" name="Google Shape;363;p18"/>
          <p:cNvSpPr/>
          <p:nvPr/>
        </p:nvSpPr>
        <p:spPr>
          <a:xfrm>
            <a:off x="14616748" y="4231733"/>
            <a:ext cx="4441120" cy="5026567"/>
          </a:xfrm>
          <a:custGeom>
            <a:rect b="b" l="l" r="r" t="t"/>
            <a:pathLst>
              <a:path extrusionOk="0" h="5026567" w="4441120">
                <a:moveTo>
                  <a:pt x="0" y="0"/>
                </a:moveTo>
                <a:lnTo>
                  <a:pt x="4441120" y="0"/>
                </a:lnTo>
                <a:lnTo>
                  <a:pt x="4441120" y="5026567"/>
                </a:lnTo>
                <a:lnTo>
                  <a:pt x="0" y="5026567"/>
                </a:lnTo>
                <a:lnTo>
                  <a:pt x="0" y="0"/>
                </a:lnTo>
                <a:close/>
              </a:path>
            </a:pathLst>
          </a:custGeom>
          <a:blipFill rotWithShape="1">
            <a:blip r:embed="rId7">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Srinivas Leela</dc:creator>
</cp:coreProperties>
</file>